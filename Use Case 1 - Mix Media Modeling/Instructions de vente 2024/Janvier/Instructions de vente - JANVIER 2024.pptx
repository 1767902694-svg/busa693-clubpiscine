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265" r:id="rId5"/>
    <p:sldId id="281" r:id="rId6"/>
    <p:sldId id="276" r:id="rId7"/>
    <p:sldId id="285" r:id="rId8"/>
    <p:sldId id="266" r:id="rId9"/>
    <p:sldId id="280" r:id="rId10"/>
    <p:sldId id="273" r:id="rId11"/>
    <p:sldId id="267" r:id="rId12"/>
    <p:sldId id="268" r:id="rId13"/>
    <p:sldId id="275" r:id="rId14"/>
    <p:sldId id="270" r:id="rId15"/>
    <p:sldId id="284" r:id="rId16"/>
    <p:sldId id="264" r:id="rId17"/>
    <p:sldId id="272" r:id="rId18"/>
  </p:sldIdLst>
  <p:sldSz cx="6858000" cy="9144000" type="screen4x3"/>
  <p:notesSz cx="6950075" cy="923607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8BCB"/>
    <a:srgbClr val="229FCC"/>
    <a:srgbClr val="7FCDE9"/>
    <a:srgbClr val="48B8E0"/>
    <a:srgbClr val="2FAF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10" autoAdjust="0"/>
    <p:restoredTop sz="94694"/>
  </p:normalViewPr>
  <p:slideViewPr>
    <p:cSldViewPr>
      <p:cViewPr varScale="1">
        <p:scale>
          <a:sx n="61" d="100"/>
          <a:sy n="61" d="100"/>
        </p:scale>
        <p:origin x="2472" y="5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93700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74EA55-1F88-4D33-948F-129C030CA228}" type="datetimeFigureOut">
              <a:rPr lang="fr-FR" smtClean="0"/>
              <a:t>04/01/2024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305050" y="1154113"/>
            <a:ext cx="233997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95325" y="4445000"/>
            <a:ext cx="5559425" cy="36369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93700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8FADA9-DAE0-49B2-8C03-98CBE54838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4953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270F1-02CD-4B62-A24E-C50745FFF5F5}" type="datetime1">
              <a:rPr lang="fr-CA" smtClean="0"/>
              <a:t>2024-01-04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48049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B3501-DB26-46B1-B49D-78AAEDB8FBB0}" type="datetime1">
              <a:rPr lang="fr-CA" smtClean="0"/>
              <a:t>2024-01-04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56885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D7A85-2AFD-4815-A0A7-D4B79870DF4B}" type="datetime1">
              <a:rPr lang="fr-CA" smtClean="0"/>
              <a:t>2024-01-04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97159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76F20-C377-4AED-9510-F5ADE3870E9C}" type="datetime1">
              <a:rPr lang="fr-CA" smtClean="0"/>
              <a:t>2024-01-04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62237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86B50-1D08-40D3-BECA-FFE7DEF4ECA0}" type="datetime1">
              <a:rPr lang="fr-CA" smtClean="0"/>
              <a:t>2024-01-04</a:t>
            </a:fld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71518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DA913-A0AB-4357-9718-F642A4CB965C}" type="datetime1">
              <a:rPr lang="fr-CA" smtClean="0"/>
              <a:t>2024-01-04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1246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D8FFD-9EF2-4DF5-ADE3-0FA2D06B7D28}" type="datetime1">
              <a:rPr lang="fr-CA" smtClean="0"/>
              <a:t>2024-01-04</a:t>
            </a:fld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98377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AA06B-BE77-4E72-9CCA-00E4DEE9532E}" type="datetime1">
              <a:rPr lang="fr-CA" smtClean="0"/>
              <a:t>2024-01-04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24551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EBF81-A9BE-418D-9E78-24D0919B7A1C}" type="datetime1">
              <a:rPr lang="fr-CA" smtClean="0"/>
              <a:t>2024-01-04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88577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EE61-C885-4A50-BEE7-C9DDDBD88187}" type="datetime1">
              <a:rPr lang="fr-CA" smtClean="0"/>
              <a:t>2024-01-04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30042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C38EA-1C13-48D8-9A28-13347BB0C9CB}" type="datetime1">
              <a:rPr lang="fr-CA" smtClean="0"/>
              <a:t>2024-01-04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36926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A8D5B-1515-4F97-901C-AB1B94820B7C}" type="datetime1">
              <a:rPr lang="fr-CA" smtClean="0"/>
              <a:t>2024-01-04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056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1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9.xml"/><Relationship Id="rId4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7" Type="http://schemas.openxmlformats.org/officeDocument/2006/relationships/image" Target="../media/image1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8.xml"/><Relationship Id="rId4" Type="http://schemas.openxmlformats.org/officeDocument/2006/relationships/tags" Target="../tags/tag1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9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7" Type="http://schemas.openxmlformats.org/officeDocument/2006/relationships/image" Target="../media/image1.png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0.xml"/><Relationship Id="rId4" Type="http://schemas.openxmlformats.org/officeDocument/2006/relationships/tags" Target="../tags/tag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7" Type="http://schemas.openxmlformats.org/officeDocument/2006/relationships/image" Target="../media/image1.pn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5.xml"/><Relationship Id="rId4" Type="http://schemas.openxmlformats.org/officeDocument/2006/relationships/tags" Target="../tags/tag3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7" Type="http://schemas.openxmlformats.org/officeDocument/2006/relationships/image" Target="../media/image1.png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0.xml"/><Relationship Id="rId4" Type="http://schemas.openxmlformats.org/officeDocument/2006/relationships/tags" Target="../tags/tag3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7" Type="http://schemas.openxmlformats.org/officeDocument/2006/relationships/image" Target="../media/image1.png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5.xml"/><Relationship Id="rId4" Type="http://schemas.openxmlformats.org/officeDocument/2006/relationships/tags" Target="../tags/tag4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48.xml"/><Relationship Id="rId7" Type="http://schemas.openxmlformats.org/officeDocument/2006/relationships/tags" Target="../tags/tag52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9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55.xml"/><Relationship Id="rId7" Type="http://schemas.openxmlformats.org/officeDocument/2006/relationships/tags" Target="../tags/tag59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9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2.xml"/><Relationship Id="rId7" Type="http://schemas.openxmlformats.org/officeDocument/2006/relationships/image" Target="../media/image1.png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4.xml"/><Relationship Id="rId4" Type="http://schemas.openxmlformats.org/officeDocument/2006/relationships/tags" Target="../tags/tag6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67.xml"/><Relationship Id="rId7" Type="http://schemas.openxmlformats.org/officeDocument/2006/relationships/image" Target="../media/image1.png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9.xml"/><Relationship Id="rId4" Type="http://schemas.openxmlformats.org/officeDocument/2006/relationships/tags" Target="../tags/tag68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72.xml"/><Relationship Id="rId7" Type="http://schemas.openxmlformats.org/officeDocument/2006/relationships/image" Target="../media/image1.png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74.xml"/><Relationship Id="rId4" Type="http://schemas.openxmlformats.org/officeDocument/2006/relationships/tags" Target="../tags/tag7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 de texte 28"/>
          <p:cNvSpPr txBox="1"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24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24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3 Janvier au 6 </a:t>
            </a:r>
            <a:r>
              <a:rPr lang="en-CA" sz="24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février</a:t>
            </a:r>
            <a:r>
              <a:rPr lang="en-CA" sz="24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</a:t>
            </a:r>
            <a:r>
              <a:rPr lang="fr-CA" sz="24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sp>
        <p:nvSpPr>
          <p:cNvPr id="6" name="Rectangle 5"/>
          <p:cNvSpPr/>
          <p:nvPr>
            <p:custDataLst>
              <p:tags r:id="rId2"/>
            </p:custDataLst>
          </p:nvPr>
        </p:nvSpPr>
        <p:spPr>
          <a:xfrm>
            <a:off x="260647" y="1768046"/>
            <a:ext cx="6408713" cy="571706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RÉSUMÉ DES PROMOS</a:t>
            </a:r>
          </a:p>
        </p:txBody>
      </p:sp>
      <p:sp>
        <p:nvSpPr>
          <p:cNvPr id="8" name="Rectangle 7"/>
          <p:cNvSpPr/>
          <p:nvPr>
            <p:custDataLst>
              <p:tags r:id="rId3"/>
            </p:custDataLst>
          </p:nvPr>
        </p:nvSpPr>
        <p:spPr>
          <a:xfrm>
            <a:off x="260646" y="2334374"/>
            <a:ext cx="6408713" cy="62786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CA" sz="16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Voici les changements par rapport à décembre:</a:t>
            </a:r>
          </a:p>
          <a:p>
            <a:r>
              <a:rPr lang="fr-CA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fr-C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600" b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PISCINES HT :  </a:t>
            </a:r>
            <a:r>
              <a:rPr lang="fr-CA" sz="1600" dirty="0">
                <a:latin typeface="Calibri Light" panose="020F0302020204030204" pitchFamily="34" charset="0"/>
                <a:cs typeface="Times New Roman" panose="02020603050405020304" pitchFamily="18" charset="0"/>
              </a:rPr>
              <a:t>Liste de prix 2024. 800$ de rabais + 400$ de rabais sur la thermopompe (tous les modèles) + Vision Pro et </a:t>
            </a:r>
            <a:r>
              <a:rPr lang="fr-CA" sz="1600" dirty="0" err="1">
                <a:latin typeface="Calibri Light" panose="020F0302020204030204" pitchFamily="34" charset="0"/>
                <a:cs typeface="Times New Roman" panose="02020603050405020304" pitchFamily="18" charset="0"/>
              </a:rPr>
              <a:t>Triclobloc</a:t>
            </a:r>
            <a:r>
              <a:rPr lang="fr-CA" sz="1600" dirty="0">
                <a:latin typeface="Calibri Light" panose="020F0302020204030204" pitchFamily="34" charset="0"/>
                <a:cs typeface="Times New Roman" panose="02020603050405020304" pitchFamily="18" charset="0"/>
              </a:rPr>
              <a:t> 2kg GRATUIT + promo de financement 4,99% sur 48 mois . Si le client ne prend pas le financement, on donne un rabais de 5%.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60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CREUSÉE: </a:t>
            </a:r>
            <a:r>
              <a:rPr lang="fr-CA" sz="1600" dirty="0">
                <a:latin typeface="Calibri Light" panose="020F0302020204030204" pitchFamily="34" charset="0"/>
                <a:cs typeface="Times New Roman" panose="02020603050405020304" pitchFamily="18" charset="0"/>
              </a:rPr>
              <a:t>Liste de prix 2024. 3000$ de rabais + robot </a:t>
            </a:r>
            <a:r>
              <a:rPr lang="fr-CA" sz="1600" dirty="0" err="1">
                <a:latin typeface="Calibri Light" panose="020F0302020204030204" pitchFamily="34" charset="0"/>
                <a:cs typeface="Times New Roman" panose="02020603050405020304" pitchFamily="18" charset="0"/>
              </a:rPr>
              <a:t>Epic</a:t>
            </a:r>
            <a:r>
              <a:rPr lang="fr-CA" sz="1600" dirty="0">
                <a:latin typeface="Calibri Light" panose="020F0302020204030204" pitchFamily="34" charset="0"/>
                <a:cs typeface="Times New Roman" panose="02020603050405020304" pitchFamily="18" charset="0"/>
              </a:rPr>
              <a:t> 864IQ (ou équivalent) GRATUIT.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60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THERMOPOMPE</a:t>
            </a:r>
            <a:r>
              <a:rPr lang="fr-CA" sz="1600" dirty="0">
                <a:latin typeface="Calibri Light" panose="020F0302020204030204" pitchFamily="34" charset="0"/>
                <a:cs typeface="Times New Roman" panose="02020603050405020304" pitchFamily="18" charset="0"/>
              </a:rPr>
              <a:t>: 100$ de rabais à l’achat d’une thermopompe Solstice.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60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PISCINE BOIS</a:t>
            </a:r>
            <a:r>
              <a:rPr lang="fr-CA" sz="1600" dirty="0">
                <a:latin typeface="Calibri Light" panose="020F0302020204030204" pitchFamily="34" charset="0"/>
                <a:cs typeface="Times New Roman" panose="02020603050405020304" pitchFamily="18" charset="0"/>
              </a:rPr>
              <a:t>: Voir nouvelles annexes car plusieurs modèles retirés.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60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FITNESS: </a:t>
            </a:r>
            <a:r>
              <a:rPr lang="fr-CA" sz="1600" dirty="0">
                <a:latin typeface="Calibri Light" panose="020F0302020204030204" pitchFamily="34" charset="0"/>
                <a:cs typeface="Times New Roman" panose="02020603050405020304" pitchFamily="18" charset="0"/>
              </a:rPr>
              <a:t>Rien à payer avant 2025 (12 mois sans paiement ni intérêt).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60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ACC SPA et PISCINE</a:t>
            </a:r>
            <a:r>
              <a:rPr lang="fr-CA" sz="1600" dirty="0">
                <a:latin typeface="Calibri Light" panose="020F0302020204030204" pitchFamily="34" charset="0"/>
                <a:cs typeface="Times New Roman" panose="02020603050405020304" pitchFamily="18" charset="0"/>
              </a:rPr>
              <a:t>: Nouveaux prix 2024, voir annexes.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60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FINANCEMENT</a:t>
            </a:r>
            <a:r>
              <a:rPr lang="fr-CA" sz="1600" dirty="0">
                <a:latin typeface="Calibri Light" panose="020F0302020204030204" pitchFamily="34" charset="0"/>
                <a:cs typeface="Times New Roman" panose="02020603050405020304" pitchFamily="18" charset="0"/>
              </a:rPr>
              <a:t>: N’oubliez pas que les plans réguliers de </a:t>
            </a:r>
            <a:r>
              <a:rPr lang="fr-CA" sz="1600" dirty="0" err="1">
                <a:latin typeface="Calibri Light" panose="020F0302020204030204" pitchFamily="34" charset="0"/>
                <a:cs typeface="Times New Roman" panose="02020603050405020304" pitchFamily="18" charset="0"/>
              </a:rPr>
              <a:t>Fairstone</a:t>
            </a:r>
            <a:r>
              <a:rPr lang="fr-CA" sz="1600" dirty="0">
                <a:latin typeface="Calibri Light" panose="020F0302020204030204" pitchFamily="34" charset="0"/>
                <a:cs typeface="Times New Roman" panose="02020603050405020304" pitchFamily="18" charset="0"/>
              </a:rPr>
              <a:t> avec intérêt pour le consommateur, sont une alternative très intéressante à la BNC (24, 36 et 48 mois). Voir la dernière page des instructions pour les détails.</a:t>
            </a:r>
          </a:p>
          <a:p>
            <a:pPr lvl="0"/>
            <a:endParaRPr lang="fr-CA" sz="1200" dirty="0">
              <a:effectLst/>
              <a:latin typeface="Calibri Light" panose="020F03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fr-CA" sz="1200" i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Tous les détails des promotions aux pages suivantes.</a:t>
            </a:r>
            <a:endParaRPr lang="fr-CA" i="1" dirty="0">
              <a:latin typeface="Calibri Light" panose="020F03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473557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SPAS 2023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6" y="2128086"/>
            <a:ext cx="6408713" cy="54784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fr-CA" sz="1600" b="1" dirty="0"/>
          </a:p>
          <a:p>
            <a:r>
              <a:rPr lang="fr-CA" sz="1600" b="1" dirty="0"/>
              <a:t>JACUZZI 2023</a:t>
            </a:r>
            <a:endParaRPr lang="fr-CA" sz="1600" dirty="0"/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CA" sz="1600" b="1" dirty="0"/>
              <a:t>Nouveaux prix réguliers 2024. Voir Annexes.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CA" sz="1600" b="1" dirty="0"/>
              <a:t>1500$ DE RABAIS </a:t>
            </a:r>
            <a:r>
              <a:rPr lang="fr-CA" sz="1600" dirty="0"/>
              <a:t>sur tous les modèles JACUZZI EN STOCK applicable sur le prix régulier .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CA" sz="160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Aucune promotion de  financement 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CA" sz="1600" dirty="0"/>
              <a:t>Le levier, la marche, le GFCI sont </a:t>
            </a:r>
            <a:r>
              <a:rPr lang="fr-CA" sz="1600" b="1" dirty="0"/>
              <a:t>INCLUS</a:t>
            </a:r>
            <a:r>
              <a:rPr lang="fr-CA" sz="1600" dirty="0"/>
              <a:t>.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600" dirty="0"/>
              <a:t>La livraison </a:t>
            </a:r>
            <a:r>
              <a:rPr lang="fr-FR" sz="1600" b="1" dirty="0"/>
              <a:t>N’EST PAS INCLUSE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600" b="1" dirty="0"/>
              <a:t>Tous les modèles 2023 viennent avec la promotion ‘’Trousse énergétique </a:t>
            </a:r>
            <a:r>
              <a:rPr lang="fr-CA" sz="1600" b="1" dirty="0" err="1"/>
              <a:t>SmartTub</a:t>
            </a:r>
            <a:r>
              <a:rPr lang="fr-CA" sz="1600" b="1" dirty="0"/>
              <a:t> </a:t>
            </a:r>
            <a:r>
              <a:rPr lang="fr-CA" sz="1600" b="1" dirty="0" err="1"/>
              <a:t>play</a:t>
            </a:r>
            <a:r>
              <a:rPr lang="fr-CA" sz="1600" b="1" dirty="0"/>
              <a:t>’’ d’une valeur ajoutée de </a:t>
            </a:r>
            <a:r>
              <a:rPr lang="fr-CA" sz="1600" dirty="0"/>
              <a:t>: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CA" sz="1600" b="1" dirty="0"/>
              <a:t>1199$ </a:t>
            </a:r>
            <a:r>
              <a:rPr lang="fr-CA" sz="1600" dirty="0"/>
              <a:t>sur la série J-200 incluant </a:t>
            </a:r>
            <a:r>
              <a:rPr lang="fr-CA" sz="1600" dirty="0" err="1"/>
              <a:t>SmartTub</a:t>
            </a:r>
            <a:r>
              <a:rPr lang="fr-CA" sz="1600" dirty="0"/>
              <a:t> + </a:t>
            </a:r>
            <a:r>
              <a:rPr lang="fr-CA" sz="1600" dirty="0" err="1"/>
              <a:t>Prolast</a:t>
            </a:r>
            <a:r>
              <a:rPr lang="fr-CA" sz="1600" dirty="0"/>
              <a:t> extrême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CA" sz="1600" b="1" dirty="0"/>
              <a:t>1599$ </a:t>
            </a:r>
            <a:r>
              <a:rPr lang="fr-CA" sz="1600" dirty="0"/>
              <a:t>sur la série J-300 et J-400 incluant </a:t>
            </a:r>
            <a:r>
              <a:rPr lang="fr-CA" sz="1600" dirty="0" err="1"/>
              <a:t>SmartTub</a:t>
            </a:r>
            <a:r>
              <a:rPr lang="fr-CA" sz="1600" dirty="0"/>
              <a:t> + </a:t>
            </a:r>
            <a:r>
              <a:rPr lang="fr-CA" sz="1600" dirty="0" err="1"/>
              <a:t>Prolast</a:t>
            </a:r>
            <a:r>
              <a:rPr lang="fr-CA" sz="1600" dirty="0"/>
              <a:t> extrême + Smart Seal</a:t>
            </a:r>
          </a:p>
          <a:p>
            <a:pPr lvl="1"/>
            <a:endParaRPr lang="fr-CA" sz="1400" dirty="0"/>
          </a:p>
          <a:p>
            <a:r>
              <a:rPr lang="fr-CA" sz="1400" b="1" dirty="0" err="1"/>
              <a:t>Upsell</a:t>
            </a:r>
            <a:r>
              <a:rPr lang="fr-CA" sz="1400" b="1" dirty="0"/>
              <a:t>:</a:t>
            </a:r>
          </a:p>
          <a:p>
            <a:r>
              <a:rPr lang="fr-CA" sz="1400" dirty="0"/>
              <a:t>N’oubliez pas de suggérer les différents leviers hydrauliques de </a:t>
            </a:r>
            <a:r>
              <a:rPr lang="fr-CA" sz="1400" b="1" dirty="0" err="1"/>
              <a:t>Ultralift</a:t>
            </a:r>
            <a:r>
              <a:rPr lang="fr-CA" sz="1400" dirty="0"/>
              <a:t> en vente complémentaire</a:t>
            </a:r>
          </a:p>
          <a:p>
            <a:r>
              <a:rPr lang="fr-CA" sz="1400" dirty="0"/>
              <a:t>	PTR – 169012 – </a:t>
            </a:r>
            <a:r>
              <a:rPr lang="fr-CA" sz="1400" dirty="0" err="1"/>
              <a:t>Undermount</a:t>
            </a:r>
            <a:r>
              <a:rPr lang="fr-CA" sz="1400" dirty="0"/>
              <a:t> </a:t>
            </a:r>
            <a:r>
              <a:rPr lang="fr-CA" sz="1400" dirty="0">
                <a:sym typeface="Wingdings" panose="05000000000000000000" pitchFamily="2" charset="2"/>
              </a:rPr>
              <a:t> </a:t>
            </a:r>
            <a:r>
              <a:rPr lang="fr-CA" sz="1400" dirty="0"/>
              <a:t>399.99$</a:t>
            </a:r>
          </a:p>
          <a:p>
            <a:r>
              <a:rPr lang="fr-CA" sz="1400" dirty="0"/>
              <a:t>	PTR – 169013  - </a:t>
            </a:r>
            <a:r>
              <a:rPr lang="fr-CA" sz="1400" dirty="0" err="1"/>
              <a:t>Hydraulic</a:t>
            </a:r>
            <a:r>
              <a:rPr lang="fr-CA" sz="1400" dirty="0"/>
              <a:t> Mount </a:t>
            </a:r>
            <a:r>
              <a:rPr lang="fr-CA" sz="1400" dirty="0">
                <a:sym typeface="Wingdings" panose="05000000000000000000" pitchFamily="2" charset="2"/>
              </a:rPr>
              <a:t> 499.99$</a:t>
            </a:r>
            <a:endParaRPr lang="fr-CA" sz="1400" dirty="0"/>
          </a:p>
          <a:p>
            <a:r>
              <a:rPr lang="fr-CA" sz="1400" dirty="0"/>
              <a:t>	PTR – 169014 – Boomerang </a:t>
            </a:r>
            <a:r>
              <a:rPr lang="fr-CA" sz="1400" dirty="0">
                <a:sym typeface="Wingdings" panose="05000000000000000000" pitchFamily="2" charset="2"/>
              </a:rPr>
              <a:t> 589.99$</a:t>
            </a:r>
            <a:endParaRPr lang="fr-CA" sz="1400" dirty="0"/>
          </a:p>
          <a:p>
            <a:endParaRPr lang="fr-CA" sz="1600" dirty="0"/>
          </a:p>
          <a:p>
            <a:r>
              <a:rPr lang="fr-CA" sz="1400" dirty="0"/>
              <a:t>Offrez les nouveaux tapis chauffant </a:t>
            </a:r>
            <a:r>
              <a:rPr lang="fr-CA" sz="1400" dirty="0" err="1"/>
              <a:t>Drexma</a:t>
            </a:r>
            <a:r>
              <a:rPr lang="fr-CA" sz="1400" dirty="0"/>
              <a:t>. Un superbe produit complémentaire à suggérer au client! 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2</a:t>
            </a:fld>
            <a:endParaRPr lang="fr-CA"/>
          </a:p>
        </p:txBody>
      </p:sp>
      <p:sp>
        <p:nvSpPr>
          <p:cNvPr id="9" name="Zone de texte 28">
            <a:extLst>
              <a:ext uri="{FF2B5EF4-FFF2-40B4-BE49-F238E27FC236}">
                <a16:creationId xmlns:a16="http://schemas.microsoft.com/office/drawing/2014/main" id="{0370B06F-2204-409D-9F14-EA188DB7EFA7}"/>
              </a:ext>
            </a:extLst>
          </p:cNvPr>
          <p:cNvSpPr txBox="1"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3 Janvier au 6 </a:t>
            </a:r>
            <a:r>
              <a:rPr lang="en-CA" sz="28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février</a:t>
            </a: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</a:t>
            </a:r>
            <a:r>
              <a:rPr lang="fr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8C7895C-4014-4298-99F6-5FEF6B831223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597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SPAS 2023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6" y="2128086"/>
            <a:ext cx="6408713" cy="46782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1"/>
            <a:endParaRPr lang="fr-CA" sz="1600" dirty="0"/>
          </a:p>
          <a:p>
            <a:r>
              <a:rPr lang="fr-CA" sz="1600" b="1" dirty="0"/>
              <a:t>SOLSTICE SPAS 2023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400" b="1" dirty="0"/>
              <a:t>500$ de Rabais </a:t>
            </a:r>
            <a:r>
              <a:rPr lang="fr-CA" sz="1400" dirty="0"/>
              <a:t>sur tous les modèles SOLSTICE EN STOCK applicable sur le prix régulier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400" b="1" dirty="0"/>
              <a:t>PROMO: OBTENEZ 2 SERVIETTES SOLSTICE À L’ACHAT D’UN SPA </a:t>
            </a:r>
            <a:r>
              <a:rPr lang="fr-CA" sz="1400" dirty="0"/>
              <a:t>(</a:t>
            </a:r>
            <a:r>
              <a:rPr lang="fr-CA" sz="1400" i="1" dirty="0"/>
              <a:t>PTR 173988)</a:t>
            </a:r>
            <a:r>
              <a:rPr lang="fr-CA" sz="1400" dirty="0"/>
              <a:t>. 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400" dirty="0"/>
              <a:t>Le levier, la marche, le GFCI sont </a:t>
            </a:r>
            <a:r>
              <a:rPr lang="fr-CA" sz="1400" b="1" dirty="0"/>
              <a:t>INCLUS</a:t>
            </a:r>
            <a:r>
              <a:rPr lang="fr-CA" sz="1400" dirty="0"/>
              <a:t>.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400" dirty="0"/>
              <a:t>La livraison </a:t>
            </a:r>
            <a:r>
              <a:rPr lang="fr-CA" sz="1400" b="1" dirty="0"/>
              <a:t>N’EST PAS INCLUSE</a:t>
            </a:r>
          </a:p>
          <a:p>
            <a:pPr lvl="0"/>
            <a:endParaRPr lang="fr-CA" sz="1400" b="1" dirty="0"/>
          </a:p>
          <a:p>
            <a:r>
              <a:rPr lang="fr-CA" sz="1400" b="1" dirty="0" err="1"/>
              <a:t>Upsell</a:t>
            </a:r>
            <a:r>
              <a:rPr lang="fr-CA" sz="1400" b="1" dirty="0"/>
              <a:t>:</a:t>
            </a:r>
          </a:p>
          <a:p>
            <a:r>
              <a:rPr lang="fr-CA" sz="1400" dirty="0"/>
              <a:t>N’oubliez pas de suggérer les différents leviers hydrauliques de </a:t>
            </a:r>
            <a:r>
              <a:rPr lang="fr-CA" sz="1400" b="1" dirty="0"/>
              <a:t>ULTRALIFT </a:t>
            </a:r>
            <a:r>
              <a:rPr lang="fr-CA" sz="1400" dirty="0"/>
              <a:t>en vente complémentaire</a:t>
            </a:r>
          </a:p>
          <a:p>
            <a:r>
              <a:rPr lang="fr-CA" sz="1400" dirty="0"/>
              <a:t>	PTR – 169012 – </a:t>
            </a:r>
            <a:r>
              <a:rPr lang="fr-CA" sz="1400" dirty="0" err="1"/>
              <a:t>Undermount</a:t>
            </a:r>
            <a:r>
              <a:rPr lang="fr-CA" sz="1400" dirty="0"/>
              <a:t> </a:t>
            </a:r>
            <a:r>
              <a:rPr lang="fr-CA" sz="1400" dirty="0">
                <a:sym typeface="Wingdings" panose="05000000000000000000" pitchFamily="2" charset="2"/>
              </a:rPr>
              <a:t> </a:t>
            </a:r>
            <a:r>
              <a:rPr lang="fr-CA" sz="1400" dirty="0"/>
              <a:t>399.99$</a:t>
            </a:r>
          </a:p>
          <a:p>
            <a:r>
              <a:rPr lang="fr-CA" sz="1400" dirty="0"/>
              <a:t>	PTR – 169013  - </a:t>
            </a:r>
            <a:r>
              <a:rPr lang="fr-CA" sz="1400" dirty="0" err="1"/>
              <a:t>Hydraulic</a:t>
            </a:r>
            <a:r>
              <a:rPr lang="fr-CA" sz="1400" dirty="0"/>
              <a:t> Mount </a:t>
            </a:r>
            <a:r>
              <a:rPr lang="fr-CA" sz="1400" dirty="0">
                <a:sym typeface="Wingdings" panose="05000000000000000000" pitchFamily="2" charset="2"/>
              </a:rPr>
              <a:t> 499.99$</a:t>
            </a:r>
            <a:endParaRPr lang="fr-CA" sz="1400" dirty="0"/>
          </a:p>
          <a:p>
            <a:r>
              <a:rPr lang="fr-CA" sz="1400" dirty="0"/>
              <a:t>	PTR – 169014 – Boomerang </a:t>
            </a:r>
            <a:r>
              <a:rPr lang="fr-CA" sz="1400" dirty="0">
                <a:sym typeface="Wingdings" panose="05000000000000000000" pitchFamily="2" charset="2"/>
              </a:rPr>
              <a:t> 589.99$</a:t>
            </a:r>
            <a:endParaRPr lang="fr-CA" sz="1400" dirty="0"/>
          </a:p>
          <a:p>
            <a:endParaRPr lang="fr-CA" sz="1400" dirty="0"/>
          </a:p>
          <a:p>
            <a:r>
              <a:rPr lang="fr-CA" sz="1400" dirty="0"/>
              <a:t>Offrez les nouveaux tapis chauffant </a:t>
            </a:r>
            <a:r>
              <a:rPr lang="fr-CA" sz="1400" dirty="0" err="1"/>
              <a:t>Drexma</a:t>
            </a:r>
            <a:r>
              <a:rPr lang="fr-CA" sz="1400" dirty="0"/>
              <a:t>. Un superbe produit complémentaire à suggérer au client! Voir mémo des achats déposé hier sur le Sharepoint.</a:t>
            </a:r>
          </a:p>
          <a:p>
            <a:endParaRPr lang="fr-CA" sz="1400" dirty="0"/>
          </a:p>
          <a:p>
            <a:r>
              <a:rPr lang="fr-CA" sz="1400" b="1" dirty="0"/>
              <a:t>LUMIO – STORM/STREAM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dirty="0"/>
              <a:t>Le levier, la marche et le chimique sont vendus séparément.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dirty="0"/>
              <a:t>La livraison n’est pas incluse.</a:t>
            </a:r>
            <a:endParaRPr lang="fr-CA" sz="1600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3</a:t>
            </a:fld>
            <a:endParaRPr lang="fr-CA"/>
          </a:p>
        </p:txBody>
      </p:sp>
      <p:sp>
        <p:nvSpPr>
          <p:cNvPr id="9" name="Zone de texte 28">
            <a:extLst>
              <a:ext uri="{FF2B5EF4-FFF2-40B4-BE49-F238E27FC236}">
                <a16:creationId xmlns:a16="http://schemas.microsoft.com/office/drawing/2014/main" id="{0370B06F-2204-409D-9F14-EA188DB7EFA7}"/>
              </a:ext>
            </a:extLst>
          </p:cNvPr>
          <p:cNvSpPr txBox="1"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3 Janvier au 6 </a:t>
            </a:r>
            <a:r>
              <a:rPr lang="en-CA" sz="28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février</a:t>
            </a: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</a:t>
            </a:r>
            <a:r>
              <a:rPr lang="fr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80937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SPAS DE NAGE 2023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6" y="2128086"/>
            <a:ext cx="6408713" cy="17235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1"/>
            <a:endParaRPr lang="fr-CA" dirty="0"/>
          </a:p>
          <a:p>
            <a:r>
              <a:rPr lang="fr-CA" sz="1400" b="1" dirty="0"/>
              <a:t>SPA DE NAGE SWIMLIFE et JACUZZI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Aucun rabais.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Aucune promo de financement.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dirty="0"/>
              <a:t>Les frais de de livraison de base sont inclus dans le prix. Les frais de grue sont en sus. </a:t>
            </a:r>
          </a:p>
          <a:p>
            <a:endParaRPr lang="fr-CA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4</a:t>
            </a:fld>
            <a:endParaRPr lang="fr-CA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71EECA49-570A-45D0-B3D2-36F8939D94C5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75" y="8604448"/>
            <a:ext cx="2492896" cy="402434"/>
          </a:xfrm>
          <a:prstGeom prst="rect">
            <a:avLst/>
          </a:prstGeom>
        </p:spPr>
      </p:pic>
      <p:sp>
        <p:nvSpPr>
          <p:cNvPr id="9" name="Zone de texte 28">
            <a:extLst>
              <a:ext uri="{FF2B5EF4-FFF2-40B4-BE49-F238E27FC236}">
                <a16:creationId xmlns:a16="http://schemas.microsoft.com/office/drawing/2014/main" id="{0370B06F-2204-409D-9F14-EA188DB7EFA7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3 Janvier au 6 </a:t>
            </a:r>
            <a:r>
              <a:rPr lang="en-CA" sz="28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février</a:t>
            </a: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</a:t>
            </a:r>
            <a:r>
              <a:rPr lang="fr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78665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MEUBLES ET PARASOLS 2023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7" y="2128086"/>
            <a:ext cx="6408713" cy="10464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600" b="1" dirty="0"/>
              <a:t>MEUBLES 2023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Même prix promo en cours. Aucun changement.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/>
          </a:p>
          <a:p>
            <a:endParaRPr lang="fr-CA" sz="1400" b="1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4C2A165-92F7-43C0-889A-0CB1C2D0B65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5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9BFA519-2732-4282-AF65-99019E82AB9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11" name="Zone de texte 28">
            <a:extLst>
              <a:ext uri="{FF2B5EF4-FFF2-40B4-BE49-F238E27FC236}">
                <a16:creationId xmlns:a16="http://schemas.microsoft.com/office/drawing/2014/main" id="{BD65058E-2E40-488F-AD2D-0894AACC1DAD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3 Janvier au 6 </a:t>
            </a:r>
            <a:r>
              <a:rPr lang="en-CA" sz="28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février</a:t>
            </a: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</a:t>
            </a:r>
            <a:r>
              <a:rPr lang="fr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E96E4B-7A8C-45EA-B256-5FA8F8F824BA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0647" y="4839993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</a:rPr>
              <a:t>ACCESSOIRES COMPLÉMENTAIRES &amp; REMPLACEMENT 2023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A2CD3E-FEDC-4821-A78E-A25A2FFA9777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60646" y="5200033"/>
            <a:ext cx="6408713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Même prix promo en cours. Voir Annexes</a:t>
            </a:r>
          </a:p>
        </p:txBody>
      </p:sp>
    </p:spTree>
    <p:extLst>
      <p:ext uri="{BB962C8B-B14F-4D97-AF65-F5344CB8AC3E}">
        <p14:creationId xmlns:p14="http://schemas.microsoft.com/office/powerpoint/2010/main" val="2125114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4D76D5B-B0B5-42AC-B72B-0EBE42B8EC3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60647" y="183569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GAZEBOS 2023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710E5B-75AB-401F-9969-A6297E0521B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60647" y="2195736"/>
            <a:ext cx="6408713" cy="14157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b="1" dirty="0"/>
              <a:t>GAZEBOS 2023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CA" dirty="0"/>
              <a:t>Aucun changement. Rabais en cours voir Annexes.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fr-CA" b="1" dirty="0"/>
          </a:p>
          <a:p>
            <a:endParaRPr lang="fr-CA" sz="1600" b="1" dirty="0"/>
          </a:p>
          <a:p>
            <a:pPr marL="342900" lvl="0" indent="-342900">
              <a:buFont typeface="Calibri Light" panose="020F0302020204030204" pitchFamily="34" charset="0"/>
              <a:buChar char="-"/>
            </a:pPr>
            <a:endParaRPr lang="fr-CA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4C2A165-92F7-43C0-889A-0CB1C2D0B65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6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9BFA519-2732-4282-AF65-99019E82AB9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11" name="Zone de texte 28">
            <a:extLst>
              <a:ext uri="{FF2B5EF4-FFF2-40B4-BE49-F238E27FC236}">
                <a16:creationId xmlns:a16="http://schemas.microsoft.com/office/drawing/2014/main" id="{BD65058E-2E40-488F-AD2D-0894AACC1DAD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3 Janvier au 6 </a:t>
            </a:r>
            <a:r>
              <a:rPr lang="en-CA" sz="28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février</a:t>
            </a: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</a:t>
            </a:r>
            <a:r>
              <a:rPr lang="fr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5529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BBQ 2023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7" y="2128086"/>
            <a:ext cx="6408713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b="1" dirty="0">
                <a:latin typeface="Calibri" panose="020F0502020204030204" pitchFamily="34" charset="0"/>
              </a:rPr>
              <a:t>Aucune promotion en cours. Voir annexes de vente pour rabais sur certains modèles 2023.</a:t>
            </a:r>
          </a:p>
          <a:p>
            <a:endParaRPr lang="fr-CA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CA" sz="1600" dirty="0">
              <a:cs typeface="Times New Roman" panose="02020603050405020304" pitchFamily="18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B2DBC70-3186-48CE-819F-361D4296B67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7</a:t>
            </a:fld>
            <a:endParaRPr lang="fr-CA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783D21B-B117-4026-9C7F-49C36B6A584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307" y="8411910"/>
            <a:ext cx="2492896" cy="402434"/>
          </a:xfrm>
          <a:prstGeom prst="rect">
            <a:avLst/>
          </a:prstGeom>
        </p:spPr>
      </p:pic>
      <p:sp>
        <p:nvSpPr>
          <p:cNvPr id="9" name="Zone de texte 28">
            <a:extLst>
              <a:ext uri="{FF2B5EF4-FFF2-40B4-BE49-F238E27FC236}">
                <a16:creationId xmlns:a16="http://schemas.microsoft.com/office/drawing/2014/main" id="{D619A523-3587-422F-87B8-70A8B3DFF392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3 Janvier au 6 </a:t>
            </a:r>
            <a:r>
              <a:rPr lang="en-CA" sz="28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février</a:t>
            </a: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</a:t>
            </a:r>
            <a:r>
              <a:rPr lang="fr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34054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PISCINES HORS TERRE 2024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433DA19-C6A4-4697-B85F-7F129DA9B7C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8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8BA23A4-D293-442A-8E64-DD7EEB3C81B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10" name="Zone de texte 28">
            <a:extLst>
              <a:ext uri="{FF2B5EF4-FFF2-40B4-BE49-F238E27FC236}">
                <a16:creationId xmlns:a16="http://schemas.microsoft.com/office/drawing/2014/main" id="{838E3DE0-1170-4F6D-9757-64FA783277E9}"/>
              </a:ext>
            </a:extLst>
          </p:cNvPr>
          <p:cNvSpPr txBox="1"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3 Janvier au 6 </a:t>
            </a:r>
            <a:r>
              <a:rPr lang="en-CA" sz="28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février</a:t>
            </a: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</a:t>
            </a:r>
            <a:r>
              <a:rPr lang="fr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78D544-23DE-4DBE-ABBE-33607EA8AFE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60646" y="2139809"/>
            <a:ext cx="6408713" cy="31700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b="1" dirty="0">
                <a:sym typeface="Wingdings" panose="05000000000000000000" pitchFamily="2" charset="2"/>
              </a:rPr>
              <a:t>CARVIN  &amp; TRENDIUM (VOGUE) 2023</a:t>
            </a:r>
            <a:endParaRPr lang="fr-CA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RABAIS DE 800$ </a:t>
            </a:r>
            <a:r>
              <a:rPr lang="fr-CA" sz="1400" dirty="0"/>
              <a:t>sur toutes les piscines hors terre Seules, Équipées et Équipées &amp; Installées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RABAIS de 400$</a:t>
            </a:r>
            <a:r>
              <a:rPr lang="fr-CA" sz="1400" dirty="0"/>
              <a:t> sur prix régulier d’une thermopompe à l’achat d’une piscine hors terre. Toutes thermopompes admissibles. L’installation de la Thermopompe et le By-pass ne </a:t>
            </a:r>
            <a:r>
              <a:rPr lang="fr-CA" sz="1400" b="1" dirty="0"/>
              <a:t>sont pas inclus.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GRATUIT: </a:t>
            </a:r>
            <a:r>
              <a:rPr lang="fr-CA" sz="1400" dirty="0"/>
              <a:t>Vision pro et </a:t>
            </a:r>
            <a:r>
              <a:rPr lang="fr-CA" sz="1400" dirty="0" err="1"/>
              <a:t>Triclo</a:t>
            </a:r>
            <a:r>
              <a:rPr lang="fr-CA" sz="1400" dirty="0"/>
              <a:t> bloc 15kg. offert gratuitement (non publicisé).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Promo financement </a:t>
            </a:r>
            <a:r>
              <a:rPr lang="fr-CA" sz="1400" b="1" dirty="0" err="1"/>
              <a:t>Fairstone</a:t>
            </a:r>
            <a:r>
              <a:rPr lang="fr-CA" sz="1400" dirty="0"/>
              <a:t>: 4,99% pendant 48 mois (code promo 36484) OU 5% de rabais si le client ne prend pas le financement.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fr-CA" sz="1400" dirty="0"/>
          </a:p>
          <a:p>
            <a:endParaRPr lang="fr-CA" sz="1200" i="1" dirty="0"/>
          </a:p>
          <a:p>
            <a:r>
              <a:rPr lang="fr-CA" sz="1400" dirty="0"/>
              <a:t>Société de sauvetage: N’oubliez pas de donner le bracelet </a:t>
            </a:r>
            <a:r>
              <a:rPr lang="fr-CA" sz="1400" b="1" dirty="0"/>
              <a:t>SURVEILLANT DÉSIGNÉ</a:t>
            </a:r>
            <a:r>
              <a:rPr lang="fr-CA" sz="1400" dirty="0"/>
              <a:t> avec chaque achat de piscine!</a:t>
            </a:r>
          </a:p>
          <a:p>
            <a:endParaRPr lang="fr-CA" sz="1600" b="1" dirty="0"/>
          </a:p>
        </p:txBody>
      </p:sp>
    </p:spTree>
    <p:extLst>
      <p:ext uri="{BB962C8B-B14F-4D97-AF65-F5344CB8AC3E}">
        <p14:creationId xmlns:p14="http://schemas.microsoft.com/office/powerpoint/2010/main" val="419775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PISCINES DE BOIS 2024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7774A3C-AC2A-4D50-94B2-BA30C81610A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9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E9840D2-DA45-4D2A-A56F-841BEFE8A67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11" name="Zone de texte 28">
            <a:extLst>
              <a:ext uri="{FF2B5EF4-FFF2-40B4-BE49-F238E27FC236}">
                <a16:creationId xmlns:a16="http://schemas.microsoft.com/office/drawing/2014/main" id="{CB57BEBA-A86A-4781-AB89-09D90C196ACE}"/>
              </a:ext>
            </a:extLst>
          </p:cNvPr>
          <p:cNvSpPr txBox="1"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3 Janvier au 6 </a:t>
            </a:r>
            <a:r>
              <a:rPr lang="en-CA" sz="28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février</a:t>
            </a: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</a:t>
            </a:r>
            <a:r>
              <a:rPr lang="fr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2F5A22-327C-4D75-9397-912D5DCB218A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60647" y="2128086"/>
            <a:ext cx="6408713" cy="30469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b="1" dirty="0">
                <a:sym typeface="Wingdings" panose="05000000000000000000" pitchFamily="2" charset="2"/>
              </a:rPr>
              <a:t>AQUABOIS 2024</a:t>
            </a:r>
            <a:endParaRPr lang="fr-CA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750$ </a:t>
            </a:r>
            <a:r>
              <a:rPr lang="fr-CA" sz="1600" dirty="0"/>
              <a:t>sur le prix régulier de toutes les piscines de bois hors sol ou semi-creusées 2023.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400$</a:t>
            </a:r>
            <a:r>
              <a:rPr lang="fr-CA" sz="1600" dirty="0"/>
              <a:t> sur le prix régulier d’une thermopompe (tous les modèles) à l’achat d’une piscine de bois chauffée. By-pass non inclus.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La teinture est incluse sur toutes les piscines</a:t>
            </a:r>
          </a:p>
          <a:p>
            <a:endParaRPr lang="fr-CA" sz="1600" b="1" dirty="0"/>
          </a:p>
          <a:p>
            <a:endParaRPr lang="fr-CA" sz="1600" dirty="0"/>
          </a:p>
          <a:p>
            <a:r>
              <a:rPr lang="fr-CA" sz="1600" dirty="0"/>
              <a:t>Société de sauvetage: N’oubliez pas de donner le bracelet </a:t>
            </a:r>
            <a:r>
              <a:rPr lang="fr-CA" sz="1600" b="1" dirty="0"/>
              <a:t>SURVEILLANT DÉSIGNÉ</a:t>
            </a:r>
            <a:r>
              <a:rPr lang="fr-CA" sz="1600" dirty="0"/>
              <a:t> avec chaque achat de piscine!</a:t>
            </a:r>
          </a:p>
          <a:p>
            <a:endParaRPr lang="fr-CA" sz="1400" i="1" dirty="0"/>
          </a:p>
          <a:p>
            <a:endParaRPr lang="fr-CA" sz="1600" dirty="0"/>
          </a:p>
        </p:txBody>
      </p:sp>
    </p:spTree>
    <p:extLst>
      <p:ext uri="{BB962C8B-B14F-4D97-AF65-F5344CB8AC3E}">
        <p14:creationId xmlns:p14="http://schemas.microsoft.com/office/powerpoint/2010/main" val="3528611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PISCINES CREUSÉES 2024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7774A3C-AC2A-4D50-94B2-BA30C81610A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10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E9840D2-DA45-4D2A-A56F-841BEFE8A67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11" name="Zone de texte 28">
            <a:extLst>
              <a:ext uri="{FF2B5EF4-FFF2-40B4-BE49-F238E27FC236}">
                <a16:creationId xmlns:a16="http://schemas.microsoft.com/office/drawing/2014/main" id="{CB57BEBA-A86A-4781-AB89-09D90C196ACE}"/>
              </a:ext>
            </a:extLst>
          </p:cNvPr>
          <p:cNvSpPr txBox="1"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3 Janvier au 6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février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</a:t>
            </a:r>
            <a:r>
              <a:rPr lang="fr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BD5E6B-810F-498E-B14D-305B2F9FD921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60647" y="2135574"/>
            <a:ext cx="6408713" cy="21544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600" b="1" dirty="0">
                <a:sym typeface="Wingdings" panose="05000000000000000000" pitchFamily="2" charset="2"/>
              </a:rPr>
              <a:t>LATHAM ACIER et IMPERIAL POOL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400" b="1" dirty="0">
                <a:ea typeface="Calibri" panose="020F0502020204030204" pitchFamily="34" charset="0"/>
                <a:cs typeface="Times New Roman" panose="02020603050405020304" pitchFamily="18" charset="0"/>
              </a:rPr>
              <a:t>NOUVEAUX PRIX 2024. Voir Annexes de vente.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400" b="1" dirty="0">
                <a:ea typeface="Calibri" panose="020F0502020204030204" pitchFamily="34" charset="0"/>
                <a:cs typeface="Times New Roman" panose="02020603050405020304" pitchFamily="18" charset="0"/>
              </a:rPr>
              <a:t>RABAIS de 3000$</a:t>
            </a:r>
            <a:r>
              <a:rPr lang="fr-CA" sz="1400" dirty="0">
                <a:ea typeface="Calibri" panose="020F0502020204030204" pitchFamily="34" charset="0"/>
                <a:cs typeface="Times New Roman" panose="02020603050405020304" pitchFamily="18" charset="0"/>
              </a:rPr>
              <a:t> sur le prix régulier de toutes les piscines creusées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CA" sz="1400" dirty="0">
                <a:ea typeface="Calibri" panose="020F0502020204030204" pitchFamily="34" charset="0"/>
                <a:cs typeface="Times New Roman" panose="02020603050405020304" pitchFamily="18" charset="0"/>
              </a:rPr>
              <a:t>Promo robot</a:t>
            </a:r>
            <a:r>
              <a:rPr lang="fr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 </a:t>
            </a:r>
            <a:r>
              <a:rPr lang="fr-CA" sz="1400" dirty="0" err="1">
                <a:latin typeface="Calibri Light" panose="020F0302020204030204" pitchFamily="34" charset="0"/>
                <a:cs typeface="Times New Roman" panose="02020603050405020304" pitchFamily="18" charset="0"/>
              </a:rPr>
              <a:t>Epic</a:t>
            </a:r>
            <a:r>
              <a:rPr lang="fr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 864IQ (ou équivalent) GRATUIT.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endParaRPr lang="fr-CA" sz="1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/>
          </a:p>
          <a:p>
            <a:r>
              <a:rPr lang="fr-CA" sz="1400" dirty="0"/>
              <a:t>Société de sauvetage: N’oubliez pas de donner le bracelet </a:t>
            </a:r>
            <a:r>
              <a:rPr lang="fr-CA" sz="1400" b="1" dirty="0"/>
              <a:t>SURVEILLANT DÉSIGNÉ</a:t>
            </a:r>
            <a:r>
              <a:rPr lang="fr-CA" sz="1400" dirty="0"/>
              <a:t> avec chaque achat de piscine!</a:t>
            </a:r>
          </a:p>
          <a:p>
            <a:endParaRPr lang="fr-CA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CE7EE2-A4B2-5123-50DA-E1A69941C17E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53243" y="4776405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PISCINES DE FIBRE 2024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7BCA58-4012-A7FA-44D3-BA017B8DA66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29834" y="5136445"/>
            <a:ext cx="6408713" cy="25237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600" b="1" dirty="0">
                <a:sym typeface="Wingdings" panose="05000000000000000000" pitchFamily="2" charset="2"/>
              </a:rPr>
              <a:t>MOVA ET AQUARINO</a:t>
            </a:r>
            <a:endParaRPr lang="fr-C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RABAIS DE 3500$ </a:t>
            </a:r>
            <a:r>
              <a:rPr lang="fr-CA" sz="1400" dirty="0"/>
              <a:t>sur les 3 modèles exclusifs Club Piscine applicable sur le prix régulier de 2024 .</a:t>
            </a:r>
            <a:r>
              <a:rPr lang="fr-CA" sz="1400" dirty="0">
                <a:highlight>
                  <a:srgbClr val="FFFF00"/>
                </a:highlight>
              </a:rPr>
              <a:t> </a:t>
            </a:r>
            <a:endParaRPr lang="fr-CA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RABAIS DE 1000$ </a:t>
            </a:r>
            <a:r>
              <a:rPr lang="fr-CA" sz="1400" dirty="0"/>
              <a:t>sur le combo Thermopompe Solstice et le </a:t>
            </a:r>
            <a:r>
              <a:rPr lang="fr-CA" sz="1400" dirty="0" err="1"/>
              <a:t>chlorateur</a:t>
            </a:r>
            <a:r>
              <a:rPr lang="fr-CA" sz="1400" dirty="0"/>
              <a:t> au sel POLARIS </a:t>
            </a:r>
            <a:r>
              <a:rPr lang="fr-CA" sz="1400" dirty="0" err="1"/>
              <a:t>Autoclear</a:t>
            </a:r>
            <a:r>
              <a:rPr lang="fr-CA" sz="1400" dirty="0"/>
              <a:t>.</a:t>
            </a:r>
          </a:p>
          <a:p>
            <a:endParaRPr lang="fr-CA" sz="1400" b="1" dirty="0"/>
          </a:p>
          <a:p>
            <a:r>
              <a:rPr lang="fr-CA" sz="1400" b="1" dirty="0"/>
              <a:t>NOTE</a:t>
            </a:r>
            <a:r>
              <a:rPr lang="fr-CA" sz="1400" dirty="0"/>
              <a:t> : Le rabais du combo demeure le même peu importe le choix de la capacité/modèle de la thermopompe.</a:t>
            </a:r>
          </a:p>
          <a:p>
            <a:endParaRPr lang="fr-CA" sz="1400" dirty="0"/>
          </a:p>
          <a:p>
            <a:r>
              <a:rPr lang="fr-CA" sz="1400" dirty="0"/>
              <a:t>Société de sauvetage: N’oubliez pas de donner le bracelet </a:t>
            </a:r>
            <a:r>
              <a:rPr lang="fr-CA" sz="1400" b="1" dirty="0"/>
              <a:t>SURVEILLANT DÉSIGNÉ</a:t>
            </a:r>
            <a:r>
              <a:rPr lang="fr-CA" sz="1400" dirty="0"/>
              <a:t> avec chaque achat de piscine</a:t>
            </a:r>
            <a:r>
              <a:rPr lang="fr-CA" sz="16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562470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 de texte 28"/>
          <p:cNvSpPr txBox="1"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3 Janvier au 6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février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</a:t>
            </a:r>
            <a:r>
              <a:rPr lang="fr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sp>
        <p:nvSpPr>
          <p:cNvPr id="6" name="Rectangle 5"/>
          <p:cNvSpPr/>
          <p:nvPr>
            <p:custDataLst>
              <p:tags r:id="rId2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THERMOPOMPES 2024</a:t>
            </a:r>
          </a:p>
        </p:txBody>
      </p:sp>
      <p:sp>
        <p:nvSpPr>
          <p:cNvPr id="8" name="Rectangle 7"/>
          <p:cNvSpPr/>
          <p:nvPr>
            <p:custDataLst>
              <p:tags r:id="rId3"/>
            </p:custDataLst>
          </p:nvPr>
        </p:nvSpPr>
        <p:spPr>
          <a:xfrm>
            <a:off x="260647" y="2128086"/>
            <a:ext cx="6408713" cy="13542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b="1" dirty="0"/>
              <a:t>SOLSTICE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100$</a:t>
            </a:r>
            <a:r>
              <a:rPr lang="fr-CA" sz="1600" dirty="0"/>
              <a:t> sur le prix RÉGULIER de toutes les Thermopompes SOLSTICE. </a:t>
            </a:r>
            <a:r>
              <a:rPr lang="fr-CA" sz="1600" b="1" dirty="0"/>
              <a:t>AUCUN rabais </a:t>
            </a:r>
            <a:r>
              <a:rPr lang="fr-CA" sz="1600" dirty="0"/>
              <a:t>sur les marques TTI et Nirvana.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/>
          </a:p>
          <a:p>
            <a:endParaRPr lang="fr-CA" sz="16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C4BD33-7303-4103-A793-21C93DC0B414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60647" y="4793354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ACCESSOIRES PISCINES 2023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9BEC494-D4C8-48DB-B968-4FEB2152C3A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11</a:t>
            </a:fld>
            <a:endParaRPr lang="fr-CA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1EE3DC31-EFFB-4C17-9CC7-30E1AD450721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B5624A4-969B-1056-5A11-C3594EF3D292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60647" y="5153288"/>
            <a:ext cx="640871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fr-CA" b="1" dirty="0"/>
          </a:p>
          <a:p>
            <a:r>
              <a:rPr lang="fr-CA" dirty="0"/>
              <a:t>Aucune promotion en cours.</a:t>
            </a:r>
          </a:p>
        </p:txBody>
      </p:sp>
    </p:spTree>
    <p:extLst>
      <p:ext uri="{BB962C8B-B14F-4D97-AF65-F5344CB8AC3E}">
        <p14:creationId xmlns:p14="http://schemas.microsoft.com/office/powerpoint/2010/main" val="1857360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 de texte 28"/>
          <p:cNvSpPr txBox="1"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3 Janvier au 6 </a:t>
            </a:r>
            <a:r>
              <a:rPr lang="en-CA" sz="28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février</a:t>
            </a: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</a:t>
            </a:r>
            <a:r>
              <a:rPr lang="fr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sp>
        <p:nvSpPr>
          <p:cNvPr id="6" name="Rectangle 5"/>
          <p:cNvSpPr/>
          <p:nvPr>
            <p:custDataLst>
              <p:tags r:id="rId2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CHIMIQUE 2024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5C7BBEC-1C34-426C-829B-BBBE7AEF9FD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12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15EACBE-1720-4116-90B5-C389F813A16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A6CD2D8-10E2-4C68-A85E-66B4BD875B6C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41641" y="2260613"/>
            <a:ext cx="6408713" cy="4234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600" dirty="0"/>
              <a:t>Nouveaux prix 2024. Voir annexes de ventes.</a:t>
            </a:r>
            <a:endParaRPr lang="fr-CA" sz="1600" b="1" dirty="0"/>
          </a:p>
        </p:txBody>
      </p:sp>
    </p:spTree>
    <p:extLst>
      <p:ext uri="{BB962C8B-B14F-4D97-AF65-F5344CB8AC3E}">
        <p14:creationId xmlns:p14="http://schemas.microsoft.com/office/powerpoint/2010/main" val="141494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 de texte 28"/>
          <p:cNvSpPr txBox="1"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3 Janvier au 6 </a:t>
            </a:r>
            <a:r>
              <a:rPr lang="en-CA" sz="28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février</a:t>
            </a: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</a:t>
            </a:r>
            <a:r>
              <a:rPr lang="fr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sp>
        <p:nvSpPr>
          <p:cNvPr id="6" name="Rectangle 5"/>
          <p:cNvSpPr/>
          <p:nvPr>
            <p:custDataLst>
              <p:tags r:id="rId2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FITNESS 2024</a:t>
            </a:r>
          </a:p>
        </p:txBody>
      </p:sp>
      <p:sp>
        <p:nvSpPr>
          <p:cNvPr id="8" name="Rectangle 7"/>
          <p:cNvSpPr/>
          <p:nvPr>
            <p:custDataLst>
              <p:tags r:id="rId3"/>
            </p:custDataLst>
          </p:nvPr>
        </p:nvSpPr>
        <p:spPr>
          <a:xfrm>
            <a:off x="260647" y="2128086"/>
            <a:ext cx="6408713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Voir annexes pour les rabais sur certains modèles</a:t>
            </a:r>
            <a:r>
              <a:rPr lang="fr-CA" sz="1600" dirty="0">
                <a:latin typeface="Calibri Light" panose="020F03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>
                <a:latin typeface="Calibri Light" panose="020F0302020204030204" pitchFamily="34" charset="0"/>
                <a:cs typeface="Times New Roman" panose="02020603050405020304" pitchFamily="18" charset="0"/>
              </a:rPr>
              <a:t>PROMO FINANCEMENT:  Rien à payer avant 2025 = 12 mois sans paiements ni intérêt (</a:t>
            </a:r>
            <a:r>
              <a:rPr lang="fr-CA" b="1" dirty="0">
                <a:latin typeface="Calibri" panose="020F0502020204030204" pitchFamily="34" charset="0"/>
              </a:rPr>
              <a:t>code promo </a:t>
            </a:r>
            <a:r>
              <a:rPr lang="fr-CA" b="1" dirty="0" err="1">
                <a:latin typeface="Calibri" panose="020F0502020204030204" pitchFamily="34" charset="0"/>
              </a:rPr>
              <a:t>Fairstone</a:t>
            </a:r>
            <a:r>
              <a:rPr lang="fr-CA" b="1" dirty="0">
                <a:latin typeface="Calibri" panose="020F0502020204030204" pitchFamily="34" charset="0"/>
              </a:rPr>
              <a:t> 12128)</a:t>
            </a:r>
            <a:endParaRPr lang="en-US" b="1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5C7BBEC-1C34-426C-829B-BBBE7AEF9FD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13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15EACBE-1720-4116-90B5-C389F813A168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416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 de texte 28"/>
          <p:cNvSpPr txBox="1"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3 Janvier au 6 </a:t>
            </a:r>
            <a:r>
              <a:rPr lang="en-CA" sz="28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février</a:t>
            </a: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</a:t>
            </a:r>
            <a:r>
              <a:rPr lang="fr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sp>
        <p:nvSpPr>
          <p:cNvPr id="6" name="Rectangle 5"/>
          <p:cNvSpPr/>
          <p:nvPr>
            <p:custDataLst>
              <p:tags r:id="rId2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FINANCEMENT</a:t>
            </a:r>
          </a:p>
        </p:txBody>
      </p:sp>
      <p:sp>
        <p:nvSpPr>
          <p:cNvPr id="8" name="Rectangle 7"/>
          <p:cNvSpPr/>
          <p:nvPr>
            <p:custDataLst>
              <p:tags r:id="rId3"/>
            </p:custDataLst>
          </p:nvPr>
        </p:nvSpPr>
        <p:spPr>
          <a:xfrm>
            <a:off x="260647" y="2128084"/>
            <a:ext cx="6408713" cy="5840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b="1" dirty="0">
                <a:highlight>
                  <a:srgbClr val="FFFF00"/>
                </a:highlight>
              </a:rPr>
              <a:t>FAIRSTONE</a:t>
            </a:r>
          </a:p>
          <a:p>
            <a:endParaRPr lang="fr-CA" b="1" dirty="0">
              <a:highlight>
                <a:srgbClr val="FFFF00"/>
              </a:highlight>
            </a:endParaRPr>
          </a:p>
          <a:p>
            <a:r>
              <a:rPr lang="fr-CA" b="1" dirty="0"/>
              <a:t>Plans promos: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b="1" dirty="0"/>
              <a:t>Piscine HT: </a:t>
            </a:r>
            <a:r>
              <a:rPr lang="fr-CA" dirty="0"/>
              <a:t>4,99% pour 48 mois (code promo </a:t>
            </a:r>
            <a:r>
              <a:rPr lang="fr-CA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36484</a:t>
            </a:r>
            <a:r>
              <a:rPr lang="fr-CA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b="1" dirty="0"/>
              <a:t>Fitness</a:t>
            </a:r>
            <a:r>
              <a:rPr lang="fr-CA" dirty="0"/>
              <a:t>: 12 mois sans paiements ni intérêt (code promo </a:t>
            </a:r>
            <a:r>
              <a:rPr lang="fr-CA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12128</a:t>
            </a:r>
            <a:r>
              <a:rPr lang="fr-CA" dirty="0"/>
              <a:t>)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fr-CA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fr-CA" b="1" dirty="0"/>
              <a:t>Plans réguliers que vous pouvez offrir en tout temps:</a:t>
            </a:r>
          </a:p>
          <a:p>
            <a:endParaRPr lang="fr-CA" b="1" dirty="0"/>
          </a:p>
          <a:p>
            <a:endParaRPr lang="fr-CA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b="1" dirty="0"/>
          </a:p>
          <a:p>
            <a:endParaRPr lang="fr-CA" b="1" dirty="0"/>
          </a:p>
          <a:p>
            <a:endParaRPr lang="fr-CA" b="1" dirty="0"/>
          </a:p>
          <a:p>
            <a:endParaRPr lang="fr-CA" b="1" dirty="0"/>
          </a:p>
          <a:p>
            <a:endParaRPr lang="fr-CA" b="1" dirty="0"/>
          </a:p>
          <a:p>
            <a:endParaRPr lang="fr-CA" b="1" dirty="0"/>
          </a:p>
          <a:p>
            <a:endParaRPr lang="fr-CA" b="1" dirty="0"/>
          </a:p>
          <a:p>
            <a:endParaRPr lang="fr-CA" b="1" dirty="0"/>
          </a:p>
          <a:p>
            <a:pPr>
              <a:lnSpc>
                <a:spcPct val="150000"/>
              </a:lnSpc>
            </a:pPr>
            <a:endParaRPr lang="fr-CA" sz="1600" dirty="0">
              <a:latin typeface="Calibri Light" panose="020F03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fr-CA" sz="16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*Ces 3 plans peuvent être offerts en tout temps puisque le frais marchand est pratiquement le même ou moindre qu’un frais de carte de crédit.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52F2973-F05A-4798-9E29-20BCA9224E8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14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88D9F2B-CBC4-4BB5-AAFD-1DAE92562030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47605141-FA74-5EED-1FEA-96577633EC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672" y="4860032"/>
            <a:ext cx="3672408" cy="2305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5674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7642783BF5F549AD8264003DAC5479" ma:contentTypeVersion="3" ma:contentTypeDescription="Crée un document." ma:contentTypeScope="" ma:versionID="dce298f75874831ad4b69d3856d448b0">
  <xsd:schema xmlns:xsd="http://www.w3.org/2001/XMLSchema" xmlns:xs="http://www.w3.org/2001/XMLSchema" xmlns:p="http://schemas.microsoft.com/office/2006/metadata/properties" xmlns:ns2="be3f775b-911d-49d5-9e9c-70e93af7b92b" targetNamespace="http://schemas.microsoft.com/office/2006/metadata/properties" ma:root="true" ma:fieldsID="b29a77cbcb573c1061bfa2edeefbf14c" ns2:_="">
    <xsd:import namespace="be3f775b-911d-49d5-9e9c-70e93af7b9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3f775b-911d-49d5-9e9c-70e93af7b9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93C392B-F690-4267-8D4E-0D4DB769B88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63775F1-C77B-4A53-A338-22C2955B9A39}"/>
</file>

<file path=customXml/itemProps3.xml><?xml version="1.0" encoding="utf-8"?>
<ds:datastoreItem xmlns:ds="http://schemas.openxmlformats.org/officeDocument/2006/customXml" ds:itemID="{11E1C49C-B943-4250-BB39-87973E798E95}">
  <ds:schemaRefs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schemas.microsoft.com/office/2006/metadata/properties"/>
    <ds:schemaRef ds:uri="http://purl.org/dc/terms/"/>
    <ds:schemaRef ds:uri="http://purl.org/dc/elements/1.1/"/>
    <ds:schemaRef ds:uri="8682f7ec-9bef-4d6d-8d5c-0ec39e002ff3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41117</TotalTime>
  <Words>1227</Words>
  <Application>Microsoft Office PowerPoint</Application>
  <PresentationFormat>Affichage à l'écran (4:3)</PresentationFormat>
  <Paragraphs>160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2" baseType="lpstr">
      <vt:lpstr>Arial</vt:lpstr>
      <vt:lpstr>Arial Black</vt:lpstr>
      <vt:lpstr>Calibri</vt:lpstr>
      <vt:lpstr>Calibri Light</vt:lpstr>
      <vt:lpstr>Courier New</vt:lpstr>
      <vt:lpstr>Symbol</vt:lpstr>
      <vt:lpstr>Wingdings</vt:lpstr>
      <vt:lpstr>Thème Office</vt:lpstr>
      <vt:lpstr>Instructions de vente 3 Janvier au 6 février 2024</vt:lpstr>
      <vt:lpstr>Instructions de vente 3 Janvier au 6 février 2024</vt:lpstr>
      <vt:lpstr>Instructions de vente 3 Janvier au 6 février 2024</vt:lpstr>
      <vt:lpstr>Instructions de vente 3 Janvier au 6 février 2024</vt:lpstr>
      <vt:lpstr>Instructions de vente 3 Janvier au 6 février 2024</vt:lpstr>
      <vt:lpstr>Instructions de vente 3 Janvier au 6 février 2024</vt:lpstr>
      <vt:lpstr>Présentation PowerPoint</vt:lpstr>
      <vt:lpstr>Instructions de vente 3 Janvier au 6 février 2024</vt:lpstr>
      <vt:lpstr>Instructions de vente 3 Janvier au 6 février 2024</vt:lpstr>
      <vt:lpstr>Instructions de vente 3 Janvier au 6 février 2024</vt:lpstr>
      <vt:lpstr>Instructions de vente 3 Janvier au 6 février 2024</vt:lpstr>
      <vt:lpstr>Instructions de vente 3 Janvier au 6 février 2024</vt:lpstr>
      <vt:lpstr>Instructions de vente 3 Janvier au 6 février 2024</vt:lpstr>
      <vt:lpstr>Instructions de vente 3 Janvier au 6 février 2024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Cindy Angelini</dc:creator>
  <cp:lastModifiedBy>Veronique Dion</cp:lastModifiedBy>
  <cp:revision>1140</cp:revision>
  <cp:lastPrinted>2022-04-27T14:46:34Z</cp:lastPrinted>
  <dcterms:created xsi:type="dcterms:W3CDTF">2017-05-24T18:44:46Z</dcterms:created>
  <dcterms:modified xsi:type="dcterms:W3CDTF">2024-01-05T02:25:00Z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0x010100DF7642783BF5F549AD8264003DAC5479</vt:lpwstr>
  </property>
  <property fmtid="{D5CDD505-2E9C-101B-9397-08002B2CF9AE}" pid="3" name="CPProgramYearTaxo">
    <vt:lpwstr>395;#2021|67d85b28-9b94-4781-b0e7-a14780e90c05</vt:lpwstr>
  </property>
  <property fmtid="{D5CDD505-2E9C-101B-9397-08002B2CF9AE}" pid="4" name="CPDivisionTaxo">
    <vt:lpwstr>25;#Marketing / Marketing|0ce858d0-7a7f-4510-bcd3-2b6f6fd047da</vt:lpwstr>
  </property>
  <property fmtid="{D5CDD505-2E9C-101B-9397-08002B2CF9AE}" pid="5" name="CPLanguageTaxos">
    <vt:lpwstr>4;#FR|5610c2fe-5657-4d60-b756-13a60f4693e4</vt:lpwstr>
  </property>
  <property fmtid="{D5CDD505-2E9C-101B-9397-08002B2CF9AE}" pid="6" name="CPProviderTaxo">
    <vt:lpwstr/>
  </property>
  <property fmtid="{D5CDD505-2E9C-101B-9397-08002B2CF9AE}" pid="7" name="CPTargetDepartmentTaxos">
    <vt:lpwstr/>
  </property>
</Properties>
</file>