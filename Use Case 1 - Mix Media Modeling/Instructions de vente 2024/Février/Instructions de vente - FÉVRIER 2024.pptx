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65" r:id="rId5"/>
    <p:sldId id="281" r:id="rId6"/>
    <p:sldId id="276" r:id="rId7"/>
    <p:sldId id="285" r:id="rId8"/>
    <p:sldId id="266" r:id="rId9"/>
    <p:sldId id="280" r:id="rId10"/>
    <p:sldId id="273" r:id="rId11"/>
    <p:sldId id="267" r:id="rId12"/>
    <p:sldId id="268" r:id="rId13"/>
    <p:sldId id="275" r:id="rId14"/>
    <p:sldId id="270" r:id="rId15"/>
    <p:sldId id="284" r:id="rId16"/>
    <p:sldId id="264" r:id="rId17"/>
    <p:sldId id="272" r:id="rId18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8BCB"/>
    <a:srgbClr val="229FCC"/>
    <a:srgbClr val="7FCDE9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94"/>
  </p:normalViewPr>
  <p:slideViewPr>
    <p:cSldViewPr>
      <p:cViewPr varScale="1">
        <p:scale>
          <a:sx n="81" d="100"/>
          <a:sy n="81" d="100"/>
        </p:scale>
        <p:origin x="3012" y="10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07/02/2024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2024-02-07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2024-02-07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2024-02-07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2024-02-07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2024-02-07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2024-02-07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2024-02-07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2024-02-07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2024-02-07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2024-02-07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2024-02-07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2024-02-07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1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image" Target="../media/image1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1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image" Target="../media/image1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image" Target="../media/image1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7" Type="http://schemas.openxmlformats.org/officeDocument/2006/relationships/image" Target="../media/image1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4.xml"/><Relationship Id="rId4" Type="http://schemas.openxmlformats.org/officeDocument/2006/relationships/tags" Target="../tags/tag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7" Type="http://schemas.openxmlformats.org/officeDocument/2006/relationships/image" Target="../media/image1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9.xml"/><Relationship Id="rId4" Type="http://schemas.openxmlformats.org/officeDocument/2006/relationships/tags" Target="../tags/tag6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2.xml"/><Relationship Id="rId7" Type="http://schemas.openxmlformats.org/officeDocument/2006/relationships/image" Target="../media/image1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4.xml"/><Relationship Id="rId4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7 </a:t>
            </a:r>
            <a:r>
              <a:rPr lang="en-CA" sz="24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5 mars </a:t>
            </a:r>
            <a:r>
              <a:rPr lang="fr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57170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RÉSUMÉ DES PROMOS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6" y="2334374"/>
            <a:ext cx="6408713" cy="65556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Voici les changements par rapport à janvier:</a:t>
            </a:r>
          </a:p>
          <a:p>
            <a:pPr>
              <a:lnSpc>
                <a:spcPct val="150000"/>
              </a:lnSpc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PROMO: Ne payez rien jusqu’à la fin de l’été (9 mois sans paiement ni intérêt)!</a:t>
            </a:r>
          </a:p>
          <a:p>
            <a:r>
              <a:rPr lang="fr-CA" sz="14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SPA: 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Différents rabais en cours + 9 mois sans paiement ni intérêt. Voir instructions détaillées.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PISCINES HT :  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Rabais de 900$ sur toutes les piscines hors terre + 400$ de rabais sur la thermopompe (tous les modèles) + Vision Pro et </a:t>
            </a:r>
            <a:r>
              <a:rPr lang="fr-CA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Triclobloc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2kg GRATUIT + promo de financement 9 mois sans paiement ni intérêt.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CREUSÉE:  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Rabais de 4000$ de rabais + thermopompe Solstice 50 000 BTU Gratuite.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FIBRE: 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jusqu’à 4500$ de rabais sur les Aquarino + 1500$ sur le combo </a:t>
            </a:r>
            <a:r>
              <a:rPr lang="fr-CA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chlorateur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et Thermopompe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THERMOPOMPES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Rabais de 300$ sur les Solstice et 200$ sur les TTI ECOLO.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MEUBLES: 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Même rabais en cours + 9 mois sans paiements ni intérêt.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PARASOLS ET ACCESSOIRES: 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10% de rabais ADDITIONNEL sur les accessoires meubles et parasols. Vous fier aux prix dans les annexes.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GAZEBOS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500$ de rabais sur les </a:t>
            </a:r>
            <a:r>
              <a:rPr lang="fr-CA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Visscher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BBQ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Ajout de rabais non publicisés sur les modèles 2023.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AUTRES: 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Levier de spa </a:t>
            </a:r>
            <a:r>
              <a:rPr lang="fr-CA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Ultralift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et toiles de remplacement Hors terre et creusée à 15% de rabais</a:t>
            </a:r>
          </a:p>
          <a:p>
            <a:pPr lvl="0"/>
            <a:endParaRPr lang="fr-CA" sz="14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sz="1400" i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Tous les détails des promotions aux pages suivantes.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5601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fr-CA" sz="1600" b="1" dirty="0"/>
          </a:p>
          <a:p>
            <a:r>
              <a:rPr lang="fr-CA" sz="1600" b="1" dirty="0"/>
              <a:t>JACUZZI </a:t>
            </a:r>
            <a:endParaRPr lang="fr-CA" sz="1600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2500$ de rabais </a:t>
            </a:r>
            <a:r>
              <a:rPr lang="fr-CA" sz="1600" dirty="0"/>
              <a:t>sur a série J200 et J400 </a:t>
            </a:r>
            <a:r>
              <a:rPr lang="fr-CA" sz="1600" b="1" dirty="0"/>
              <a:t>2023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2000$ de rabais </a:t>
            </a:r>
            <a:r>
              <a:rPr lang="fr-CA" sz="1600" dirty="0"/>
              <a:t>sur la série J300 et J400 (peu importe l’année)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1000$ de rabais </a:t>
            </a:r>
            <a:r>
              <a:rPr lang="fr-CA" sz="1600" dirty="0"/>
              <a:t>sur la série J200 (Smart tub non inclus sur les modèles 2024)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dirty="0"/>
              <a:t>Le levier, la marche, le GFCI sont </a:t>
            </a:r>
            <a:r>
              <a:rPr lang="fr-CA" sz="1600" b="1" dirty="0"/>
              <a:t>INCLUS</a:t>
            </a:r>
            <a:r>
              <a:rPr lang="fr-CA" sz="1600" dirty="0"/>
              <a:t>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600" dirty="0"/>
              <a:t>La livraison </a:t>
            </a:r>
            <a:r>
              <a:rPr lang="fr-FR" sz="1600" b="1" dirty="0"/>
              <a:t>N’EST PAS INCLUSE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600" b="1" dirty="0"/>
              <a:t>FINANCEMENT: 9 mois sans paiement ni intérêt avec </a:t>
            </a:r>
            <a:r>
              <a:rPr lang="fr-FR" sz="1600" b="1" dirty="0" err="1"/>
              <a:t>FairStone</a:t>
            </a:r>
            <a:r>
              <a:rPr lang="fr-FR" sz="1600" b="1" dirty="0"/>
              <a:t> (code 12098).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600" dirty="0"/>
              <a:t>Si le client ne prend pas de financement il n’y pas PAS de rabais supplémentaire.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Tous les modèles 2023 viennent avec la promotion ‘’Trousse énergétique </a:t>
            </a:r>
            <a:r>
              <a:rPr lang="fr-CA" sz="1600" b="1" dirty="0" err="1"/>
              <a:t>SmartTub</a:t>
            </a:r>
            <a:r>
              <a:rPr lang="fr-CA" sz="1600" b="1" dirty="0"/>
              <a:t> </a:t>
            </a:r>
            <a:r>
              <a:rPr lang="fr-CA" sz="1600" b="1" dirty="0" err="1"/>
              <a:t>play</a:t>
            </a:r>
            <a:r>
              <a:rPr lang="fr-CA" sz="1600" b="1" dirty="0"/>
              <a:t>’’ d’une valeur ajoutée de </a:t>
            </a:r>
            <a:r>
              <a:rPr lang="fr-CA" sz="1600" dirty="0"/>
              <a:t>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600" b="1" dirty="0"/>
              <a:t>1199$ </a:t>
            </a:r>
            <a:r>
              <a:rPr lang="fr-CA" sz="1600" dirty="0"/>
              <a:t>sur la série J-200 incluant </a:t>
            </a:r>
            <a:r>
              <a:rPr lang="fr-CA" sz="1600" dirty="0" err="1"/>
              <a:t>SmartTub</a:t>
            </a:r>
            <a:r>
              <a:rPr lang="fr-CA" sz="1600" dirty="0"/>
              <a:t> + </a:t>
            </a:r>
            <a:r>
              <a:rPr lang="fr-CA" sz="1600" dirty="0" err="1"/>
              <a:t>Prolast</a:t>
            </a:r>
            <a:r>
              <a:rPr lang="fr-CA" sz="1600" dirty="0"/>
              <a:t> extrême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600" b="1" dirty="0"/>
              <a:t>1599$ </a:t>
            </a:r>
            <a:r>
              <a:rPr lang="fr-CA" sz="1600" dirty="0"/>
              <a:t>sur la série J-300 et J-400 incluant </a:t>
            </a:r>
            <a:r>
              <a:rPr lang="fr-CA" sz="1600" dirty="0" err="1"/>
              <a:t>SmartTub</a:t>
            </a:r>
            <a:r>
              <a:rPr lang="fr-CA" sz="1600" dirty="0"/>
              <a:t> + </a:t>
            </a:r>
            <a:r>
              <a:rPr lang="fr-CA" sz="1600" dirty="0" err="1"/>
              <a:t>Prolast</a:t>
            </a:r>
            <a:r>
              <a:rPr lang="fr-CA" sz="1600" dirty="0"/>
              <a:t> extrême + Smart Seal</a:t>
            </a:r>
          </a:p>
          <a:p>
            <a:pPr lvl="1"/>
            <a:endParaRPr lang="fr-CA" sz="1400" dirty="0"/>
          </a:p>
          <a:p>
            <a:r>
              <a:rPr lang="fr-CA" sz="1400" u="sng" dirty="0"/>
              <a:t>Produits complémentaires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15% de rabais </a:t>
            </a:r>
            <a:r>
              <a:rPr lang="fr-CA" sz="1400" dirty="0"/>
              <a:t>sur les leviers de spa ULTRALIFT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/>
              <a:t>Offrez les nouveaux tapis chauffant </a:t>
            </a:r>
            <a:r>
              <a:rPr lang="fr-CA" sz="1400" dirty="0" err="1"/>
              <a:t>Drexma</a:t>
            </a:r>
            <a:r>
              <a:rPr lang="fr-CA" sz="1400" dirty="0"/>
              <a:t>. Un superbe produit complémentaire à suggérer au client! </a:t>
            </a:r>
          </a:p>
          <a:p>
            <a:endParaRPr lang="fr-CA" sz="16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/>
          </a:p>
        </p:txBody>
      </p:sp>
      <p:sp>
        <p:nvSpPr>
          <p:cNvPr id="9" name="Zone de texte 28">
            <a:extLst>
              <a:ext uri="{FF2B5EF4-FFF2-40B4-BE49-F238E27FC236}">
                <a16:creationId xmlns:a16="http://schemas.microsoft.com/office/drawing/2014/main" id="{0370B06F-2204-409D-9F14-EA188DB7EFA7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7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5 mars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8C7895C-4014-4298-99F6-5FEF6B83122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5755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1600" dirty="0"/>
          </a:p>
          <a:p>
            <a:r>
              <a:rPr lang="fr-CA" sz="1600" b="1" dirty="0"/>
              <a:t>SOLSTICE SPAS 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1500$ de rabais sur les modèles 2023 </a:t>
            </a:r>
            <a:r>
              <a:rPr lang="fr-CA" sz="1600" dirty="0"/>
              <a:t>applicable sur le prix régulier</a:t>
            </a:r>
            <a:endParaRPr lang="fr-CA" sz="1600" b="1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1000$ de Rabais </a:t>
            </a:r>
            <a:r>
              <a:rPr lang="fr-CA" sz="1600" dirty="0"/>
              <a:t>sur les modèles 2024  applicable sur le prix régulier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600" b="1" dirty="0"/>
              <a:t>FINANCEMENT: 9 mois sans paiement ni intérêt avec </a:t>
            </a:r>
            <a:r>
              <a:rPr lang="fr-FR" sz="1600" b="1" dirty="0" err="1"/>
              <a:t>FairStone</a:t>
            </a:r>
            <a:r>
              <a:rPr lang="fr-FR" sz="1600" b="1" dirty="0"/>
              <a:t> (code 12098).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600" dirty="0"/>
              <a:t>Si le client ne prend pas de financement il n’y pas </a:t>
            </a:r>
            <a:r>
              <a:rPr lang="fr-FR" sz="1600" dirty="0" err="1"/>
              <a:t>PAS</a:t>
            </a:r>
            <a:r>
              <a:rPr lang="fr-FR" sz="1600" dirty="0"/>
              <a:t> de rabais supplémentaire.</a:t>
            </a:r>
            <a:endParaRPr lang="fr-CA" sz="1600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PROMO: OBTENEZ 2 SERVIETTES SOLSTICE À L’ACHAT D’UN SPA </a:t>
            </a:r>
            <a:r>
              <a:rPr lang="fr-CA" sz="1600" dirty="0"/>
              <a:t>(</a:t>
            </a:r>
            <a:r>
              <a:rPr lang="fr-CA" sz="1600" i="1" dirty="0"/>
              <a:t>PTR 173988)</a:t>
            </a:r>
            <a:r>
              <a:rPr lang="fr-CA" sz="1600" dirty="0"/>
              <a:t>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dirty="0"/>
              <a:t>Le levier, la marche, le GFCI sont </a:t>
            </a:r>
            <a:r>
              <a:rPr lang="fr-CA" sz="1600" b="1" dirty="0"/>
              <a:t>INCLUS</a:t>
            </a:r>
            <a:r>
              <a:rPr lang="fr-CA" sz="1600" dirty="0"/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dirty="0"/>
              <a:t>La livraison </a:t>
            </a:r>
            <a:r>
              <a:rPr lang="fr-CA" sz="1600" b="1" dirty="0"/>
              <a:t>N’EST PAS INCLUSE</a:t>
            </a:r>
          </a:p>
          <a:p>
            <a:pPr lvl="0"/>
            <a:endParaRPr lang="fr-CA" sz="1600" b="1" dirty="0"/>
          </a:p>
          <a:p>
            <a:r>
              <a:rPr lang="fr-CA" sz="1600" u="sng" dirty="0"/>
              <a:t>Produits complémentaires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15% de rabais </a:t>
            </a:r>
            <a:r>
              <a:rPr lang="fr-CA" sz="1600" dirty="0"/>
              <a:t>sur les leviers de spa ULTRALIFT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Offrez les nouveaux tapis chauffant </a:t>
            </a:r>
            <a:r>
              <a:rPr lang="fr-CA" sz="1600" dirty="0" err="1"/>
              <a:t>Drexma</a:t>
            </a:r>
            <a:r>
              <a:rPr lang="fr-CA" sz="1600" dirty="0"/>
              <a:t>. Un superbe produit complémentaire à suggérer au client!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r>
              <a:rPr lang="fr-CA" sz="1600" b="1" dirty="0"/>
              <a:t>LUMIO – STORM/STREAM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Aucun Rabais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Aucune promotion de financement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Le levier, la marche et le chimique sont vendus séparément.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livraison n’est pas incluse.</a:t>
            </a:r>
            <a:endParaRPr lang="fr-CA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3</a:t>
            </a:fld>
            <a:endParaRPr lang="fr-CA"/>
          </a:p>
        </p:txBody>
      </p:sp>
      <p:sp>
        <p:nvSpPr>
          <p:cNvPr id="9" name="Zone de texte 28">
            <a:extLst>
              <a:ext uri="{FF2B5EF4-FFF2-40B4-BE49-F238E27FC236}">
                <a16:creationId xmlns:a16="http://schemas.microsoft.com/office/drawing/2014/main" id="{0370B06F-2204-409D-9F14-EA188DB7EFA7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7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5 mars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8093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DE NAGE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2000" dirty="0"/>
          </a:p>
          <a:p>
            <a:r>
              <a:rPr lang="fr-CA" sz="1600" b="1" dirty="0"/>
              <a:t>SPA DE NAGE SWIMLIFE et JACUZZI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Aucun rabais.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Aucune promo de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Les frais de de livraison de base sont inclus dans le prix. Les frais de grue sont en sus. </a:t>
            </a:r>
          </a:p>
          <a:p>
            <a:endParaRPr lang="fr-CA" sz="20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4</a:t>
            </a:fld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1EECA49-570A-45D0-B3D2-36F8939D94C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75" y="8604448"/>
            <a:ext cx="2492896" cy="402434"/>
          </a:xfrm>
          <a:prstGeom prst="rect">
            <a:avLst/>
          </a:prstGeom>
        </p:spPr>
      </p:pic>
      <p:sp>
        <p:nvSpPr>
          <p:cNvPr id="9" name="Zone de texte 28">
            <a:extLst>
              <a:ext uri="{FF2B5EF4-FFF2-40B4-BE49-F238E27FC236}">
                <a16:creationId xmlns:a16="http://schemas.microsoft.com/office/drawing/2014/main" id="{0370B06F-2204-409D-9F14-EA188DB7EFA7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7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5 mars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8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MEUBLES ET PARASOLS 2023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25237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/>
              <a:t>MEUBLES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Meubles: Même prix promo en cours. Aucun changement.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Parasols: 10% de rabais ADDITIONNEL sur tous les </a:t>
            </a:r>
            <a:r>
              <a:rPr lang="fr-CA" sz="1600" b="1"/>
              <a:t>coussins et parasols</a:t>
            </a:r>
            <a:r>
              <a:rPr lang="fr-CA" sz="1600" b="1" dirty="0"/>
              <a:t>. Voir annexes.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/>
              <a:t>FINANCEMENT: 9 mois sans paiement ni intérêt (code 12098). </a:t>
            </a:r>
            <a:r>
              <a:rPr lang="fr-FR" sz="1600" dirty="0"/>
              <a:t>Si le client ne prend pas de financement il n’y pas </a:t>
            </a:r>
            <a:r>
              <a:rPr lang="fr-FR" sz="1600" dirty="0" err="1"/>
              <a:t>PAS</a:t>
            </a:r>
            <a:r>
              <a:rPr lang="fr-FR" sz="1600" dirty="0"/>
              <a:t> de rabais supplémentaire.</a:t>
            </a:r>
          </a:p>
          <a:p>
            <a:endParaRPr lang="fr-CA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r>
              <a:rPr lang="fr-CA" sz="1400" dirty="0"/>
              <a:t>***On bascule au prix 2024 le mois prochain.</a:t>
            </a:r>
            <a:endParaRPr lang="fr-CA" sz="14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5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BD65058E-2E40-488F-AD2D-0894AACC1DAD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7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5 mars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E96E4B-7A8C-45EA-B256-5FA8F8F824B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4839993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</a:rPr>
              <a:t>ACCESSOIRES COMPLÉMENTAIRES &amp; REMPLACEMENT 2023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A2CD3E-FEDC-4821-A78E-A25A2FFA977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6" y="5200033"/>
            <a:ext cx="640871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10% de rabais sur les accessoires. Voir Annexes</a:t>
            </a:r>
          </a:p>
        </p:txBody>
      </p:sp>
    </p:spTree>
    <p:extLst>
      <p:ext uri="{BB962C8B-B14F-4D97-AF65-F5344CB8AC3E}">
        <p14:creationId xmlns:p14="http://schemas.microsoft.com/office/powerpoint/2010/main" val="212511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D76D5B-B0B5-42AC-B72B-0EBE42B8EC3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183569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GAZEBOS 2023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710E5B-75AB-401F-9969-A6297E0521B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2195736"/>
            <a:ext cx="6408713" cy="3631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GAZEBOS 2023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dirty="0"/>
              <a:t>Rabais en cours voir Annexes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b="1" dirty="0"/>
              <a:t>500$ de rabais </a:t>
            </a:r>
            <a:r>
              <a:rPr lang="fr-CA" dirty="0"/>
              <a:t>sur les </a:t>
            </a:r>
            <a:r>
              <a:rPr lang="fr-CA" dirty="0" err="1"/>
              <a:t>Visscher</a:t>
            </a:r>
            <a:r>
              <a:rPr lang="fr-CA" dirty="0"/>
              <a:t> (Palmera </a:t>
            </a:r>
            <a:r>
              <a:rPr lang="fr-CA" dirty="0" err="1"/>
              <a:t>exlue</a:t>
            </a:r>
            <a:r>
              <a:rPr lang="fr-CA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b="1" dirty="0"/>
              <a:t>FINANCEMENT: 9 mois sans paiement ni intérêt (code 12098). </a:t>
            </a:r>
            <a:r>
              <a:rPr lang="fr-FR" sz="1800" dirty="0"/>
              <a:t>Si le client ne prend pas de financement il n’y pas </a:t>
            </a:r>
            <a:r>
              <a:rPr lang="fr-FR" sz="1800" dirty="0" err="1"/>
              <a:t>PAS</a:t>
            </a:r>
            <a:r>
              <a:rPr lang="fr-FR" sz="1800" dirty="0"/>
              <a:t> de rabais supplémentaire.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CA" dirty="0"/>
          </a:p>
          <a:p>
            <a:r>
              <a:rPr lang="fr-CA" sz="1800" dirty="0"/>
              <a:t>***On bascule au prix 2024 le mois prochain.</a:t>
            </a:r>
            <a:endParaRPr lang="fr-CA" sz="18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CA" b="1" dirty="0"/>
          </a:p>
          <a:p>
            <a:endParaRPr lang="fr-CA" sz="1600" b="1" dirty="0"/>
          </a:p>
          <a:p>
            <a:pPr marL="342900" lvl="0" indent="-342900">
              <a:buFont typeface="Calibri Light" panose="020F0302020204030204" pitchFamily="34" charset="0"/>
              <a:buChar char="-"/>
            </a:pPr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6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BD65058E-2E40-488F-AD2D-0894AACC1DAD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7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5 mars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552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BBQ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1723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latin typeface="Calibri" panose="020F0502020204030204" pitchFamily="34" charset="0"/>
              </a:rPr>
              <a:t>Aucune promotion en cours.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latin typeface="Calibri" panose="020F0502020204030204" pitchFamily="34" charset="0"/>
              </a:rPr>
              <a:t>Voir annexes de vente pour rabais sur certains modèles 2023.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latin typeface="Calibri" panose="020F0502020204030204" pitchFamily="34" charset="0"/>
              </a:rPr>
              <a:t>Tous les accessoires </a:t>
            </a:r>
            <a:r>
              <a:rPr lang="fr-CA" dirty="0" err="1">
                <a:latin typeface="Calibri" panose="020F0502020204030204" pitchFamily="34" charset="0"/>
              </a:rPr>
              <a:t>Kitchen</a:t>
            </a:r>
            <a:r>
              <a:rPr lang="fr-CA" dirty="0">
                <a:latin typeface="Calibri" panose="020F0502020204030204" pitchFamily="34" charset="0"/>
              </a:rPr>
              <a:t> </a:t>
            </a:r>
            <a:r>
              <a:rPr lang="fr-CA" dirty="0" err="1">
                <a:latin typeface="Calibri" panose="020F0502020204030204" pitchFamily="34" charset="0"/>
              </a:rPr>
              <a:t>Aid</a:t>
            </a:r>
            <a:r>
              <a:rPr lang="fr-CA" dirty="0">
                <a:latin typeface="Calibri" panose="020F0502020204030204" pitchFamily="34" charset="0"/>
              </a:rPr>
              <a:t> et </a:t>
            </a:r>
            <a:r>
              <a:rPr lang="fr-CA" dirty="0" err="1">
                <a:latin typeface="Calibri" panose="020F0502020204030204" pitchFamily="34" charset="0"/>
              </a:rPr>
              <a:t>Megamaster</a:t>
            </a:r>
            <a:r>
              <a:rPr lang="fr-CA" dirty="0">
                <a:latin typeface="Calibri" panose="020F0502020204030204" pitchFamily="34" charset="0"/>
              </a:rPr>
              <a:t> sont à 50% de rabais</a:t>
            </a:r>
          </a:p>
          <a:p>
            <a:endParaRPr lang="fr-CA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2DBC70-3186-48CE-819F-361D4296B6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7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783D21B-B117-4026-9C7F-49C36B6A584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7" y="8411910"/>
            <a:ext cx="2492896" cy="402434"/>
          </a:xfrm>
          <a:prstGeom prst="rect">
            <a:avLst/>
          </a:prstGeom>
        </p:spPr>
      </p:pic>
      <p:sp>
        <p:nvSpPr>
          <p:cNvPr id="9" name="Zone de texte 28">
            <a:extLst>
              <a:ext uri="{FF2B5EF4-FFF2-40B4-BE49-F238E27FC236}">
                <a16:creationId xmlns:a16="http://schemas.microsoft.com/office/drawing/2014/main" id="{D619A523-3587-422F-87B8-70A8B3DFF392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7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5 mars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4054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HORS TERRE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8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8BA23A4-D293-442A-8E64-DD7EEB3C81B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838E3DE0-1170-4F6D-9757-64FA783277E9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7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5 mars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6" y="2139809"/>
            <a:ext cx="6408713" cy="58169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2000" b="1" dirty="0">
                <a:sym typeface="Wingdings" panose="05000000000000000000" pitchFamily="2" charset="2"/>
              </a:rPr>
              <a:t>CARVIN  &amp; TRENDIUM (VOGUE) </a:t>
            </a:r>
            <a:endParaRPr lang="fr-CA" sz="20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900$ </a:t>
            </a:r>
            <a:r>
              <a:rPr lang="fr-CA" sz="1600" dirty="0"/>
              <a:t>sur toutes les piscines hors terre Seules, Équipées et Équipées &amp; Installées. Le même rabais s’applique sur </a:t>
            </a:r>
            <a:r>
              <a:rPr lang="fr-CA" sz="1600"/>
              <a:t>les modèles 2023.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400$</a:t>
            </a:r>
            <a:r>
              <a:rPr lang="fr-CA" sz="1600" dirty="0"/>
              <a:t> sur prix régulier d’une thermopompe à l’achat d’une piscine hors terre. Toutes thermopompes admissibles. L’installation de la Thermopompe et le By-pass ne </a:t>
            </a:r>
            <a:r>
              <a:rPr lang="fr-CA" sz="1600" b="1" dirty="0"/>
              <a:t>sont pas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GRATUIT: </a:t>
            </a:r>
            <a:r>
              <a:rPr lang="fr-CA" sz="1600" dirty="0"/>
              <a:t>Vision pro et </a:t>
            </a:r>
            <a:r>
              <a:rPr lang="fr-CA" sz="1600" dirty="0" err="1"/>
              <a:t>Triclo</a:t>
            </a:r>
            <a:r>
              <a:rPr lang="fr-CA" sz="1600" dirty="0"/>
              <a:t> bloc 2kg. offert gratuitement (non publicisé).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Promo financement Fairstone</a:t>
            </a:r>
            <a:r>
              <a:rPr lang="fr-CA" sz="1600" dirty="0"/>
              <a:t>: 9 mois sans paiement ni intérêt (code 12098) OU 5% de rabais si le client ne prend pas le financement.</a:t>
            </a:r>
          </a:p>
          <a:p>
            <a:pPr lvl="1"/>
            <a:endParaRPr lang="fr-CA" sz="1600" dirty="0"/>
          </a:p>
          <a:p>
            <a:r>
              <a:rPr lang="fr-CA" b="1" dirty="0"/>
              <a:t>TOILE DE REMPLACEMENT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15% </a:t>
            </a:r>
            <a:r>
              <a:rPr lang="fr-CA" sz="1600" dirty="0"/>
              <a:t>sur les toiles de remplacement à prix régulier.</a:t>
            </a:r>
          </a:p>
          <a:p>
            <a:endParaRPr lang="fr-CA" sz="1400" i="1" dirty="0"/>
          </a:p>
          <a:p>
            <a:r>
              <a:rPr lang="fr-CA" sz="1600" b="1" u="sng" dirty="0"/>
              <a:t>Publicité</a:t>
            </a:r>
          </a:p>
          <a:p>
            <a:r>
              <a:rPr lang="fr-CA" sz="1600" dirty="0"/>
              <a:t>Prendre note que nous avons fait un prix d’appel dans la publicité de février pour la SOHO et MAHO 12pi équipée, installée et chauffée à 1850$ de rabais qui inclus les rabais suivants: 900$ piscine+400$ thermopompe+345$vision+ rabais additionnel pour arrondir=1850$.</a:t>
            </a:r>
          </a:p>
          <a:p>
            <a:endParaRPr lang="fr-CA" sz="1600" dirty="0"/>
          </a:p>
          <a:p>
            <a:r>
              <a:rPr lang="fr-CA" sz="1600" dirty="0"/>
              <a:t>Société de sauvetage: N’oubliez pas de donner le bracelet </a:t>
            </a:r>
            <a:r>
              <a:rPr lang="fr-CA" sz="1600" b="1" dirty="0"/>
              <a:t>SURVEILLANT DÉSIGNÉ</a:t>
            </a:r>
            <a:r>
              <a:rPr lang="fr-CA" sz="1600" dirty="0"/>
              <a:t> avec chaque achat de piscine!</a:t>
            </a:r>
          </a:p>
          <a:p>
            <a:endParaRPr lang="fr-CA" b="1" dirty="0"/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BOIS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9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CB57BEBA-A86A-4781-AB89-09D90C196ACE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7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5 mars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2F5A22-327C-4D75-9397-912D5DCB218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2128086"/>
            <a:ext cx="6408713" cy="32932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AQUABOIS 2024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750$ </a:t>
            </a:r>
            <a:r>
              <a:rPr lang="fr-CA" sz="1600" dirty="0"/>
              <a:t>sur le prix régulier de toutes les piscines de bois hors sol ou semi-creusées 2023.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400$</a:t>
            </a:r>
            <a:r>
              <a:rPr lang="fr-CA" sz="1600" dirty="0"/>
              <a:t> sur le prix régulier d’une thermopompe (tous les modèles) à l’achat d’une piscine de bois chauffée. By-pass non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teinture est incluse sur toutes les piscines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Aucune promotion de financement</a:t>
            </a:r>
          </a:p>
          <a:p>
            <a:endParaRPr lang="fr-CA" sz="1600" b="1" dirty="0"/>
          </a:p>
          <a:p>
            <a:endParaRPr lang="fr-CA" sz="1600" dirty="0"/>
          </a:p>
          <a:p>
            <a:r>
              <a:rPr lang="fr-CA" sz="1600" dirty="0"/>
              <a:t>Société de sauvetage: N’oubliez pas de donner le bracelet </a:t>
            </a:r>
            <a:r>
              <a:rPr lang="fr-CA" sz="1600" b="1" dirty="0"/>
              <a:t>SURVEILLANT DÉSIGNÉ</a:t>
            </a:r>
            <a:r>
              <a:rPr lang="fr-CA" sz="1600" dirty="0"/>
              <a:t> avec chaque achat de piscine!</a:t>
            </a:r>
          </a:p>
          <a:p>
            <a:endParaRPr lang="fr-CA" sz="1400" i="1" dirty="0"/>
          </a:p>
          <a:p>
            <a:endParaRPr lang="fr-CA" sz="1600" dirty="0"/>
          </a:p>
        </p:txBody>
      </p:sp>
    </p:spTree>
    <p:extLst>
      <p:ext uri="{BB962C8B-B14F-4D97-AF65-F5344CB8AC3E}">
        <p14:creationId xmlns:p14="http://schemas.microsoft.com/office/powerpoint/2010/main" val="3528611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CREUSÉES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10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CB57BEBA-A86A-4781-AB89-09D90C196ACE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7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5 mars </a:t>
            </a: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D5E6B-810F-498E-B14D-305B2F9FD92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2135574"/>
            <a:ext cx="6408713" cy="27392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LATHAM ACIER et IMPERIAL POOL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RABAIS de 4000$</a:t>
            </a:r>
            <a:r>
              <a:rPr lang="fr-CA" sz="1600" dirty="0">
                <a:ea typeface="Calibri" panose="020F0502020204030204" pitchFamily="34" charset="0"/>
                <a:cs typeface="Times New Roman" panose="02020603050405020304" pitchFamily="18" charset="0"/>
              </a:rPr>
              <a:t> sur le prix régulier de toutes les piscines creusées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dirty="0">
                <a:ea typeface="Calibri" panose="020F0502020204030204" pitchFamily="34" charset="0"/>
                <a:cs typeface="Times New Roman" panose="02020603050405020304" pitchFamily="18" charset="0"/>
              </a:rPr>
              <a:t>Thermopompe Solstice 50k BTU GRATUITE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b="1" dirty="0"/>
              <a:t>TOILE DE REMPLACEMENT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15% </a:t>
            </a:r>
            <a:r>
              <a:rPr lang="fr-CA" sz="1600" dirty="0"/>
              <a:t>sur les toiles de remplacement à prix régulier.</a:t>
            </a:r>
          </a:p>
          <a:p>
            <a:endParaRPr lang="fr-CA" dirty="0"/>
          </a:p>
          <a:p>
            <a:r>
              <a:rPr lang="fr-CA" sz="1600" dirty="0"/>
              <a:t>Société de sauvetage: N’oubliez pas de donner le bracelet </a:t>
            </a:r>
            <a:r>
              <a:rPr lang="fr-CA" sz="1600" b="1" dirty="0"/>
              <a:t>SURVEILLANT DÉSIGNÉ</a:t>
            </a:r>
            <a:r>
              <a:rPr lang="fr-CA" sz="1600" dirty="0"/>
              <a:t> avec chaque achat de piscine!</a:t>
            </a:r>
          </a:p>
          <a:p>
            <a:endParaRPr lang="fr-CA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E7EE2-A4B2-5123-50DA-E1A69941C17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29834" y="5201882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FIBRE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BCA58-4012-A7FA-44D3-BA017B8DA66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29834" y="5576624"/>
            <a:ext cx="6408713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MOVA ET AQUARINO</a:t>
            </a:r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3500$ </a:t>
            </a:r>
            <a:r>
              <a:rPr lang="fr-CA" sz="1600" dirty="0"/>
              <a:t>sur les 3 modèles MOVA équipées et installées (rabais de 2500$ si piscine seule)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4500$ </a:t>
            </a:r>
            <a:r>
              <a:rPr lang="fr-CA" sz="1600" dirty="0"/>
              <a:t>sur les piscines AQUARINO équipées et installées (rabais de 3500$ si piscine seule).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1500$ </a:t>
            </a:r>
            <a:r>
              <a:rPr lang="fr-CA" sz="1600" dirty="0"/>
              <a:t>(50% de rabais) sur le combo Thermopompe Solstice et le </a:t>
            </a:r>
            <a:r>
              <a:rPr lang="fr-CA" sz="1600" dirty="0" err="1"/>
              <a:t>chlorateur</a:t>
            </a:r>
            <a:r>
              <a:rPr lang="fr-CA" sz="1600" dirty="0"/>
              <a:t> au sel POLARIS </a:t>
            </a:r>
            <a:r>
              <a:rPr lang="fr-CA" sz="1600" dirty="0" err="1"/>
              <a:t>Autoclear</a:t>
            </a:r>
            <a:r>
              <a:rPr lang="fr-CA" sz="1600" dirty="0"/>
              <a:t> (ou équivalent)</a:t>
            </a:r>
          </a:p>
          <a:p>
            <a:endParaRPr lang="fr-CA" sz="1600" b="1" dirty="0"/>
          </a:p>
          <a:p>
            <a:endParaRPr lang="fr-CA" sz="1600" dirty="0"/>
          </a:p>
          <a:p>
            <a:r>
              <a:rPr lang="fr-CA" sz="1600" dirty="0"/>
              <a:t>Société de sauvetage: N’oubliez pas de donner le bracelet </a:t>
            </a:r>
            <a:r>
              <a:rPr lang="fr-CA" sz="1600" b="1" dirty="0"/>
              <a:t>SURVEILLANT DÉSIGNÉ</a:t>
            </a:r>
            <a:r>
              <a:rPr lang="fr-CA" sz="1600" dirty="0"/>
              <a:t> avec chaque achat de piscine</a:t>
            </a:r>
            <a:r>
              <a:rPr lang="fr-CA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562470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7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5 mars </a:t>
            </a: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THERMOPOMPES 2024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6"/>
            <a:ext cx="6408713" cy="13542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SOLSTICE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300$</a:t>
            </a:r>
            <a:r>
              <a:rPr lang="fr-CA" sz="1600" dirty="0"/>
              <a:t> sur le prix RÉGULIER de toutes les Thermopompes SOLSTICE. </a:t>
            </a:r>
            <a:endParaRPr lang="fr-CA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200$ </a:t>
            </a:r>
            <a:r>
              <a:rPr lang="fr-CA" sz="1600" dirty="0"/>
              <a:t>sur les Thermopompes de marque TTI</a:t>
            </a:r>
          </a:p>
          <a:p>
            <a:endParaRPr lang="fr-CA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C4BD33-7303-4103-A793-21C93DC0B4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4793354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ACCESSOIRES PISCINES 2023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BEC494-D4C8-48DB-B968-4FEB2152C3A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11</a:t>
            </a:fld>
            <a:endParaRPr lang="fr-CA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EE3DC31-EFFB-4C17-9CC7-30E1AD45072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5624A4-969B-1056-5A11-C3594EF3D2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5153288"/>
            <a:ext cx="64087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fr-CA" b="1" dirty="0"/>
          </a:p>
          <a:p>
            <a:r>
              <a:rPr lang="fr-CA" dirty="0"/>
              <a:t>Aucune promotion en cours.</a:t>
            </a:r>
          </a:p>
        </p:txBody>
      </p:sp>
    </p:spTree>
    <p:extLst>
      <p:ext uri="{BB962C8B-B14F-4D97-AF65-F5344CB8AC3E}">
        <p14:creationId xmlns:p14="http://schemas.microsoft.com/office/powerpoint/2010/main" val="1857360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7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5 mars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CHIMIQUE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12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6CD2D8-10E2-4C68-A85E-66B4BD875B6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41641" y="2260613"/>
            <a:ext cx="6408713" cy="4234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600" dirty="0"/>
              <a:t>Nouveaux prix 2024. Voir annexe de ventes.</a:t>
            </a:r>
            <a:endParaRPr lang="fr-CA" sz="1600" b="1" dirty="0"/>
          </a:p>
        </p:txBody>
      </p:sp>
    </p:spTree>
    <p:extLst>
      <p:ext uri="{BB962C8B-B14F-4D97-AF65-F5344CB8AC3E}">
        <p14:creationId xmlns:p14="http://schemas.microsoft.com/office/powerpoint/2010/main" val="141494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7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5 mars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FITNESS 2024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6"/>
            <a:ext cx="6408713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Voir annexes pour les rabais sur certains modèles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PROMO FINANCEMENT:  Rien à payer avant 2025 = 12 mois sans paiement ni intérêt (</a:t>
            </a:r>
            <a:r>
              <a:rPr lang="fr-CA" b="1" dirty="0">
                <a:latin typeface="Calibri" panose="020F0502020204030204" pitchFamily="34" charset="0"/>
              </a:rPr>
              <a:t>code promo </a:t>
            </a:r>
            <a:r>
              <a:rPr lang="fr-CA" b="1" dirty="0" err="1">
                <a:latin typeface="Calibri" panose="020F0502020204030204" pitchFamily="34" charset="0"/>
              </a:rPr>
              <a:t>Fairstone</a:t>
            </a:r>
            <a:r>
              <a:rPr lang="fr-CA" b="1" dirty="0">
                <a:latin typeface="Calibri" panose="020F0502020204030204" pitchFamily="34" charset="0"/>
              </a:rPr>
              <a:t> 12128)</a:t>
            </a:r>
            <a:endParaRPr lang="en-US" b="1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13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416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7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5 mars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FINANCEMENT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4"/>
            <a:ext cx="6408713" cy="5840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FAIRSTONE</a:t>
            </a:r>
          </a:p>
          <a:p>
            <a:endParaRPr lang="fr-CA" b="1" dirty="0">
              <a:highlight>
                <a:srgbClr val="FFFF00"/>
              </a:highlight>
            </a:endParaRPr>
          </a:p>
          <a:p>
            <a:r>
              <a:rPr lang="fr-CA" b="1" dirty="0"/>
              <a:t>Plans promos: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b="1" dirty="0"/>
              <a:t>HT, SPA, MEUBLE et GAZEBOS: </a:t>
            </a:r>
            <a:r>
              <a:rPr lang="fr-CA" dirty="0"/>
              <a:t>9 mois sans paiement ni intérêt (code promo </a:t>
            </a:r>
            <a:r>
              <a:rPr lang="fr-CA" b="1" dirty="0"/>
              <a:t>12098</a:t>
            </a:r>
            <a:r>
              <a:rPr lang="fr-CA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b="1" dirty="0"/>
              <a:t>Fitness</a:t>
            </a:r>
            <a:r>
              <a:rPr lang="fr-CA" dirty="0"/>
              <a:t>: 12 mois sans paiement ni intérêt (code promo </a:t>
            </a:r>
            <a:r>
              <a:rPr lang="fr-C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12128</a:t>
            </a:r>
            <a:r>
              <a:rPr lang="fr-CA" dirty="0"/>
              <a:t>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fr-CA" b="1" dirty="0"/>
              <a:t>Plans réguliers que vous pouvez offrir </a:t>
            </a:r>
            <a:r>
              <a:rPr lang="fr-CA" b="1" u="sng" dirty="0"/>
              <a:t>en tout temps*</a:t>
            </a:r>
            <a:r>
              <a:rPr lang="fr-CA" b="1" dirty="0"/>
              <a:t>:</a:t>
            </a:r>
          </a:p>
          <a:p>
            <a:endParaRPr lang="fr-CA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pPr>
              <a:lnSpc>
                <a:spcPct val="150000"/>
              </a:lnSpc>
            </a:pPr>
            <a:endParaRPr lang="fr-CA" sz="1600" dirty="0"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CA" sz="16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*Ces 3 plans peuvent être offerts en tout temps puisque le frais marchand est pratiquement le même ou moindre qu’un frais de carte de crédit.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14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88D9F2B-CBC4-4BB5-AAFD-1DAE9256203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7605141-FA74-5EED-1FEA-96577633EC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307" y="4543667"/>
            <a:ext cx="3672408" cy="230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674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68D157-2E07-4A86-AA02-1A1C9B2B9995}"/>
</file>

<file path=customXml/itemProps3.xml><?xml version="1.0" encoding="utf-8"?>
<ds:datastoreItem xmlns:ds="http://schemas.openxmlformats.org/officeDocument/2006/customXml" ds:itemID="{11E1C49C-B943-4250-BB39-87973E798E95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8682f7ec-9bef-4d6d-8d5c-0ec39e002ff3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41403</TotalTime>
  <Words>1506</Words>
  <Application>Microsoft Office PowerPoint</Application>
  <PresentationFormat>Affichage à l'écran (4:3)</PresentationFormat>
  <Paragraphs>183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Courier New</vt:lpstr>
      <vt:lpstr>Symbol</vt:lpstr>
      <vt:lpstr>Times New Roman</vt:lpstr>
      <vt:lpstr>Wingdings</vt:lpstr>
      <vt:lpstr>Thème Office</vt:lpstr>
      <vt:lpstr>Instructions de vente 7 février au 5 mars 2024</vt:lpstr>
      <vt:lpstr>Instructions de vente 7 février au 5 mars 2024</vt:lpstr>
      <vt:lpstr>Instructions de vente 7 février au 5 mars 2024</vt:lpstr>
      <vt:lpstr>Instructions de vente 7 février au 5 mars 2024</vt:lpstr>
      <vt:lpstr>Instructions de vente 7 février au 5 mars 2024</vt:lpstr>
      <vt:lpstr>Instructions de vente 7 février au 5 mars 2024</vt:lpstr>
      <vt:lpstr>Présentation PowerPoint</vt:lpstr>
      <vt:lpstr>Instructions de vente 7 février au 5 mars 2024</vt:lpstr>
      <vt:lpstr>Instructions de vente 7 février au 5 mars 2024</vt:lpstr>
      <vt:lpstr>Instructions de vente 7 février au 5 mars 2024</vt:lpstr>
      <vt:lpstr>Instructions de vente 7 février au 5 mars 2024</vt:lpstr>
      <vt:lpstr>Instructions de vente 7 février au 5 mars 2024</vt:lpstr>
      <vt:lpstr>Instructions de vente 7 février au 5 mars 2024</vt:lpstr>
      <vt:lpstr>Instructions de vente 7 février au 5 mars 2024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1174</cp:revision>
  <cp:lastPrinted>2022-04-27T14:46:34Z</cp:lastPrinted>
  <dcterms:created xsi:type="dcterms:W3CDTF">2017-05-24T18:44:46Z</dcterms:created>
  <dcterms:modified xsi:type="dcterms:W3CDTF">2024-02-07T14:37:00Z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