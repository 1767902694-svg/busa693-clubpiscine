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65" r:id="rId5"/>
    <p:sldId id="281" r:id="rId6"/>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9FCC"/>
    <a:srgbClr val="218BCB"/>
    <a:srgbClr val="53BB6A"/>
    <a:srgbClr val="7FCDE9"/>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94694"/>
  </p:normalViewPr>
  <p:slideViewPr>
    <p:cSldViewPr>
      <p:cViewPr varScale="1">
        <p:scale>
          <a:sx n="79" d="100"/>
          <a:sy n="79" d="100"/>
        </p:scale>
        <p:origin x="3216"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24/05/2024</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2024-05-24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2024-05-24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2024-05-24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2024-05-24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2024-05-24</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2024-05-24</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2024-05-24</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2024-05-24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2024-05-24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2024-05-24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2024-05-24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2024-05-24</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1"/>
            </p:custDataLst>
          </p:nvPr>
        </p:nvSpPr>
        <p:spPr/>
        <p:txBody>
          <a:bodyPr/>
          <a:lstStyle/>
          <a:p>
            <a:fld id="{31F4C03E-007A-4FDF-9746-0F09F296E587}" type="slidenum">
              <a:rPr lang="fr-CA" smtClean="0"/>
              <a:t>1</a:t>
            </a:fld>
            <a:endParaRPr lang="fr-CA" dirty="0"/>
          </a:p>
        </p:txBody>
      </p:sp>
      <p:pic>
        <p:nvPicPr>
          <p:cNvPr id="4" name="Image 3">
            <a:extLst>
              <a:ext uri="{FF2B5EF4-FFF2-40B4-BE49-F238E27FC236}">
                <a16:creationId xmlns:a16="http://schemas.microsoft.com/office/drawing/2014/main" id="{B6D3FC28-3393-BDF0-F47A-AEF477223756}"/>
              </a:ext>
            </a:extLst>
          </p:cNvPr>
          <p:cNvPicPr>
            <a:picLocks noChangeAspect="1"/>
          </p:cNvPicPr>
          <p:nvPr/>
        </p:nvPicPr>
        <p:blipFill>
          <a:blip r:embed="rId3"/>
          <a:stretch>
            <a:fillRect/>
          </a:stretch>
        </p:blipFill>
        <p:spPr>
          <a:xfrm>
            <a:off x="548680" y="755576"/>
            <a:ext cx="5664842" cy="7344816"/>
          </a:xfrm>
          <a:prstGeom prst="rect">
            <a:avLst/>
          </a:prstGeom>
        </p:spPr>
      </p:pic>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2070879"/>
            <a:ext cx="6408713" cy="360040"/>
          </a:xfrm>
          <a:prstGeom prst="rect">
            <a:avLst/>
          </a:prstGeom>
          <a:solidFill>
            <a:srgbClr val="229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Détail</a:t>
            </a:r>
          </a:p>
        </p:txBody>
      </p:sp>
      <p:sp>
        <p:nvSpPr>
          <p:cNvPr id="8" name="Rectangle 7"/>
          <p:cNvSpPr/>
          <p:nvPr>
            <p:custDataLst>
              <p:tags r:id="rId2"/>
            </p:custDataLst>
          </p:nvPr>
        </p:nvSpPr>
        <p:spPr>
          <a:xfrm>
            <a:off x="260646" y="2430919"/>
            <a:ext cx="6408713" cy="5755422"/>
          </a:xfrm>
          <a:prstGeom prst="rect">
            <a:avLst/>
          </a:prstGeom>
          <a:noFill/>
          <a:ln>
            <a:solidFill>
              <a:schemeClr val="tx1"/>
            </a:solidFill>
          </a:ln>
        </p:spPr>
        <p:txBody>
          <a:bodyPr wrap="square">
            <a:spAutoFit/>
          </a:bodyPr>
          <a:lstStyle/>
          <a:p>
            <a:endParaRPr lang="fr-CA" sz="1200" b="1" dirty="0"/>
          </a:p>
          <a:p>
            <a:r>
              <a:rPr lang="fr-CA" sz="1400" dirty="0"/>
              <a:t>Cette année, nous aurons 1x par mois les « Weekend en folie » avec des promotions spéciales en cours! Nous aurons plusieurs stations de radio en directes samedi et dimanche dans nos magasins Club Piscine du Grand Montréal qui annonceront que l’évènement est en cours dans TOUS les Club Piscine!</a:t>
            </a:r>
          </a:p>
          <a:p>
            <a:endParaRPr lang="fr-CA" sz="1400" b="1" dirty="0"/>
          </a:p>
          <a:p>
            <a:r>
              <a:rPr lang="fr-CA" sz="1400" b="1" dirty="0"/>
              <a:t>On mentionne 2 jours seulement mais en réalité c’est valide en magasin du 29 mai au 4 juin. Ces promotions s’ajoutent aux promotions déjà en cours. Ne peut s’appliquer sur vos ventes antérieures. Nous annoncerons les promotions de juin + ces 3 promotions:</a:t>
            </a:r>
          </a:p>
          <a:p>
            <a:endParaRPr lang="fr-CA" sz="1400" b="1" dirty="0"/>
          </a:p>
          <a:p>
            <a:pPr marL="285750" indent="-285750">
              <a:buFont typeface="Arial" panose="020B0604020202020204" pitchFamily="34" charset="0"/>
              <a:buChar char="•"/>
            </a:pPr>
            <a:r>
              <a:rPr lang="fr-CA" b="1" dirty="0"/>
              <a:t>10% de rabais supplémentaire sur les ensembles à diner sélectionnés. </a:t>
            </a:r>
          </a:p>
          <a:p>
            <a:pPr marL="742950" lvl="1" indent="-285750">
              <a:buFont typeface="Wingdings" panose="05000000000000000000" pitchFamily="2" charset="2"/>
              <a:buChar char="ü"/>
            </a:pPr>
            <a:r>
              <a:rPr lang="fr-CA" sz="1200" dirty="0"/>
              <a:t>Voir Annexes MEUBLES pour liste complète des PTR.</a:t>
            </a:r>
          </a:p>
          <a:p>
            <a:pPr marL="742950" lvl="1" indent="-285750">
              <a:buFont typeface="Wingdings" panose="05000000000000000000" pitchFamily="2" charset="2"/>
              <a:buChar char="ü"/>
            </a:pPr>
            <a:r>
              <a:rPr lang="fr-CA" sz="1200" dirty="0"/>
              <a:t>Vous n’aurez pas de carte de prix, seulement une affiche 8,5x11 à imprimer</a:t>
            </a:r>
          </a:p>
          <a:p>
            <a:endParaRPr lang="fr-CA" b="1" dirty="0"/>
          </a:p>
          <a:p>
            <a:pPr marL="285750" indent="-285750">
              <a:buFont typeface="Arial" panose="020B0604020202020204" pitchFamily="34" charset="0"/>
              <a:buChar char="•"/>
            </a:pPr>
            <a:r>
              <a:rPr lang="fr-FR" b="1" dirty="0"/>
              <a:t>10% de rabais sur la cuisine extérieure LAYO.</a:t>
            </a:r>
          </a:p>
          <a:p>
            <a:pPr marL="742950" lvl="1" indent="-285750">
              <a:buFont typeface="Wingdings" panose="05000000000000000000" pitchFamily="2" charset="2"/>
              <a:buChar char="ü"/>
            </a:pPr>
            <a:r>
              <a:rPr lang="fr-CA" sz="1200" dirty="0"/>
              <a:t>Voir Annexes MEUBLES pour liste complète des PTR.</a:t>
            </a:r>
          </a:p>
          <a:p>
            <a:pPr marL="742950" lvl="1" indent="-285750">
              <a:buFont typeface="Wingdings" panose="05000000000000000000" pitchFamily="2" charset="2"/>
              <a:buChar char="ü"/>
            </a:pPr>
            <a:r>
              <a:rPr lang="fr-CA" sz="1200" dirty="0"/>
              <a:t>Vous n’aurez pas de carte de prix, seulement une affiche 8,5x11 à imprimer</a:t>
            </a:r>
          </a:p>
          <a:p>
            <a:pPr marL="285750" indent="-285750">
              <a:lnSpc>
                <a:spcPct val="150000"/>
              </a:lnSpc>
              <a:buFont typeface="Arial" panose="020B0604020202020204" pitchFamily="34" charset="0"/>
              <a:buChar char="•"/>
            </a:pPr>
            <a:r>
              <a:rPr lang="fr-CA" b="1" dirty="0"/>
              <a:t>Voir Annexes BBQ pour toutes les promotions en cours</a:t>
            </a:r>
          </a:p>
          <a:p>
            <a:pPr marL="285750" indent="-285750">
              <a:buFont typeface="Arial" panose="020B0604020202020204" pitchFamily="34" charset="0"/>
              <a:buChar char="•"/>
            </a:pPr>
            <a:endParaRPr lang="fr-CA" sz="1400" b="1" dirty="0"/>
          </a:p>
          <a:p>
            <a:r>
              <a:rPr lang="fr-CA" sz="1100" dirty="0"/>
              <a:t>Legal:</a:t>
            </a:r>
          </a:p>
          <a:p>
            <a:r>
              <a:rPr lang="fr-CA" sz="1100" dirty="0"/>
              <a:t>Les rabais BBQ s’appliquent sur les articles sélectionnés seulement. Le rabais de 10% additionnel  s’applique sur le prix affiché en vigueur. Nous parlerons de rabais allant jusqu’à 439$ dans le BBQ. Ceci  fait référence au </a:t>
            </a:r>
            <a:r>
              <a:rPr lang="fr-CA" sz="1100" dirty="0" err="1"/>
              <a:t>Kamado</a:t>
            </a:r>
            <a:r>
              <a:rPr lang="fr-CA" sz="1100" dirty="0"/>
              <a:t> 25  (300$ de rabais +100$ d’accessoires </a:t>
            </a:r>
            <a:r>
              <a:rPr lang="fr-CA" sz="1100" dirty="0" err="1"/>
              <a:t>BBQ+charbon</a:t>
            </a:r>
            <a:r>
              <a:rPr lang="fr-CA" sz="1100" dirty="0"/>
              <a:t> 24,99 + copeaux de bois 14,99= 439$)</a:t>
            </a: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2</a:t>
            </a:fld>
            <a:endParaRPr lang="fr-CA"/>
          </a:p>
        </p:txBody>
      </p:sp>
      <p:sp>
        <p:nvSpPr>
          <p:cNvPr id="9" name="Zone de texte 28">
            <a:extLst>
              <a:ext uri="{FF2B5EF4-FFF2-40B4-BE49-F238E27FC236}">
                <a16:creationId xmlns:a16="http://schemas.microsoft.com/office/drawing/2014/main" id="{0370B06F-2204-409D-9F14-EA188DB7EFA7}"/>
              </a:ext>
            </a:extLst>
          </p:cNvPr>
          <p:cNvSpPr txBox="1">
            <a:spLocks noGrp="1"/>
          </p:cNvSpPr>
          <p:nvPr>
            <p:ph type="title"/>
            <p:custDataLst>
              <p:tags r:id="rId4"/>
            </p:custDataLst>
          </p:nvPr>
        </p:nvSpPr>
        <p:spPr>
          <a:xfrm>
            <a:off x="332656" y="611560"/>
            <a:ext cx="6169851"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24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WEEKEND EN FOLIE </a:t>
            </a:r>
            <a:br>
              <a:rPr lang="fr-CA" sz="24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br>
            <a:r>
              <a:rPr lang="fr-CA" sz="24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Édition BBQ</a:t>
            </a:r>
            <a:br>
              <a:rPr lang="en-CA" sz="20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20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1-2 </a:t>
            </a:r>
            <a:r>
              <a:rPr lang="en-CA" sz="20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juin</a:t>
            </a:r>
            <a:r>
              <a:rPr lang="en-CA" sz="20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4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pic>
        <p:nvPicPr>
          <p:cNvPr id="7" name="Image 6">
            <a:extLst>
              <a:ext uri="{FF2B5EF4-FFF2-40B4-BE49-F238E27FC236}">
                <a16:creationId xmlns:a16="http://schemas.microsoft.com/office/drawing/2014/main" id="{28C7895C-4014-4298-99F6-5FEF6B831223}"/>
              </a:ext>
            </a:extLst>
          </p:cNvPr>
          <p:cNvPicPr>
            <a:picLocks noChangeAspect="1"/>
          </p:cNvPicPr>
          <p:nvPr>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a:xfrm>
            <a:off x="267145" y="8559533"/>
            <a:ext cx="2492896" cy="402434"/>
          </a:xfrm>
          <a:prstGeom prst="rect">
            <a:avLst/>
          </a:prstGeom>
        </p:spPr>
      </p:pic>
    </p:spTree>
    <p:extLst>
      <p:ext uri="{BB962C8B-B14F-4D97-AF65-F5344CB8AC3E}">
        <p14:creationId xmlns:p14="http://schemas.microsoft.com/office/powerpoint/2010/main" val="13245974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ags/tag3.xml><?xml version="1.0" encoding="utf-8"?>
<p:tagLst xmlns:a="http://schemas.openxmlformats.org/drawingml/2006/main" xmlns:r="http://schemas.openxmlformats.org/officeDocument/2006/relationships" xmlns:p="http://schemas.openxmlformats.org/presentationml/2006/main">
  <p:tag name="NUM" val="2"/>
</p:tagLst>
</file>

<file path=ppt/tags/tag4.xml><?xml version="1.0" encoding="utf-8"?>
<p:tagLst xmlns:a="http://schemas.openxmlformats.org/drawingml/2006/main" xmlns:r="http://schemas.openxmlformats.org/officeDocument/2006/relationships" xmlns:p="http://schemas.openxmlformats.org/presentationml/2006/main">
  <p:tag name="NUM" val="3"/>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3C392B-F690-4267-8D4E-0D4DB769B882}">
  <ds:schemaRefs>
    <ds:schemaRef ds:uri="http://schemas.microsoft.com/sharepoint/v3/contenttype/forms"/>
  </ds:schemaRefs>
</ds:datastoreItem>
</file>

<file path=customXml/itemProps2.xml><?xml version="1.0" encoding="utf-8"?>
<ds:datastoreItem xmlns:ds="http://schemas.openxmlformats.org/officeDocument/2006/customXml" ds:itemID="{A30AEDCF-A812-4495-A176-469F84BF2BAE}"/>
</file>

<file path=customXml/itemProps3.xml><?xml version="1.0" encoding="utf-8"?>
<ds:datastoreItem xmlns:ds="http://schemas.openxmlformats.org/officeDocument/2006/customXml" ds:itemID="{11E1C49C-B943-4250-BB39-87973E798E95}">
  <ds:schemaRefs>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purl.org/dc/terms/"/>
    <ds:schemaRef ds:uri="http://purl.org/dc/elements/1.1/"/>
    <ds:schemaRef ds:uri="8682f7ec-9bef-4d6d-8d5c-0ec39e002ff3"/>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30773</TotalTime>
  <Words>255</Words>
  <Application>Microsoft Office PowerPoint</Application>
  <PresentationFormat>Affichage à l'écran (4:3)</PresentationFormat>
  <Paragraphs>20</Paragraphs>
  <Slides>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vt:i4>
      </vt:variant>
    </vt:vector>
  </HeadingPairs>
  <TitlesOfParts>
    <vt:vector size="7" baseType="lpstr">
      <vt:lpstr>Arial</vt:lpstr>
      <vt:lpstr>Arial Black</vt:lpstr>
      <vt:lpstr>Calibri</vt:lpstr>
      <vt:lpstr>Wingdings</vt:lpstr>
      <vt:lpstr>Thème Office</vt:lpstr>
      <vt:lpstr>Présentation PowerPoint</vt:lpstr>
      <vt:lpstr>WEEKEND EN FOLIE  Édition BBQ 1-2 juin 2024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1002</cp:revision>
  <cp:lastPrinted>2022-04-27T14:46:34Z</cp:lastPrinted>
  <dcterms:created xsi:type="dcterms:W3CDTF">2017-05-24T18:44:46Z</dcterms:created>
  <dcterms:modified xsi:type="dcterms:W3CDTF">2024-05-24T13:47:25Z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