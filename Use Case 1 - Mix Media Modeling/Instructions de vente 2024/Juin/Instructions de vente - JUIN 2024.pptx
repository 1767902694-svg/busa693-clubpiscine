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65" r:id="rId5"/>
    <p:sldId id="281" r:id="rId6"/>
    <p:sldId id="276" r:id="rId7"/>
    <p:sldId id="285" r:id="rId8"/>
    <p:sldId id="266" r:id="rId9"/>
    <p:sldId id="280" r:id="rId10"/>
    <p:sldId id="273" r:id="rId11"/>
    <p:sldId id="267" r:id="rId12"/>
    <p:sldId id="268" r:id="rId13"/>
    <p:sldId id="275" r:id="rId14"/>
    <p:sldId id="270" r:id="rId15"/>
    <p:sldId id="284" r:id="rId16"/>
    <p:sldId id="264" r:id="rId17"/>
    <p:sldId id="272" r:id="rId18"/>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8BCB"/>
    <a:srgbClr val="229FCC"/>
    <a:srgbClr val="7FCDE9"/>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94"/>
  </p:normalViewPr>
  <p:slideViewPr>
    <p:cSldViewPr>
      <p:cViewPr varScale="1">
        <p:scale>
          <a:sx n="59" d="100"/>
          <a:sy n="59" d="100"/>
        </p:scale>
        <p:origin x="2525" y="5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27/05/2024</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2024-05-27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2024-05-27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2024-05-27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2024-05-27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2024-05-27</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2024-05-27</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2024-05-27</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2024-05-27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2024-05-27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2024-05-27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2024-05-27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2024-05-27</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1.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slideLayout" Target="../slideLayouts/slideLayout2.xml"/><Relationship Id="rId5" Type="http://schemas.openxmlformats.org/officeDocument/2006/relationships/tags" Target="../tags/tag9.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png"/><Relationship Id="rId5" Type="http://schemas.openxmlformats.org/officeDocument/2006/relationships/slideLayout" Target="../slideLayouts/slideLayout2.xml"/><Relationship Id="rId4" Type="http://schemas.openxmlformats.org/officeDocument/2006/relationships/tags" Target="../tags/tag13.xml"/></Relationships>
</file>

<file path=ppt/slides/_rels/slide4.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2.xml"/><Relationship Id="rId5" Type="http://schemas.openxmlformats.org/officeDocument/2006/relationships/tags" Target="../tags/tag18.xml"/><Relationship Id="rId4"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tags" Target="../tags/tag21.xml"/><Relationship Id="rId7" Type="http://schemas.openxmlformats.org/officeDocument/2006/relationships/image" Target="../media/image1.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2.xml"/><Relationship Id="rId5" Type="http://schemas.openxmlformats.org/officeDocument/2006/relationships/tags" Target="../tags/tag23.xml"/><Relationship Id="rId4" Type="http://schemas.openxmlformats.org/officeDocument/2006/relationships/tags" Target="../tags/tag22.xml"/></Relationships>
</file>

<file path=ppt/slides/_rels/slide6.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1.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2.xml"/><Relationship Id="rId5" Type="http://schemas.openxmlformats.org/officeDocument/2006/relationships/tags" Target="../tags/tag28.xml"/><Relationship Id="rId4" Type="http://schemas.openxmlformats.org/officeDocument/2006/relationships/tags" Target="../tags/tag27.xml"/></Relationships>
</file>

<file path=ppt/slides/_rels/slide7.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image" Target="../media/image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2.xml"/><Relationship Id="rId5" Type="http://schemas.openxmlformats.org/officeDocument/2006/relationships/tags" Target="../tags/tag33.xml"/><Relationship Id="rId4" Type="http://schemas.openxmlformats.org/officeDocument/2006/relationships/tags" Target="../tags/tag32.xml"/></Relationships>
</file>

<file path=ppt/slides/_rels/slide8.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1.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Layout" Target="../slideLayouts/slideLayout2.xml"/><Relationship Id="rId5" Type="http://schemas.openxmlformats.org/officeDocument/2006/relationships/tags" Target="../tags/tag38.xml"/><Relationship Id="rId4" Type="http://schemas.openxmlformats.org/officeDocument/2006/relationships/tags" Target="../tags/tag37.xml"/></Relationships>
</file>

<file path=ppt/slides/_rels/slide9.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2.xml"/><Relationship Id="rId5" Type="http://schemas.openxmlformats.org/officeDocument/2006/relationships/tags" Target="../tags/tag43.xml"/><Relationship Id="rId4" Type="http://schemas.openxmlformats.org/officeDocument/2006/relationships/tags" Target="../tags/tag42.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9"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1.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2.xml"/><Relationship Id="rId5" Type="http://schemas.openxmlformats.org/officeDocument/2006/relationships/tags" Target="../tags/tag62.xml"/><Relationship Id="rId4" Type="http://schemas.openxmlformats.org/officeDocument/2006/relationships/tags" Target="../tags/tag61.xml"/></Relationships>
</file>

<file path=ppt/slides/_rels/slide13.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Layout" Target="../slideLayouts/slideLayout2.xml"/><Relationship Id="rId5" Type="http://schemas.openxmlformats.org/officeDocument/2006/relationships/tags" Target="../tags/tag67.xml"/><Relationship Id="rId4" Type="http://schemas.openxmlformats.org/officeDocument/2006/relationships/tags" Target="../tags/tag66.xml"/></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0.xml"/><Relationship Id="rId7"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Layout" Target="../slideLayouts/slideLayout2.xml"/><Relationship Id="rId5" Type="http://schemas.openxmlformats.org/officeDocument/2006/relationships/tags" Target="../tags/tag72.xml"/><Relationship Id="rId4"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571706"/>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RÉSUMÉ DES PROMOS</a:t>
            </a:r>
          </a:p>
        </p:txBody>
      </p:sp>
      <p:sp>
        <p:nvSpPr>
          <p:cNvPr id="8" name="Rectangle 7"/>
          <p:cNvSpPr/>
          <p:nvPr>
            <p:custDataLst>
              <p:tags r:id="rId2"/>
            </p:custDataLst>
          </p:nvPr>
        </p:nvSpPr>
        <p:spPr>
          <a:xfrm>
            <a:off x="260646" y="2334374"/>
            <a:ext cx="6408713" cy="5324535"/>
          </a:xfrm>
          <a:prstGeom prst="rect">
            <a:avLst/>
          </a:prstGeom>
          <a:noFill/>
          <a:ln>
            <a:solidFill>
              <a:schemeClr val="tx1"/>
            </a:solidFill>
          </a:ln>
        </p:spPr>
        <p:txBody>
          <a:bodyPr wrap="square">
            <a:spAutoFit/>
          </a:bodyPr>
          <a:lstStyle/>
          <a:p>
            <a:pPr>
              <a:lnSpc>
                <a:spcPct val="150000"/>
              </a:lnSpc>
            </a:pPr>
            <a:r>
              <a:rPr lang="fr-CA" sz="1200" dirty="0">
                <a:latin typeface="Calibri Light" panose="020F0302020204030204" pitchFamily="34" charset="0"/>
                <a:ea typeface="Calibri" panose="020F0502020204030204" pitchFamily="34" charset="0"/>
                <a:cs typeface="Times New Roman" panose="02020603050405020304" pitchFamily="18" charset="0"/>
              </a:rPr>
              <a:t>Voici les changements: </a:t>
            </a:r>
            <a:r>
              <a:rPr lang="fr-CA" sz="1200" dirty="0">
                <a:effectLst/>
                <a:latin typeface="Calibri Light" panose="020F0302020204030204" pitchFamily="34" charset="0"/>
                <a:ea typeface="Calibri" panose="020F0502020204030204" pitchFamily="34" charset="0"/>
                <a:cs typeface="Times New Roman" panose="02020603050405020304" pitchFamily="18" charset="0"/>
              </a:rPr>
              <a:t> </a:t>
            </a:r>
            <a:endParaRPr lang="fr-CA" sz="12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fr-CA" sz="1200" b="1" dirty="0">
                <a:latin typeface="Calibri Light" panose="020F0302020204030204" pitchFamily="34" charset="0"/>
                <a:ea typeface="Calibri" panose="020F0502020204030204" pitchFamily="34" charset="0"/>
                <a:cs typeface="Times New Roman" panose="02020603050405020304" pitchFamily="18" charset="0"/>
              </a:rPr>
              <a:t>SPA: </a:t>
            </a:r>
            <a:r>
              <a:rPr lang="fr-CA" sz="1200" dirty="0">
                <a:latin typeface="Calibri Light" panose="020F0302020204030204" pitchFamily="34" charset="0"/>
                <a:cs typeface="Times New Roman" panose="02020603050405020304" pitchFamily="18" charset="0"/>
              </a:rPr>
              <a:t>Aucun changement</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SPA DE NAGE</a:t>
            </a:r>
            <a:r>
              <a:rPr lang="fr-CA" sz="1200" dirty="0">
                <a:latin typeface="Calibri Light" panose="020F0302020204030204" pitchFamily="34" charset="0"/>
                <a:cs typeface="Times New Roman" panose="02020603050405020304" pitchFamily="18" charset="0"/>
              </a:rPr>
              <a:t>: Jusqu’à 2000$ de rabais.</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MEUBLES, PARASOLS et ACESSOIRES:</a:t>
            </a:r>
            <a:r>
              <a:rPr lang="fr-CA" sz="1200" dirty="0">
                <a:latin typeface="Calibri Light" panose="020F0302020204030204" pitchFamily="34" charset="0"/>
                <a:cs typeface="Times New Roman" panose="02020603050405020304" pitchFamily="18" charset="0"/>
              </a:rPr>
              <a:t> Jusqu’à 25% de rabais + 12 mois sans paiement ni intérêt (non publicisé)</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GAZEBOS</a:t>
            </a:r>
            <a:r>
              <a:rPr lang="fr-CA" sz="1200" dirty="0">
                <a:latin typeface="Calibri Light" panose="020F0302020204030204" pitchFamily="34" charset="0"/>
                <a:cs typeface="Times New Roman" panose="02020603050405020304" pitchFamily="18" charset="0"/>
              </a:rPr>
              <a:t>:  Même rabais en cours sauf ajout d’un rabais pour le LOBOS, voir Annexes. Fin de la promo des rideaux et de la carte promo </a:t>
            </a:r>
            <a:r>
              <a:rPr lang="fr-CA" sz="1200" dirty="0" err="1">
                <a:latin typeface="Calibri Light" panose="020F0302020204030204" pitchFamily="34" charset="0"/>
                <a:cs typeface="Times New Roman" panose="02020603050405020304" pitchFamily="18" charset="0"/>
              </a:rPr>
              <a:t>Visscher</a:t>
            </a:r>
            <a:r>
              <a:rPr lang="fr-CA" sz="1200" dirty="0">
                <a:latin typeface="Calibri Light" panose="020F0302020204030204" pitchFamily="34" charset="0"/>
                <a:cs typeface="Times New Roman" panose="02020603050405020304" pitchFamily="18" charset="0"/>
              </a:rPr>
              <a:t>. </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BBQ</a:t>
            </a:r>
            <a:r>
              <a:rPr lang="fr-CA" sz="1200" dirty="0">
                <a:latin typeface="Calibri Light" panose="020F0302020204030204" pitchFamily="34" charset="0"/>
                <a:cs typeface="Times New Roman" panose="02020603050405020304" pitchFamily="18" charset="0"/>
              </a:rPr>
              <a:t>: Plusieurs rabais en cours. Voir annexes.</a:t>
            </a:r>
          </a:p>
          <a:p>
            <a:pPr marL="285750" indent="-285750">
              <a:lnSpc>
                <a:spcPct val="150000"/>
              </a:lnSpc>
              <a:buFont typeface="Arial" panose="020B0604020202020204" pitchFamily="34" charset="0"/>
              <a:buChar char="•"/>
            </a:pPr>
            <a:r>
              <a:rPr lang="fr-CA" sz="1200" b="1" dirty="0">
                <a:latin typeface="Calibri Light" panose="020F0302020204030204" pitchFamily="34" charset="0"/>
                <a:ea typeface="Calibri" panose="020F0502020204030204" pitchFamily="34" charset="0"/>
                <a:cs typeface="Times New Roman" panose="02020603050405020304" pitchFamily="18" charset="0"/>
              </a:rPr>
              <a:t>PISCINES HT :   </a:t>
            </a:r>
            <a:r>
              <a:rPr lang="fr-CA" sz="1200" dirty="0">
                <a:latin typeface="Calibri Light" panose="020F0302020204030204" pitchFamily="34" charset="0"/>
                <a:cs typeface="Times New Roman" panose="02020603050405020304" pitchFamily="18" charset="0"/>
              </a:rPr>
              <a:t>Aucun changement.</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CREUSÉE: </a:t>
            </a:r>
            <a:r>
              <a:rPr lang="fr-CA" sz="1200" dirty="0">
                <a:latin typeface="Calibri Light" panose="020F0302020204030204" pitchFamily="34" charset="0"/>
                <a:cs typeface="Times New Roman" panose="02020603050405020304" pitchFamily="18" charset="0"/>
              </a:rPr>
              <a:t>Jusqu’à 5000$ de rabais.</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FIBRE:  </a:t>
            </a:r>
            <a:r>
              <a:rPr lang="fr-CA" sz="1200" dirty="0">
                <a:latin typeface="Calibri Light" panose="020F0302020204030204" pitchFamily="34" charset="0"/>
                <a:cs typeface="Times New Roman" panose="02020603050405020304" pitchFamily="18" charset="0"/>
              </a:rPr>
              <a:t>Aucun changement sauf ajout d’un rabais du manufacturier sur la TOPAZ 12x24 seulement.</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THERMOPOMPES</a:t>
            </a:r>
            <a:r>
              <a:rPr lang="fr-CA" sz="1200" dirty="0">
                <a:latin typeface="Calibri Light" panose="020F0302020204030204" pitchFamily="34" charset="0"/>
                <a:cs typeface="Times New Roman" panose="02020603050405020304" pitchFamily="18" charset="0"/>
              </a:rPr>
              <a:t>: Rabais de 300$ sur les Solstice et 150$ sur les TTI ECOLO du 1</a:t>
            </a:r>
            <a:r>
              <a:rPr lang="fr-CA" sz="1200" baseline="30000" dirty="0">
                <a:latin typeface="Calibri Light" panose="020F0302020204030204" pitchFamily="34" charset="0"/>
                <a:cs typeface="Times New Roman" panose="02020603050405020304" pitchFamily="18" charset="0"/>
              </a:rPr>
              <a:t>er</a:t>
            </a:r>
            <a:r>
              <a:rPr lang="fr-CA" sz="1200" dirty="0">
                <a:latin typeface="Calibri Light" panose="020F0302020204030204" pitchFamily="34" charset="0"/>
                <a:cs typeface="Times New Roman" panose="02020603050405020304" pitchFamily="18" charset="0"/>
              </a:rPr>
              <a:t> au 16 juin.</a:t>
            </a:r>
          </a:p>
          <a:p>
            <a:pPr marL="285750" indent="-285750">
              <a:lnSpc>
                <a:spcPct val="150000"/>
              </a:lnSpc>
              <a:buFont typeface="Arial" panose="020B0604020202020204" pitchFamily="34" charset="0"/>
              <a:buChar char="•"/>
            </a:pPr>
            <a:r>
              <a:rPr lang="fr-CA" sz="1200" b="1" dirty="0">
                <a:latin typeface="Calibri Light" panose="020F0302020204030204" pitchFamily="34" charset="0"/>
                <a:cs typeface="Times New Roman" panose="02020603050405020304" pitchFamily="18" charset="0"/>
              </a:rPr>
              <a:t>AUTRE</a:t>
            </a:r>
            <a:r>
              <a:rPr lang="fr-CA" sz="1200" dirty="0">
                <a:latin typeface="Calibri Light" panose="020F0302020204030204" pitchFamily="34" charset="0"/>
                <a:cs typeface="Times New Roman" panose="02020603050405020304" pitchFamily="18" charset="0"/>
              </a:rPr>
              <a:t>: 25% de rabais sur les jouets et gonflables du 29 mai au 16 juin.</a:t>
            </a:r>
          </a:p>
          <a:p>
            <a:pPr marL="285750" indent="-285750">
              <a:lnSpc>
                <a:spcPct val="150000"/>
              </a:lnSpc>
              <a:buFont typeface="Arial" panose="020B0604020202020204" pitchFamily="34" charset="0"/>
              <a:buChar char="•"/>
            </a:pPr>
            <a:endParaRPr lang="fr-CA" sz="1200" dirty="0">
              <a:effectLst/>
              <a:latin typeface="Calibri Light" panose="020F0302020204030204" pitchFamily="34" charset="0"/>
              <a:ea typeface="Calibri" panose="020F0502020204030204" pitchFamily="34" charset="0"/>
              <a:cs typeface="Times New Roman" panose="02020603050405020304" pitchFamily="18" charset="0"/>
            </a:endParaRPr>
          </a:p>
          <a:p>
            <a:pPr lvl="0"/>
            <a:r>
              <a:rPr lang="fr-CA" sz="1200" b="1" dirty="0">
                <a:latin typeface="Calibri Light" panose="020F0302020204030204" pitchFamily="34" charset="0"/>
                <a:ea typeface="Calibri" panose="020F0502020204030204" pitchFamily="34" charset="0"/>
                <a:cs typeface="Times New Roman" panose="02020603050405020304" pitchFamily="18" charset="0"/>
              </a:rPr>
              <a:t>WEEKEND EN FOLIE – ÉDITION  BBQ</a:t>
            </a:r>
          </a:p>
          <a:p>
            <a:pPr lvl="0"/>
            <a:r>
              <a:rPr lang="fr-CA" sz="1200" dirty="0">
                <a:effectLst/>
                <a:latin typeface="Calibri Light" panose="020F0302020204030204" pitchFamily="34" charset="0"/>
                <a:ea typeface="Calibri" panose="020F0502020204030204" pitchFamily="34" charset="0"/>
                <a:cs typeface="Times New Roman" panose="02020603050405020304" pitchFamily="18" charset="0"/>
              </a:rPr>
              <a:t>Nous aurons un évènement  les 1-2 juin avec campagne radio et </a:t>
            </a:r>
            <a:r>
              <a:rPr lang="fr-CA" sz="1200" dirty="0">
                <a:latin typeface="Calibri Light" panose="020F0302020204030204" pitchFamily="34" charset="0"/>
                <a:ea typeface="Calibri" panose="020F0502020204030204" pitchFamily="34" charset="0"/>
                <a:cs typeface="Times New Roman" panose="02020603050405020304" pitchFamily="18" charset="0"/>
              </a:rPr>
              <a:t>« </a:t>
            </a:r>
            <a:r>
              <a:rPr lang="fr-CA" sz="1200" i="1" dirty="0" err="1">
                <a:effectLst/>
                <a:latin typeface="Calibri Light" panose="020F0302020204030204" pitchFamily="34" charset="0"/>
                <a:ea typeface="Calibri" panose="020F0502020204030204" pitchFamily="34" charset="0"/>
                <a:cs typeface="Times New Roman" panose="02020603050405020304" pitchFamily="18" charset="0"/>
              </a:rPr>
              <a:t>remote</a:t>
            </a:r>
            <a:r>
              <a:rPr lang="fr-CA" sz="1200" dirty="0">
                <a:effectLst/>
                <a:latin typeface="Calibri Light" panose="020F0302020204030204" pitchFamily="34" charset="0"/>
                <a:ea typeface="Calibri" panose="020F0502020204030204" pitchFamily="34" charset="0"/>
                <a:cs typeface="Times New Roman" panose="02020603050405020304" pitchFamily="18" charset="0"/>
              </a:rPr>
              <a:t> </a:t>
            </a:r>
            <a:r>
              <a:rPr lang="fr-CA" sz="1200" i="1" dirty="0">
                <a:effectLst/>
                <a:latin typeface="Calibri Light" panose="020F0302020204030204" pitchFamily="34" charset="0"/>
                <a:ea typeface="Calibri" panose="020F0502020204030204" pitchFamily="34" charset="0"/>
                <a:cs typeface="Times New Roman" panose="02020603050405020304" pitchFamily="18" charset="0"/>
              </a:rPr>
              <a:t>live »</a:t>
            </a:r>
            <a:r>
              <a:rPr lang="fr-CA" sz="1200" dirty="0">
                <a:effectLst/>
                <a:latin typeface="Calibri Light" panose="020F0302020204030204" pitchFamily="34" charset="0"/>
                <a:ea typeface="Calibri" panose="020F0502020204030204" pitchFamily="34" charset="0"/>
                <a:cs typeface="Times New Roman" panose="02020603050405020304" pitchFamily="18" charset="0"/>
              </a:rPr>
              <a:t> dans certains magasins. Voir Instructions de vente WEEKNED EN FOLIE pour tous les détails.</a:t>
            </a:r>
          </a:p>
          <a:p>
            <a:pPr lvl="0"/>
            <a:endParaRPr lang="fr-CA" sz="1200" dirty="0">
              <a:effectLst/>
              <a:latin typeface="Calibri Light" panose="020F0302020204030204" pitchFamily="34" charset="0"/>
              <a:ea typeface="Calibri" panose="020F0502020204030204" pitchFamily="34" charset="0"/>
              <a:cs typeface="Times New Roman" panose="02020603050405020304" pitchFamily="18" charset="0"/>
            </a:endParaRPr>
          </a:p>
          <a:p>
            <a:r>
              <a:rPr lang="fr-CA" sz="1100" i="1" dirty="0">
                <a:latin typeface="Calibri Light" panose="020F0302020204030204" pitchFamily="34" charset="0"/>
                <a:ea typeface="Calibri" panose="020F0502020204030204" pitchFamily="34" charset="0"/>
                <a:cs typeface="Times New Roman" panose="02020603050405020304" pitchFamily="18" charset="0"/>
              </a:rPr>
              <a:t>Tous les détails des promotions aux pages suivantes. Les codes des plans de financement se trouvent à la dernière page.</a:t>
            </a: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1</a:t>
            </a:fld>
            <a:endParaRPr lang="fr-CA" dirty="0"/>
          </a:p>
        </p:txBody>
      </p:sp>
      <p:sp>
        <p:nvSpPr>
          <p:cNvPr id="7" name="Zone de texte 28">
            <a:extLst>
              <a:ext uri="{FF2B5EF4-FFF2-40B4-BE49-F238E27FC236}">
                <a16:creationId xmlns:a16="http://schemas.microsoft.com/office/drawing/2014/main" id="{9954BF8A-DD31-9DF8-A9CE-38C033095C3B}"/>
              </a:ext>
            </a:extLst>
          </p:cNvPr>
          <p:cNvSpPr txBox="1">
            <a:spLocks/>
          </p:cNvSpPr>
          <p:nvPr>
            <p:custDataLst>
              <p:tags r:id="rId4"/>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SPAS 2024</a:t>
            </a:r>
          </a:p>
        </p:txBody>
      </p:sp>
      <p:sp>
        <p:nvSpPr>
          <p:cNvPr id="8" name="Rectangle 7"/>
          <p:cNvSpPr/>
          <p:nvPr>
            <p:custDataLst>
              <p:tags r:id="rId2"/>
            </p:custDataLst>
          </p:nvPr>
        </p:nvSpPr>
        <p:spPr>
          <a:xfrm>
            <a:off x="260646" y="2128086"/>
            <a:ext cx="6408713" cy="5632311"/>
          </a:xfrm>
          <a:prstGeom prst="rect">
            <a:avLst/>
          </a:prstGeom>
          <a:noFill/>
          <a:ln>
            <a:solidFill>
              <a:schemeClr val="tx1"/>
            </a:solidFill>
          </a:ln>
        </p:spPr>
        <p:txBody>
          <a:bodyPr wrap="square">
            <a:spAutoFit/>
          </a:bodyPr>
          <a:lstStyle/>
          <a:p>
            <a:r>
              <a:rPr lang="fr-CA" sz="1600" b="1" dirty="0"/>
              <a:t>JACUZZI </a:t>
            </a:r>
            <a:endParaRPr lang="fr-CA" sz="1600" dirty="0"/>
          </a:p>
          <a:p>
            <a:pPr marL="342900" indent="-342900">
              <a:buFont typeface="Symbol" panose="05050102010706020507" pitchFamily="18" charset="2"/>
              <a:buChar char=""/>
            </a:pPr>
            <a:r>
              <a:rPr lang="fr-CA" sz="1600" b="1" dirty="0"/>
              <a:t>500$ de rabais </a:t>
            </a:r>
            <a:r>
              <a:rPr lang="fr-CA" sz="1600" dirty="0"/>
              <a:t>sur les modèles</a:t>
            </a:r>
            <a:r>
              <a:rPr lang="fr-CA" sz="1600" b="1" dirty="0"/>
              <a:t> 2024 </a:t>
            </a:r>
            <a:r>
              <a:rPr lang="fr-CA" sz="1600" dirty="0"/>
              <a:t>(Smart tub non inclus sur les modèles J200 2024)</a:t>
            </a:r>
          </a:p>
          <a:p>
            <a:pPr marL="342900" indent="-342900">
              <a:buFont typeface="Symbol" panose="05050102010706020507" pitchFamily="18" charset="2"/>
              <a:buChar char=""/>
            </a:pPr>
            <a:r>
              <a:rPr lang="fr-CA" sz="1600" dirty="0"/>
              <a:t>Le levier, la marche, le GFCI sont </a:t>
            </a:r>
            <a:r>
              <a:rPr lang="fr-CA" sz="1600" b="1" dirty="0"/>
              <a:t>INCLUS</a:t>
            </a:r>
            <a:r>
              <a:rPr lang="fr-CA" sz="1600" dirty="0"/>
              <a:t>.</a:t>
            </a:r>
          </a:p>
          <a:p>
            <a:pPr marL="342900" indent="-342900">
              <a:buFont typeface="Symbol" panose="05050102010706020507" pitchFamily="18" charset="2"/>
              <a:buChar char=""/>
            </a:pPr>
            <a:r>
              <a:rPr lang="fr-FR" sz="1600" dirty="0"/>
              <a:t>La livraison </a:t>
            </a:r>
            <a:r>
              <a:rPr lang="fr-FR" sz="1600" b="1" dirty="0"/>
              <a:t>N’EST PAS INCLUSE</a:t>
            </a:r>
          </a:p>
          <a:p>
            <a:pPr marL="342900" indent="-342900">
              <a:buFont typeface="Symbol" panose="05050102010706020507" pitchFamily="18" charset="2"/>
              <a:buChar char=""/>
            </a:pPr>
            <a:r>
              <a:rPr lang="fr-FR" sz="1600" b="1" dirty="0"/>
              <a:t>FINANCEMENT </a:t>
            </a:r>
            <a:r>
              <a:rPr lang="fr-FR" sz="1600" dirty="0"/>
              <a:t>(non publicisé)</a:t>
            </a:r>
            <a:r>
              <a:rPr lang="fr-FR" sz="1600" b="1" dirty="0"/>
              <a:t>:  5,99% sur 60 mois avec FAIRSTONE (code </a:t>
            </a:r>
            <a:r>
              <a:rPr lang="en-US" sz="1800" b="1" dirty="0">
                <a:effectLst/>
                <a:latin typeface="Calibri" panose="020F0502020204030204" pitchFamily="34" charset="0"/>
                <a:ea typeface="Calibri" panose="020F0502020204030204" pitchFamily="34" charset="0"/>
              </a:rPr>
              <a:t>36604</a:t>
            </a:r>
            <a:r>
              <a:rPr lang="en-US" sz="1800" dirty="0">
                <a:effectLst/>
                <a:latin typeface="Calibri" panose="020F0502020204030204" pitchFamily="34" charset="0"/>
                <a:ea typeface="Calibri" panose="020F0502020204030204" pitchFamily="34" charset="0"/>
              </a:rPr>
              <a:t>)</a:t>
            </a:r>
            <a:r>
              <a:rPr lang="fr-CA" sz="1600" dirty="0">
                <a:latin typeface="Calibri Light" panose="020F0302020204030204" pitchFamily="34" charset="0"/>
                <a:cs typeface="Times New Roman" panose="02020603050405020304" pitchFamily="18" charset="0"/>
              </a:rPr>
              <a:t>.</a:t>
            </a:r>
            <a:r>
              <a:rPr lang="fr-CA" sz="1600" b="1" dirty="0">
                <a:highlight>
                  <a:srgbClr val="FFFF00"/>
                </a:highlight>
                <a:latin typeface="Calibri Light" panose="020F0302020204030204" pitchFamily="34" charset="0"/>
                <a:cs typeface="Times New Roman" panose="02020603050405020304" pitchFamily="18" charset="0"/>
              </a:rPr>
              <a:t> </a:t>
            </a:r>
          </a:p>
          <a:p>
            <a:pPr marL="800100" lvl="1" indent="-342900">
              <a:buFont typeface="Wingdings" panose="05000000000000000000" pitchFamily="2" charset="2"/>
              <a:buChar char="Ø"/>
            </a:pPr>
            <a:r>
              <a:rPr lang="fr-FR" sz="1600" dirty="0">
                <a:latin typeface="Calibri Light" panose="020F0302020204030204" pitchFamily="34" charset="0"/>
                <a:cs typeface="Times New Roman" panose="02020603050405020304" pitchFamily="18" charset="0"/>
              </a:rPr>
              <a:t>On donne 5% de rabais supplémentaire si le client ne prend pas le financement.</a:t>
            </a:r>
          </a:p>
          <a:p>
            <a:pPr lvl="0"/>
            <a:endParaRPr lang="fr-CA" sz="1600" b="1" dirty="0"/>
          </a:p>
          <a:p>
            <a:pPr lvl="0"/>
            <a:r>
              <a:rPr lang="fr-CA" sz="1600" b="1" dirty="0"/>
              <a:t>Publicité: </a:t>
            </a:r>
            <a:r>
              <a:rPr lang="fr-CA" sz="1600" dirty="0"/>
              <a:t>Nous allons mentionner ‘’jusqu’à 2399$ en rabais et avantages totaux’’. Ceci inclus: le rabais de 500$ + la trousse d’économie d’énergie selon les séries.</a:t>
            </a:r>
          </a:p>
          <a:p>
            <a:pPr lvl="0"/>
            <a:endParaRPr lang="fr-CA" sz="1600" b="1" dirty="0"/>
          </a:p>
          <a:p>
            <a:pPr lvl="0"/>
            <a:endParaRPr lang="fr-CA" sz="1600" b="1" dirty="0"/>
          </a:p>
          <a:p>
            <a:pPr lvl="0"/>
            <a:r>
              <a:rPr lang="fr-CA" sz="1600" b="1" dirty="0"/>
              <a:t>Tous les modèles 2024 viennent avec la promotion ‘’Trousse énergétique </a:t>
            </a:r>
            <a:r>
              <a:rPr lang="fr-CA" sz="1600" b="1" dirty="0" err="1"/>
              <a:t>SmartTub</a:t>
            </a:r>
            <a:r>
              <a:rPr lang="fr-CA" sz="1600" b="1" dirty="0"/>
              <a:t> </a:t>
            </a:r>
            <a:r>
              <a:rPr lang="fr-CA" sz="1600" b="1" dirty="0" err="1"/>
              <a:t>play</a:t>
            </a:r>
            <a:r>
              <a:rPr lang="fr-CA" sz="1600" b="1" dirty="0"/>
              <a:t>’’ d’une valeur ajoutée de </a:t>
            </a:r>
            <a:r>
              <a:rPr lang="fr-CA" sz="1600" dirty="0"/>
              <a:t>: </a:t>
            </a:r>
            <a:endParaRPr lang="fr-CA" dirty="0">
              <a:effectLst/>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1899$ </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sur la série J-300 incluant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SmartTub</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Prolast</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extrême + Smart Seal + lumière extérieure</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1599$ </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sur la série J-400 incluant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SmartTub</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Prolast</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extrême + Smart Seal</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1199$ </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sur la série J-LX incluant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SmartTub</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 </a:t>
            </a:r>
            <a:r>
              <a:rPr lang="fr-CA" sz="1400" dirty="0" err="1">
                <a:effectLst/>
                <a:latin typeface="Calibri Light" panose="020F0302020204030204" pitchFamily="34" charset="0"/>
                <a:ea typeface="Times New Roman" panose="02020603050405020304" pitchFamily="18" charset="0"/>
                <a:cs typeface="Times New Roman" panose="02020603050405020304" pitchFamily="18" charset="0"/>
              </a:rPr>
              <a:t>Prolast</a:t>
            </a:r>
            <a:r>
              <a:rPr lang="fr-CA" sz="1400" dirty="0">
                <a:effectLst/>
                <a:latin typeface="Calibri Light" panose="020F0302020204030204" pitchFamily="34" charset="0"/>
                <a:ea typeface="Times New Roman" panose="02020603050405020304" pitchFamily="18" charset="0"/>
                <a:cs typeface="Times New Roman" panose="02020603050405020304" pitchFamily="18" charset="0"/>
              </a:rPr>
              <a:t> extrême</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pPr marL="742950" lvl="1" indent="-285750">
              <a:buFont typeface="Courier New" panose="02070309020205020404" pitchFamily="49" charset="0"/>
              <a:buChar char="o"/>
              <a:tabLst>
                <a:tab pos="914400" algn="l"/>
              </a:tabLst>
            </a:pPr>
            <a:r>
              <a:rPr lang="fr-CA" sz="1400" b="1" dirty="0">
                <a:effectLst/>
                <a:latin typeface="Calibri Light" panose="020F0302020204030204" pitchFamily="34" charset="0"/>
                <a:ea typeface="Times New Roman" panose="02020603050405020304" pitchFamily="18" charset="0"/>
                <a:cs typeface="Times New Roman" panose="02020603050405020304" pitchFamily="18" charset="0"/>
              </a:rPr>
              <a:t>Il n’y a plus de trousse incluse avec la série J-200, en option seulement.</a:t>
            </a:r>
            <a:endParaRPr lang="fr-CA" sz="1200" dirty="0">
              <a:effectLst/>
              <a:latin typeface="Calibri" panose="020F0502020204030204" pitchFamily="34" charset="0"/>
              <a:ea typeface="Aptos" panose="020B0004020202020204" pitchFamily="34" charset="0"/>
              <a:cs typeface="Times New Roman" panose="02020603050405020304" pitchFamily="18" charset="0"/>
            </a:endParaRPr>
          </a:p>
          <a:p>
            <a:endParaRPr lang="fr-CA" sz="1600"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2</a:t>
            </a:fld>
            <a:endParaRPr lang="fr-CA"/>
          </a:p>
        </p:txBody>
      </p:sp>
      <p:pic>
        <p:nvPicPr>
          <p:cNvPr id="7" name="Image 6">
            <a:extLst>
              <a:ext uri="{FF2B5EF4-FFF2-40B4-BE49-F238E27FC236}">
                <a16:creationId xmlns:a16="http://schemas.microsoft.com/office/drawing/2014/main" id="{28C7895C-4014-4298-99F6-5FEF6B831223}"/>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5" name="Zone de texte 28">
            <a:extLst>
              <a:ext uri="{FF2B5EF4-FFF2-40B4-BE49-F238E27FC236}">
                <a16:creationId xmlns:a16="http://schemas.microsoft.com/office/drawing/2014/main" id="{D8509D8C-343F-06AD-5CD6-AAFAF86F10B0}"/>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1324597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SPAS 2024</a:t>
            </a:r>
          </a:p>
        </p:txBody>
      </p:sp>
      <p:sp>
        <p:nvSpPr>
          <p:cNvPr id="8" name="Rectangle 7"/>
          <p:cNvSpPr/>
          <p:nvPr>
            <p:custDataLst>
              <p:tags r:id="rId2"/>
            </p:custDataLst>
          </p:nvPr>
        </p:nvSpPr>
        <p:spPr>
          <a:xfrm>
            <a:off x="260646" y="2128086"/>
            <a:ext cx="6408713" cy="6771084"/>
          </a:xfrm>
          <a:prstGeom prst="rect">
            <a:avLst/>
          </a:prstGeom>
          <a:noFill/>
          <a:ln>
            <a:solidFill>
              <a:schemeClr val="tx1"/>
            </a:solidFill>
          </a:ln>
        </p:spPr>
        <p:txBody>
          <a:bodyPr wrap="square">
            <a:spAutoFit/>
          </a:bodyPr>
          <a:lstStyle/>
          <a:p>
            <a:pPr lvl="1"/>
            <a:endParaRPr lang="fr-CA" sz="1600" dirty="0"/>
          </a:p>
          <a:p>
            <a:r>
              <a:rPr lang="fr-CA" sz="1600" b="1" dirty="0"/>
              <a:t>SOLSTICE SPAS </a:t>
            </a:r>
          </a:p>
          <a:p>
            <a:pPr marL="342900" lvl="0" indent="-342900">
              <a:buFont typeface="Symbol" panose="05050102010706020507" pitchFamily="18" charset="2"/>
              <a:buChar char=""/>
            </a:pPr>
            <a:r>
              <a:rPr lang="fr-CA" sz="1600" b="1" dirty="0"/>
              <a:t>500$ de rabais </a:t>
            </a:r>
            <a:r>
              <a:rPr lang="fr-CA" sz="1600" dirty="0"/>
              <a:t>sur les modèles 2024  applicable sur le prix régulier</a:t>
            </a:r>
          </a:p>
          <a:p>
            <a:pPr marL="342900" indent="-342900">
              <a:buFont typeface="Symbol" panose="05050102010706020507" pitchFamily="18" charset="2"/>
              <a:buChar char=""/>
            </a:pPr>
            <a:r>
              <a:rPr lang="fr-FR" sz="1600" b="1" dirty="0"/>
              <a:t>FINANCEMENT </a:t>
            </a:r>
            <a:r>
              <a:rPr lang="fr-FR" sz="1600" dirty="0"/>
              <a:t>(non publicisé) </a:t>
            </a:r>
            <a:r>
              <a:rPr lang="fr-FR" sz="1600" b="1" dirty="0"/>
              <a:t>:  5,99% sur 60 mois avec FAIRSTONE (code 36604</a:t>
            </a:r>
            <a:r>
              <a:rPr lang="en-US" sz="1800" dirty="0">
                <a:effectLst/>
                <a:latin typeface="Calibri" panose="020F0502020204030204" pitchFamily="34" charset="0"/>
                <a:ea typeface="Calibri" panose="020F0502020204030204" pitchFamily="34" charset="0"/>
              </a:rPr>
              <a:t>)</a:t>
            </a:r>
            <a:r>
              <a:rPr lang="fr-CA" sz="1600" dirty="0">
                <a:latin typeface="Calibri Light" panose="020F0302020204030204" pitchFamily="34" charset="0"/>
                <a:cs typeface="Times New Roman" panose="02020603050405020304" pitchFamily="18" charset="0"/>
              </a:rPr>
              <a:t>.</a:t>
            </a:r>
            <a:endParaRPr lang="fr-CA" sz="1600" b="1" dirty="0">
              <a:highlight>
                <a:srgbClr val="FFFF00"/>
              </a:highlight>
              <a:latin typeface="Calibri Light" panose="020F0302020204030204" pitchFamily="34" charset="0"/>
              <a:cs typeface="Times New Roman" panose="02020603050405020304" pitchFamily="18" charset="0"/>
            </a:endParaRPr>
          </a:p>
          <a:p>
            <a:pPr marL="800100" lvl="1" indent="-342900">
              <a:buFont typeface="Wingdings" panose="05000000000000000000" pitchFamily="2" charset="2"/>
              <a:buChar char="ü"/>
            </a:pPr>
            <a:r>
              <a:rPr lang="fr-FR" sz="1600" dirty="0">
                <a:latin typeface="Calibri Light" panose="020F0302020204030204" pitchFamily="34" charset="0"/>
                <a:cs typeface="Times New Roman" panose="02020603050405020304" pitchFamily="18" charset="0"/>
              </a:rPr>
              <a:t>On donne 5% de rabais supplémentaire si le client ne prend pas le financement.</a:t>
            </a:r>
          </a:p>
          <a:p>
            <a:pPr marL="342900" lvl="0" indent="-342900">
              <a:buFont typeface="Symbol" panose="05050102010706020507" pitchFamily="18" charset="2"/>
              <a:buChar char=""/>
            </a:pPr>
            <a:r>
              <a:rPr lang="fr-CA" sz="1600" b="1" dirty="0"/>
              <a:t>PROMO: OBTENEZ 2 SERVIETTES SOLSTICE À L’ACHAT D’UN SPA </a:t>
            </a:r>
            <a:r>
              <a:rPr lang="fr-CA" sz="1600" dirty="0"/>
              <a:t>(</a:t>
            </a:r>
            <a:r>
              <a:rPr lang="fr-CA" sz="1600" i="1" dirty="0"/>
              <a:t>PTR 173988)</a:t>
            </a:r>
            <a:r>
              <a:rPr lang="fr-CA" sz="1600" dirty="0"/>
              <a:t>. </a:t>
            </a:r>
          </a:p>
          <a:p>
            <a:pPr marL="342900" lvl="0" indent="-342900">
              <a:buFont typeface="Symbol" panose="05050102010706020507" pitchFamily="18" charset="2"/>
              <a:buChar char=""/>
            </a:pPr>
            <a:r>
              <a:rPr lang="fr-CA" sz="1600" dirty="0"/>
              <a:t>Le levier, la marche, le GFCI sont </a:t>
            </a:r>
            <a:r>
              <a:rPr lang="fr-CA" sz="1600" b="1" dirty="0"/>
              <a:t>INCLUS</a:t>
            </a:r>
            <a:r>
              <a:rPr lang="fr-CA" sz="1600" dirty="0"/>
              <a:t>.</a:t>
            </a:r>
          </a:p>
          <a:p>
            <a:pPr marL="342900" lvl="0" indent="-342900">
              <a:buFont typeface="Symbol" panose="05050102010706020507" pitchFamily="18" charset="2"/>
              <a:buChar char=""/>
            </a:pPr>
            <a:r>
              <a:rPr lang="fr-CA" sz="1600" dirty="0"/>
              <a:t>La livraison </a:t>
            </a:r>
            <a:r>
              <a:rPr lang="fr-CA" sz="1600" b="1" dirty="0"/>
              <a:t>N’EST PAS INCLUSE</a:t>
            </a:r>
          </a:p>
          <a:p>
            <a:pPr lvl="0"/>
            <a:endParaRPr lang="fr-CA" sz="1600" b="1" dirty="0"/>
          </a:p>
          <a:p>
            <a:pPr marL="285750" indent="-285750">
              <a:buFont typeface="Arial" panose="020B0604020202020204" pitchFamily="34" charset="0"/>
              <a:buChar char="•"/>
            </a:pPr>
            <a:endParaRPr lang="fr-CA" sz="1600" dirty="0"/>
          </a:p>
          <a:p>
            <a:r>
              <a:rPr lang="fr-CA" sz="1600" b="1" dirty="0"/>
              <a:t>INNOVAPSA </a:t>
            </a:r>
          </a:p>
          <a:p>
            <a:pPr marL="285750" indent="-285750">
              <a:buFont typeface="Arial" panose="020B0604020202020204" pitchFamily="34" charset="0"/>
              <a:buChar char="•"/>
            </a:pPr>
            <a:r>
              <a:rPr lang="fr-CA" sz="1600" b="1" dirty="0"/>
              <a:t>NOUVEAUTÉ! Spa Blizzard édition limitée . </a:t>
            </a:r>
            <a:r>
              <a:rPr lang="fr-CA" sz="1600" dirty="0"/>
              <a:t>Fin du rabais.</a:t>
            </a:r>
          </a:p>
          <a:p>
            <a:pPr marL="285750" indent="-285750">
              <a:buFont typeface="Arial" panose="020B0604020202020204" pitchFamily="34" charset="0"/>
              <a:buChar char="•"/>
            </a:pPr>
            <a:r>
              <a:rPr lang="fr-CA" sz="1600" dirty="0"/>
              <a:t>Aucun rabais sur les autres modèles</a:t>
            </a:r>
          </a:p>
          <a:p>
            <a:pPr marL="285750" indent="-285750">
              <a:buFont typeface="Arial" panose="020B0604020202020204" pitchFamily="34" charset="0"/>
              <a:buChar char="•"/>
            </a:pPr>
            <a:r>
              <a:rPr lang="fr-CA" sz="1600" dirty="0"/>
              <a:t>Aucune promotion de financement</a:t>
            </a:r>
          </a:p>
          <a:p>
            <a:pPr marL="285750" indent="-285750">
              <a:buFont typeface="Arial" panose="020B0604020202020204" pitchFamily="34" charset="0"/>
              <a:buChar char="•"/>
            </a:pPr>
            <a:r>
              <a:rPr lang="fr-CA" sz="1600" dirty="0"/>
              <a:t>Le levier, la marche et le chimique sont vendus séparément. </a:t>
            </a:r>
          </a:p>
          <a:p>
            <a:pPr marL="285750" indent="-285750">
              <a:buFont typeface="Arial" panose="020B0604020202020204" pitchFamily="34" charset="0"/>
              <a:buChar char="•"/>
            </a:pPr>
            <a:r>
              <a:rPr lang="fr-CA" sz="1600" dirty="0"/>
              <a:t>La livraison n’est pas incluse.</a:t>
            </a:r>
            <a:r>
              <a:rPr lang="fr-CA" dirty="0"/>
              <a:t> </a:t>
            </a:r>
          </a:p>
          <a:p>
            <a:pPr marL="285750" indent="-285750">
              <a:buFont typeface="Arial" panose="020B0604020202020204" pitchFamily="34" charset="0"/>
              <a:buChar char="•"/>
            </a:pPr>
            <a:r>
              <a:rPr lang="fr-CA" sz="1600" b="1" dirty="0"/>
              <a:t>N’oubliez pas de parler du concours ‘’Gagnez votre spa’’:</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endParaRPr lang="fr-CA" dirty="0"/>
          </a:p>
          <a:p>
            <a:pPr marL="285750" indent="-285750">
              <a:buFont typeface="Arial" panose="020B0604020202020204" pitchFamily="34" charset="0"/>
              <a:buChar char="•"/>
            </a:pPr>
            <a:endParaRPr lang="fr-CA"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3</a:t>
            </a:fld>
            <a:endParaRPr lang="fr-CA"/>
          </a:p>
        </p:txBody>
      </p:sp>
      <p:sp>
        <p:nvSpPr>
          <p:cNvPr id="5" name="Zone de texte 28">
            <a:extLst>
              <a:ext uri="{FF2B5EF4-FFF2-40B4-BE49-F238E27FC236}">
                <a16:creationId xmlns:a16="http://schemas.microsoft.com/office/drawing/2014/main" id="{9FEAEB21-924D-0BB3-2089-762DCFE95A2A}"/>
              </a:ext>
            </a:extLst>
          </p:cNvPr>
          <p:cNvSpPr txBox="1">
            <a:spLocks noGrp="1"/>
          </p:cNvSpPr>
          <p:nvPr>
            <p:ph type="title"/>
            <p:custDataLst>
              <p:tags r:id="rId4"/>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pic>
        <p:nvPicPr>
          <p:cNvPr id="4" name="Image 3">
            <a:extLst>
              <a:ext uri="{FF2B5EF4-FFF2-40B4-BE49-F238E27FC236}">
                <a16:creationId xmlns:a16="http://schemas.microsoft.com/office/drawing/2014/main" id="{EC116134-8E04-D98B-C391-F18A5FE49931}"/>
              </a:ext>
            </a:extLst>
          </p:cNvPr>
          <p:cNvPicPr>
            <a:picLocks noChangeAspect="1"/>
          </p:cNvPicPr>
          <p:nvPr/>
        </p:nvPicPr>
        <p:blipFill>
          <a:blip r:embed="rId6"/>
          <a:stretch>
            <a:fillRect/>
          </a:stretch>
        </p:blipFill>
        <p:spPr>
          <a:xfrm>
            <a:off x="1052736" y="7192504"/>
            <a:ext cx="2241983" cy="1639717"/>
          </a:xfrm>
          <a:prstGeom prst="rect">
            <a:avLst/>
          </a:prstGeom>
        </p:spPr>
      </p:pic>
    </p:spTree>
    <p:extLst>
      <p:ext uri="{BB962C8B-B14F-4D97-AF65-F5344CB8AC3E}">
        <p14:creationId xmlns:p14="http://schemas.microsoft.com/office/powerpoint/2010/main" val="3180937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SPAS DE NAGE 2024</a:t>
            </a:r>
          </a:p>
        </p:txBody>
      </p:sp>
      <p:sp>
        <p:nvSpPr>
          <p:cNvPr id="8" name="Rectangle 7"/>
          <p:cNvSpPr/>
          <p:nvPr>
            <p:custDataLst>
              <p:tags r:id="rId2"/>
            </p:custDataLst>
          </p:nvPr>
        </p:nvSpPr>
        <p:spPr>
          <a:xfrm>
            <a:off x="260646" y="2128086"/>
            <a:ext cx="6408713" cy="2431435"/>
          </a:xfrm>
          <a:prstGeom prst="rect">
            <a:avLst/>
          </a:prstGeom>
          <a:noFill/>
          <a:ln>
            <a:solidFill>
              <a:schemeClr val="tx1"/>
            </a:solidFill>
          </a:ln>
        </p:spPr>
        <p:txBody>
          <a:bodyPr wrap="square">
            <a:spAutoFit/>
          </a:bodyPr>
          <a:lstStyle/>
          <a:p>
            <a:pPr lvl="1"/>
            <a:endParaRPr lang="fr-CA" sz="2000" dirty="0"/>
          </a:p>
          <a:p>
            <a:r>
              <a:rPr lang="fr-CA" sz="1600" b="1" dirty="0"/>
              <a:t>SPA DE NAGE JACUZZI  </a:t>
            </a:r>
          </a:p>
          <a:p>
            <a:pPr marL="285750" indent="-285750">
              <a:buFont typeface="Arial" panose="020B0604020202020204" pitchFamily="34" charset="0"/>
              <a:buChar char="•"/>
            </a:pPr>
            <a:r>
              <a:rPr lang="fr-CA" sz="1600" b="1" dirty="0"/>
              <a:t>Rabais de 2000$ sur les spas de nage </a:t>
            </a:r>
            <a:r>
              <a:rPr lang="fr-CA" sz="1600" b="1" dirty="0" err="1"/>
              <a:t>Poweractive</a:t>
            </a:r>
            <a:r>
              <a:rPr lang="fr-CA" sz="1600" b="1" dirty="0"/>
              <a:t> et </a:t>
            </a:r>
            <a:r>
              <a:rPr lang="fr-CA" sz="1600" b="1" dirty="0" err="1"/>
              <a:t>Powerpro</a:t>
            </a:r>
            <a:r>
              <a:rPr lang="fr-CA" sz="1600" b="1" dirty="0"/>
              <a:t> J-16 J-19</a:t>
            </a:r>
          </a:p>
          <a:p>
            <a:pPr marL="285750" indent="-285750">
              <a:buFont typeface="Arial" panose="020B0604020202020204" pitchFamily="34" charset="0"/>
              <a:buChar char="•"/>
            </a:pPr>
            <a:r>
              <a:rPr lang="fr-CA" sz="1600" b="1" dirty="0"/>
              <a:t>Rabais de 1000$ sur le J-13.</a:t>
            </a:r>
          </a:p>
          <a:p>
            <a:pPr marL="285750" indent="-285750">
              <a:buFont typeface="Arial" panose="020B0604020202020204" pitchFamily="34" charset="0"/>
              <a:buChar char="•"/>
            </a:pPr>
            <a:r>
              <a:rPr lang="fr-CA" sz="1600" dirty="0"/>
              <a:t>Les frais de de livraison de base sont inclus dans le prix. Les frais de grue sont en sus. Le spa doit être commander avant le 16 mai auprès de Jacuzzi.</a:t>
            </a:r>
          </a:p>
          <a:p>
            <a:endParaRPr lang="fr-CA" sz="2000"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4</a:t>
            </a:fld>
            <a:endParaRPr lang="fr-CA"/>
          </a:p>
        </p:txBody>
      </p:sp>
      <p:pic>
        <p:nvPicPr>
          <p:cNvPr id="10" name="Image 9">
            <a:extLst>
              <a:ext uri="{FF2B5EF4-FFF2-40B4-BE49-F238E27FC236}">
                <a16:creationId xmlns:a16="http://schemas.microsoft.com/office/drawing/2014/main" id="{71EECA49-570A-45D0-B3D2-36F8939D94C5}"/>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327575" y="8604448"/>
            <a:ext cx="2492896" cy="402434"/>
          </a:xfrm>
          <a:prstGeom prst="rect">
            <a:avLst/>
          </a:prstGeom>
        </p:spPr>
      </p:pic>
      <p:sp>
        <p:nvSpPr>
          <p:cNvPr id="5" name="Zone de texte 28">
            <a:extLst>
              <a:ext uri="{FF2B5EF4-FFF2-40B4-BE49-F238E27FC236}">
                <a16:creationId xmlns:a16="http://schemas.microsoft.com/office/drawing/2014/main" id="{A7F81D3D-448A-5C14-F6F4-BD6CB39D6DE0}"/>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2478665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MEUBLES ET PARASOLS 2024</a:t>
            </a:r>
          </a:p>
        </p:txBody>
      </p:sp>
      <p:sp>
        <p:nvSpPr>
          <p:cNvPr id="8" name="Rectangle 7"/>
          <p:cNvSpPr/>
          <p:nvPr>
            <p:custDataLst>
              <p:tags r:id="rId2"/>
            </p:custDataLst>
          </p:nvPr>
        </p:nvSpPr>
        <p:spPr>
          <a:xfrm>
            <a:off x="260647" y="2128086"/>
            <a:ext cx="6408713" cy="2062103"/>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600" b="1" dirty="0"/>
              <a:t>Jusqu’à 25% de rabais. Voir annexes de vente (rabais reste les mêmes).</a:t>
            </a:r>
          </a:p>
          <a:p>
            <a:pPr marL="285750" indent="-285750">
              <a:buFont typeface="Arial" panose="020B0604020202020204" pitchFamily="34" charset="0"/>
              <a:buChar char="•"/>
            </a:pPr>
            <a:r>
              <a:rPr lang="fr-CA" sz="1600" b="1" dirty="0"/>
              <a:t>FINANCEMENT </a:t>
            </a:r>
            <a:r>
              <a:rPr lang="fr-CA" sz="1600" dirty="0"/>
              <a:t>(non publicisé) </a:t>
            </a:r>
          </a:p>
          <a:p>
            <a:pPr marL="742950" lvl="1" indent="-285750">
              <a:buFont typeface="Wingdings" panose="05000000000000000000" pitchFamily="2" charset="2"/>
              <a:buChar char="ü"/>
            </a:pPr>
            <a:r>
              <a:rPr lang="fr-CA" sz="1600" dirty="0"/>
              <a:t> 12 mois sans paiement Fairstone </a:t>
            </a:r>
            <a:r>
              <a:rPr lang="fr-CA" sz="1600" b="1" dirty="0"/>
              <a:t>(code 12120)</a:t>
            </a:r>
          </a:p>
          <a:p>
            <a:pPr marL="742950" lvl="1" indent="-285750">
              <a:buFont typeface="Wingdings" panose="05000000000000000000" pitchFamily="2" charset="2"/>
              <a:buChar char="ü"/>
            </a:pPr>
            <a:r>
              <a:rPr lang="fr-CA" sz="1600" dirty="0"/>
              <a:t>Applicable sur tous les meubles. Achat minimum de 500$</a:t>
            </a:r>
          </a:p>
          <a:p>
            <a:endParaRPr lang="fr-CA" sz="1600" b="1" dirty="0"/>
          </a:p>
          <a:p>
            <a:pPr marL="285750" indent="-285750">
              <a:buFont typeface="Arial" panose="020B0604020202020204" pitchFamily="34" charset="0"/>
              <a:buChar char="•"/>
            </a:pPr>
            <a:endParaRPr lang="fr-FR" sz="1600" b="1" dirty="0">
              <a:highlight>
                <a:srgbClr val="FFFF00"/>
              </a:highlight>
            </a:endParaRPr>
          </a:p>
          <a:p>
            <a:endParaRPr lang="fr-CA" sz="1600" b="1" dirty="0"/>
          </a:p>
          <a:p>
            <a:endParaRPr lang="fr-CA" sz="1600" dirty="0"/>
          </a:p>
        </p:txBody>
      </p:sp>
      <p:sp>
        <p:nvSpPr>
          <p:cNvPr id="2" name="Espace réservé du numéro de diapositive 1">
            <a:extLst>
              <a:ext uri="{FF2B5EF4-FFF2-40B4-BE49-F238E27FC236}">
                <a16:creationId xmlns:a16="http://schemas.microsoft.com/office/drawing/2014/main" id="{34C2A165-92F7-43C0-889A-0CB1C2D0B657}"/>
              </a:ext>
            </a:extLst>
          </p:cNvPr>
          <p:cNvSpPr>
            <a:spLocks noGrp="1"/>
          </p:cNvSpPr>
          <p:nvPr>
            <p:ph type="sldNum" sz="quarter" idx="12"/>
            <p:custDataLst>
              <p:tags r:id="rId3"/>
            </p:custDataLst>
          </p:nvPr>
        </p:nvSpPr>
        <p:spPr/>
        <p:txBody>
          <a:bodyPr/>
          <a:lstStyle/>
          <a:p>
            <a:fld id="{31F4C03E-007A-4FDF-9746-0F09F296E587}" type="slidenum">
              <a:rPr lang="fr-CA" smtClean="0"/>
              <a:t>5</a:t>
            </a:fld>
            <a:endParaRPr lang="fr-CA"/>
          </a:p>
        </p:txBody>
      </p:sp>
      <p:pic>
        <p:nvPicPr>
          <p:cNvPr id="9" name="Image 8">
            <a:extLst>
              <a:ext uri="{FF2B5EF4-FFF2-40B4-BE49-F238E27FC236}">
                <a16:creationId xmlns:a16="http://schemas.microsoft.com/office/drawing/2014/main" id="{39BFA519-2732-4282-AF65-99019E82AB99}"/>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5" name="Zone de texte 28">
            <a:extLst>
              <a:ext uri="{FF2B5EF4-FFF2-40B4-BE49-F238E27FC236}">
                <a16:creationId xmlns:a16="http://schemas.microsoft.com/office/drawing/2014/main" id="{03D57059-6F6C-1C0B-C433-B6111C468573}"/>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2125114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D76D5B-B0B5-42AC-B72B-0EBE42B8EC38}"/>
              </a:ext>
            </a:extLst>
          </p:cNvPr>
          <p:cNvSpPr/>
          <p:nvPr>
            <p:custDataLst>
              <p:tags r:id="rId1"/>
            </p:custDataLst>
          </p:nvPr>
        </p:nvSpPr>
        <p:spPr>
          <a:xfrm>
            <a:off x="260647" y="183569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GAZEBOS 2024</a:t>
            </a:r>
          </a:p>
        </p:txBody>
      </p:sp>
      <p:sp>
        <p:nvSpPr>
          <p:cNvPr id="10" name="Rectangle 9">
            <a:extLst>
              <a:ext uri="{FF2B5EF4-FFF2-40B4-BE49-F238E27FC236}">
                <a16:creationId xmlns:a16="http://schemas.microsoft.com/office/drawing/2014/main" id="{3A710E5B-75AB-401F-9969-A6297E0521B3}"/>
              </a:ext>
            </a:extLst>
          </p:cNvPr>
          <p:cNvSpPr/>
          <p:nvPr>
            <p:custDataLst>
              <p:tags r:id="rId2"/>
            </p:custDataLst>
          </p:nvPr>
        </p:nvSpPr>
        <p:spPr>
          <a:xfrm>
            <a:off x="260647" y="2195736"/>
            <a:ext cx="6408713" cy="2523768"/>
          </a:xfrm>
          <a:prstGeom prst="rect">
            <a:avLst/>
          </a:prstGeom>
          <a:noFill/>
          <a:ln>
            <a:solidFill>
              <a:schemeClr val="tx1"/>
            </a:solidFill>
          </a:ln>
        </p:spPr>
        <p:txBody>
          <a:bodyPr wrap="square">
            <a:spAutoFit/>
          </a:bodyPr>
          <a:lstStyle/>
          <a:p>
            <a:pPr marL="342900" lvl="0" indent="-342900">
              <a:buFont typeface="Arial" panose="020B0604020202020204" pitchFamily="34" charset="0"/>
              <a:buChar char="•"/>
            </a:pPr>
            <a:r>
              <a:rPr lang="fr-CA" dirty="0"/>
              <a:t>Même rabais que mai mais </a:t>
            </a:r>
            <a:r>
              <a:rPr lang="fr-CA" b="1" dirty="0"/>
              <a:t>ajout d’un rabais additionnel sur le LOBOS.</a:t>
            </a:r>
          </a:p>
          <a:p>
            <a:pPr marL="342900" lvl="0" indent="-342900">
              <a:buFont typeface="Arial" panose="020B0604020202020204" pitchFamily="34" charset="0"/>
              <a:buChar char="•"/>
            </a:pPr>
            <a:r>
              <a:rPr lang="fr-CA" dirty="0"/>
              <a:t>Fin de la promo de la carte promo sur le Villa </a:t>
            </a:r>
            <a:r>
              <a:rPr lang="fr-CA" dirty="0" err="1"/>
              <a:t>Nueva</a:t>
            </a:r>
            <a:r>
              <a:rPr lang="fr-CA" dirty="0"/>
              <a:t> et fin du rabais sur les rideaux.</a:t>
            </a:r>
          </a:p>
          <a:p>
            <a:pPr marL="342900" lvl="0" indent="-342900">
              <a:buFont typeface="Arial" panose="020B0604020202020204" pitchFamily="34" charset="0"/>
              <a:buChar char="•"/>
            </a:pPr>
            <a:r>
              <a:rPr lang="fr-CA" dirty="0"/>
              <a:t>Aucune promotion de financement.</a:t>
            </a:r>
          </a:p>
          <a:p>
            <a:pPr marL="342900" lvl="0" indent="-342900">
              <a:buFont typeface="Arial" panose="020B0604020202020204" pitchFamily="34" charset="0"/>
              <a:buChar char="•"/>
            </a:pPr>
            <a:endParaRPr lang="fr-CA" dirty="0"/>
          </a:p>
          <a:p>
            <a:pPr marL="342900" lvl="0" indent="-342900">
              <a:buFont typeface="Arial" panose="020B0604020202020204" pitchFamily="34" charset="0"/>
              <a:buChar char="•"/>
            </a:pPr>
            <a:endParaRPr lang="fr-CA" dirty="0"/>
          </a:p>
          <a:p>
            <a:endParaRPr lang="fr-CA" sz="1600" b="1" dirty="0"/>
          </a:p>
          <a:p>
            <a:pPr marL="342900" lvl="0" indent="-342900">
              <a:buFont typeface="Calibri Light" panose="020F0302020204030204" pitchFamily="34" charset="0"/>
              <a:buChar char="-"/>
            </a:pPr>
            <a:endParaRPr lang="fr-CA"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34C2A165-92F7-43C0-889A-0CB1C2D0B657}"/>
              </a:ext>
            </a:extLst>
          </p:cNvPr>
          <p:cNvSpPr>
            <a:spLocks noGrp="1"/>
          </p:cNvSpPr>
          <p:nvPr>
            <p:ph type="sldNum" sz="quarter" idx="12"/>
            <p:custDataLst>
              <p:tags r:id="rId3"/>
            </p:custDataLst>
          </p:nvPr>
        </p:nvSpPr>
        <p:spPr/>
        <p:txBody>
          <a:bodyPr/>
          <a:lstStyle/>
          <a:p>
            <a:fld id="{31F4C03E-007A-4FDF-9746-0F09F296E587}" type="slidenum">
              <a:rPr lang="fr-CA" smtClean="0"/>
              <a:t>6</a:t>
            </a:fld>
            <a:endParaRPr lang="fr-CA"/>
          </a:p>
        </p:txBody>
      </p:sp>
      <p:pic>
        <p:nvPicPr>
          <p:cNvPr id="9" name="Image 8">
            <a:extLst>
              <a:ext uri="{FF2B5EF4-FFF2-40B4-BE49-F238E27FC236}">
                <a16:creationId xmlns:a16="http://schemas.microsoft.com/office/drawing/2014/main" id="{39BFA519-2732-4282-AF65-99019E82AB99}"/>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5" name="Zone de texte 28">
            <a:extLst>
              <a:ext uri="{FF2B5EF4-FFF2-40B4-BE49-F238E27FC236}">
                <a16:creationId xmlns:a16="http://schemas.microsoft.com/office/drawing/2014/main" id="{0A162E0D-C84B-5103-A90E-753D24EAE91A}"/>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185529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BBQ 2024</a:t>
            </a:r>
          </a:p>
        </p:txBody>
      </p:sp>
      <p:sp>
        <p:nvSpPr>
          <p:cNvPr id="8" name="Rectangle 7"/>
          <p:cNvSpPr/>
          <p:nvPr>
            <p:custDataLst>
              <p:tags r:id="rId2"/>
            </p:custDataLst>
          </p:nvPr>
        </p:nvSpPr>
        <p:spPr>
          <a:xfrm>
            <a:off x="260647" y="2128086"/>
            <a:ext cx="6408713" cy="4616648"/>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b="1" dirty="0">
                <a:latin typeface="Calibri" panose="020F0502020204030204" pitchFamily="34" charset="0"/>
              </a:rPr>
              <a:t>Plusieurs promotions en cours avec des dates de validation différentes. Vous référer à l’annexe BBQ pour tous les détails </a:t>
            </a:r>
            <a:r>
              <a:rPr lang="fr-CA" dirty="0">
                <a:latin typeface="Calibri" panose="020F0502020204030204" pitchFamily="34" charset="0"/>
              </a:rPr>
              <a:t>(bien lire la colonne ‘’Note’’).</a:t>
            </a:r>
          </a:p>
          <a:p>
            <a:pPr marL="285750" indent="-285750">
              <a:buFont typeface="Arial" panose="020B0604020202020204" pitchFamily="34" charset="0"/>
              <a:buChar char="•"/>
            </a:pPr>
            <a:r>
              <a:rPr lang="fr-CA" dirty="0">
                <a:latin typeface="Calibri" panose="020F0502020204030204" pitchFamily="34" charset="0"/>
              </a:rPr>
              <a:t>À L’achat d’un BBQ de plus de 1000$, </a:t>
            </a:r>
            <a:r>
              <a:rPr lang="fr-CA" b="1" dirty="0">
                <a:latin typeface="Calibri" panose="020F0502020204030204" pitchFamily="34" charset="0"/>
              </a:rPr>
              <a:t>obtenez gratuitement 100$ d’accessoires KA ou </a:t>
            </a:r>
            <a:r>
              <a:rPr lang="fr-CA" b="1" dirty="0" err="1">
                <a:latin typeface="Calibri" panose="020F0502020204030204" pitchFamily="34" charset="0"/>
              </a:rPr>
              <a:t>Megamaster</a:t>
            </a:r>
            <a:r>
              <a:rPr lang="fr-CA" dirty="0">
                <a:latin typeface="Calibri" panose="020F0502020204030204" pitchFamily="34" charset="0"/>
              </a:rPr>
              <a:t>. Au choix du magasin. Selon l’inventaire disponible (publicisé seulement pour le Weekend en folie).</a:t>
            </a:r>
          </a:p>
          <a:p>
            <a:pPr marL="285750" indent="-285750">
              <a:buFont typeface="Arial" panose="020B0604020202020204" pitchFamily="34" charset="0"/>
              <a:buChar char="•"/>
            </a:pPr>
            <a:r>
              <a:rPr lang="fr-CA" b="1" dirty="0">
                <a:latin typeface="Calibri" panose="020F0502020204030204" pitchFamily="34" charset="0"/>
              </a:rPr>
              <a:t>Rabais de 5$ </a:t>
            </a:r>
            <a:r>
              <a:rPr lang="fr-CA" dirty="0">
                <a:latin typeface="Calibri" panose="020F0502020204030204" pitchFamily="34" charset="0"/>
              </a:rPr>
              <a:t>sur le Charbon de Basque (154053)</a:t>
            </a:r>
          </a:p>
          <a:p>
            <a:pPr marL="285750" indent="-285750">
              <a:buFont typeface="Arial" panose="020B0604020202020204" pitchFamily="34" charset="0"/>
              <a:buChar char="•"/>
            </a:pPr>
            <a:r>
              <a:rPr lang="fr-CA" dirty="0">
                <a:latin typeface="Calibri" panose="020F0502020204030204" pitchFamily="34" charset="0"/>
              </a:rPr>
              <a:t>Tous les accessoires </a:t>
            </a:r>
            <a:r>
              <a:rPr lang="fr-CA" dirty="0" err="1">
                <a:latin typeface="Calibri" panose="020F0502020204030204" pitchFamily="34" charset="0"/>
              </a:rPr>
              <a:t>Kitchen</a:t>
            </a:r>
            <a:r>
              <a:rPr lang="fr-CA" dirty="0">
                <a:latin typeface="Calibri" panose="020F0502020204030204" pitchFamily="34" charset="0"/>
              </a:rPr>
              <a:t> </a:t>
            </a:r>
            <a:r>
              <a:rPr lang="fr-CA" dirty="0" err="1">
                <a:latin typeface="Calibri" panose="020F0502020204030204" pitchFamily="34" charset="0"/>
              </a:rPr>
              <a:t>Aid</a:t>
            </a:r>
            <a:r>
              <a:rPr lang="fr-CA" dirty="0">
                <a:latin typeface="Calibri" panose="020F0502020204030204" pitchFamily="34" charset="0"/>
              </a:rPr>
              <a:t> et </a:t>
            </a:r>
            <a:r>
              <a:rPr lang="fr-CA" dirty="0" err="1">
                <a:latin typeface="Calibri" panose="020F0502020204030204" pitchFamily="34" charset="0"/>
              </a:rPr>
              <a:t>Megamaster</a:t>
            </a:r>
            <a:r>
              <a:rPr lang="fr-CA" dirty="0">
                <a:latin typeface="Calibri" panose="020F0502020204030204" pitchFamily="34" charset="0"/>
              </a:rPr>
              <a:t> sont à 50% de rabais.</a:t>
            </a:r>
          </a:p>
          <a:p>
            <a:endParaRPr lang="fr-CA" b="1" dirty="0">
              <a:latin typeface="Calibri" panose="020F0502020204030204" pitchFamily="34" charset="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a:p>
            <a:endParaRPr lang="fr-CA" sz="1600" dirty="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BB2DBC70-3186-48CE-819F-361D4296B670}"/>
              </a:ext>
            </a:extLst>
          </p:cNvPr>
          <p:cNvSpPr>
            <a:spLocks noGrp="1"/>
          </p:cNvSpPr>
          <p:nvPr>
            <p:ph type="sldNum" sz="quarter" idx="12"/>
            <p:custDataLst>
              <p:tags r:id="rId3"/>
            </p:custDataLst>
          </p:nvPr>
        </p:nvSpPr>
        <p:spPr/>
        <p:txBody>
          <a:bodyPr/>
          <a:lstStyle/>
          <a:p>
            <a:fld id="{31F4C03E-007A-4FDF-9746-0F09F296E587}" type="slidenum">
              <a:rPr lang="fr-CA" smtClean="0"/>
              <a:t>7</a:t>
            </a:fld>
            <a:endParaRPr lang="fr-CA"/>
          </a:p>
        </p:txBody>
      </p:sp>
      <p:pic>
        <p:nvPicPr>
          <p:cNvPr id="7" name="Image 6">
            <a:extLst>
              <a:ext uri="{FF2B5EF4-FFF2-40B4-BE49-F238E27FC236}">
                <a16:creationId xmlns:a16="http://schemas.microsoft.com/office/drawing/2014/main" id="{0783D21B-B117-4026-9C7F-49C36B6A584B}"/>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330307" y="8411910"/>
            <a:ext cx="2492896" cy="402434"/>
          </a:xfrm>
          <a:prstGeom prst="rect">
            <a:avLst/>
          </a:prstGeom>
        </p:spPr>
      </p:pic>
      <p:sp>
        <p:nvSpPr>
          <p:cNvPr id="3" name="Zone de texte 28">
            <a:extLst>
              <a:ext uri="{FF2B5EF4-FFF2-40B4-BE49-F238E27FC236}">
                <a16:creationId xmlns:a16="http://schemas.microsoft.com/office/drawing/2014/main" id="{06DA51CB-48AE-022D-713C-4EFDF21B11C9}"/>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534054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HORS TERRE 2024</a:t>
            </a:r>
          </a:p>
        </p:txBody>
      </p:sp>
      <p:sp>
        <p:nvSpPr>
          <p:cNvPr id="2" name="Espace réservé du numéro de diapositive 1">
            <a:extLst>
              <a:ext uri="{FF2B5EF4-FFF2-40B4-BE49-F238E27FC236}">
                <a16:creationId xmlns:a16="http://schemas.microsoft.com/office/drawing/2014/main" id="{A433DA19-C6A4-4697-B85F-7F129DA9B7C0}"/>
              </a:ext>
            </a:extLst>
          </p:cNvPr>
          <p:cNvSpPr>
            <a:spLocks noGrp="1"/>
          </p:cNvSpPr>
          <p:nvPr>
            <p:ph type="sldNum" sz="quarter" idx="12"/>
            <p:custDataLst>
              <p:tags r:id="rId2"/>
            </p:custDataLst>
          </p:nvPr>
        </p:nvSpPr>
        <p:spPr/>
        <p:txBody>
          <a:bodyPr/>
          <a:lstStyle/>
          <a:p>
            <a:fld id="{31F4C03E-007A-4FDF-9746-0F09F296E587}" type="slidenum">
              <a:rPr lang="fr-CA" smtClean="0"/>
              <a:t>8</a:t>
            </a:fld>
            <a:endParaRPr lang="fr-CA"/>
          </a:p>
        </p:txBody>
      </p:sp>
      <p:pic>
        <p:nvPicPr>
          <p:cNvPr id="9" name="Image 8">
            <a:extLst>
              <a:ext uri="{FF2B5EF4-FFF2-40B4-BE49-F238E27FC236}">
                <a16:creationId xmlns:a16="http://schemas.microsoft.com/office/drawing/2014/main" id="{78BA23A4-D293-442A-8E64-DD7EEB3C81B2}"/>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11" name="Rectangle 10">
            <a:extLst>
              <a:ext uri="{FF2B5EF4-FFF2-40B4-BE49-F238E27FC236}">
                <a16:creationId xmlns:a16="http://schemas.microsoft.com/office/drawing/2014/main" id="{C878D544-23DE-4DBE-ABBE-33607EA8AFE5}"/>
              </a:ext>
            </a:extLst>
          </p:cNvPr>
          <p:cNvSpPr/>
          <p:nvPr>
            <p:custDataLst>
              <p:tags r:id="rId4"/>
            </p:custDataLst>
          </p:nvPr>
        </p:nvSpPr>
        <p:spPr>
          <a:xfrm>
            <a:off x="260646" y="2139809"/>
            <a:ext cx="6408713" cy="4124206"/>
          </a:xfrm>
          <a:prstGeom prst="rect">
            <a:avLst/>
          </a:prstGeom>
          <a:noFill/>
          <a:ln>
            <a:solidFill>
              <a:schemeClr val="tx1"/>
            </a:solidFill>
          </a:ln>
        </p:spPr>
        <p:txBody>
          <a:bodyPr wrap="square">
            <a:spAutoFit/>
          </a:bodyPr>
          <a:lstStyle/>
          <a:p>
            <a:r>
              <a:rPr lang="fr-CA" sz="2000" b="1" dirty="0">
                <a:sym typeface="Wingdings" panose="05000000000000000000" pitchFamily="2" charset="2"/>
              </a:rPr>
              <a:t>CARVIN  &amp; TRENDIUM (VOGUE) </a:t>
            </a:r>
            <a:endParaRPr lang="fr-CA" sz="2000" dirty="0">
              <a:sym typeface="Wingdings" panose="05000000000000000000" pitchFamily="2" charset="2"/>
            </a:endParaRPr>
          </a:p>
          <a:p>
            <a:pPr marL="285750" indent="-285750">
              <a:buFont typeface="Arial" panose="020B0604020202020204" pitchFamily="34" charset="0"/>
              <a:buChar char="•"/>
            </a:pPr>
            <a:r>
              <a:rPr lang="fr-CA" sz="1600" b="1" dirty="0"/>
              <a:t>RABAIS DE 1300$ </a:t>
            </a:r>
            <a:r>
              <a:rPr lang="fr-CA" sz="1600" dirty="0"/>
              <a:t>sur toutes les piscines hors terre Seules, Équipées et Équipées &amp; Installées. </a:t>
            </a:r>
            <a:r>
              <a:rPr lang="fr-CA" sz="1600" b="1" dirty="0"/>
              <a:t>Exception</a:t>
            </a:r>
            <a:r>
              <a:rPr lang="fr-CA" sz="1600" dirty="0"/>
              <a:t>: modèle SYDNEY avec un rabais de 1000$.</a:t>
            </a:r>
          </a:p>
          <a:p>
            <a:pPr marL="285750" indent="-285750">
              <a:buFont typeface="Arial" panose="020B0604020202020204" pitchFamily="34" charset="0"/>
              <a:buChar char="•"/>
            </a:pPr>
            <a:r>
              <a:rPr lang="fr-CA" sz="1600" b="1" dirty="0"/>
              <a:t>RABAIS de 400$</a:t>
            </a:r>
            <a:r>
              <a:rPr lang="fr-CA" sz="1600" dirty="0"/>
              <a:t> sur prix régulier d’une thermopompe à l’achat d’une piscine hors terre. Toutes thermopompes admissibles. L’installation de la Thermopompe et le By-pass ne </a:t>
            </a:r>
            <a:r>
              <a:rPr lang="fr-CA" sz="1600" b="1" dirty="0"/>
              <a:t>sont pas inclus.</a:t>
            </a:r>
          </a:p>
          <a:p>
            <a:pPr marL="285750" indent="-285750">
              <a:buFont typeface="Arial" panose="020B0604020202020204" pitchFamily="34" charset="0"/>
              <a:buChar char="•"/>
            </a:pPr>
            <a:r>
              <a:rPr lang="fr-CA" sz="1600" b="1" dirty="0"/>
              <a:t>RABAIS SILENCIEUX: </a:t>
            </a:r>
            <a:r>
              <a:rPr lang="fr-CA" sz="1600" dirty="0"/>
              <a:t>vous avez la possibilité d’ajouter un rabais de 300$ en plus du 1300$ déjà en cours selon votre marché et votre réalité locale.</a:t>
            </a:r>
          </a:p>
          <a:p>
            <a:pPr lvl="1"/>
            <a:endParaRPr lang="fr-CA" sz="1600" b="1" dirty="0"/>
          </a:p>
          <a:p>
            <a:r>
              <a:rPr lang="fr-CA" sz="1600" b="1" dirty="0"/>
              <a:t>PUBLICITÉ</a:t>
            </a:r>
            <a:r>
              <a:rPr lang="fr-CA" sz="1600" dirty="0"/>
              <a:t>: Nous allons publicisé la MAHO/SOHO 12pi équipée à 2999$.</a:t>
            </a:r>
          </a:p>
          <a:p>
            <a:endParaRPr lang="fr-CA" sz="1600" dirty="0"/>
          </a:p>
          <a:p>
            <a:r>
              <a:rPr lang="fr-CA" sz="1600" dirty="0"/>
              <a:t>Société de sauvetage: N’oubliez pas de donner le bracelet </a:t>
            </a:r>
            <a:r>
              <a:rPr lang="fr-CA" sz="1600" b="1" dirty="0"/>
              <a:t>SURVEILLANT DÉSIGNÉ</a:t>
            </a:r>
            <a:r>
              <a:rPr lang="fr-CA" sz="1600" dirty="0"/>
              <a:t> avec chaque achat de piscine!</a:t>
            </a:r>
          </a:p>
          <a:p>
            <a:endParaRPr lang="fr-CA" b="1" dirty="0"/>
          </a:p>
        </p:txBody>
      </p:sp>
      <p:sp>
        <p:nvSpPr>
          <p:cNvPr id="5" name="Zone de texte 28">
            <a:extLst>
              <a:ext uri="{FF2B5EF4-FFF2-40B4-BE49-F238E27FC236}">
                <a16:creationId xmlns:a16="http://schemas.microsoft.com/office/drawing/2014/main" id="{0515F779-2714-30D9-1318-0B70F5821AFE}"/>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419775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DE BOIS 2024</a:t>
            </a:r>
          </a:p>
        </p:txBody>
      </p:sp>
      <p:sp>
        <p:nvSpPr>
          <p:cNvPr id="2" name="Espace réservé du numéro de diapositive 1">
            <a:extLst>
              <a:ext uri="{FF2B5EF4-FFF2-40B4-BE49-F238E27FC236}">
                <a16:creationId xmlns:a16="http://schemas.microsoft.com/office/drawing/2014/main" id="{67774A3C-AC2A-4D50-94B2-BA30C81610A1}"/>
              </a:ext>
            </a:extLst>
          </p:cNvPr>
          <p:cNvSpPr>
            <a:spLocks noGrp="1"/>
          </p:cNvSpPr>
          <p:nvPr>
            <p:ph type="sldNum" sz="quarter" idx="12"/>
            <p:custDataLst>
              <p:tags r:id="rId2"/>
            </p:custDataLst>
          </p:nvPr>
        </p:nvSpPr>
        <p:spPr/>
        <p:txBody>
          <a:bodyPr/>
          <a:lstStyle/>
          <a:p>
            <a:fld id="{31F4C03E-007A-4FDF-9746-0F09F296E587}" type="slidenum">
              <a:rPr lang="fr-CA" smtClean="0"/>
              <a:t>9</a:t>
            </a:fld>
            <a:endParaRPr lang="fr-CA"/>
          </a:p>
        </p:txBody>
      </p:sp>
      <p:pic>
        <p:nvPicPr>
          <p:cNvPr id="9" name="Image 8">
            <a:extLst>
              <a:ext uri="{FF2B5EF4-FFF2-40B4-BE49-F238E27FC236}">
                <a16:creationId xmlns:a16="http://schemas.microsoft.com/office/drawing/2014/main" id="{0E9840D2-DA45-4D2A-A56F-841BEFE8A67A}"/>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10" name="Rectangle 9">
            <a:extLst>
              <a:ext uri="{FF2B5EF4-FFF2-40B4-BE49-F238E27FC236}">
                <a16:creationId xmlns:a16="http://schemas.microsoft.com/office/drawing/2014/main" id="{242F5A22-327C-4D75-9397-912D5DCB218A}"/>
              </a:ext>
            </a:extLst>
          </p:cNvPr>
          <p:cNvSpPr/>
          <p:nvPr>
            <p:custDataLst>
              <p:tags r:id="rId4"/>
            </p:custDataLst>
          </p:nvPr>
        </p:nvSpPr>
        <p:spPr>
          <a:xfrm>
            <a:off x="260647" y="2128086"/>
            <a:ext cx="6408713" cy="3539430"/>
          </a:xfrm>
          <a:prstGeom prst="rect">
            <a:avLst/>
          </a:prstGeom>
          <a:noFill/>
          <a:ln>
            <a:solidFill>
              <a:schemeClr val="tx1"/>
            </a:solidFill>
          </a:ln>
        </p:spPr>
        <p:txBody>
          <a:bodyPr wrap="square">
            <a:spAutoFit/>
          </a:bodyPr>
          <a:lstStyle/>
          <a:p>
            <a:r>
              <a:rPr lang="fr-CA" b="1" dirty="0">
                <a:sym typeface="Wingdings" panose="05000000000000000000" pitchFamily="2" charset="2"/>
              </a:rPr>
              <a:t>AQUABOIS 2024</a:t>
            </a:r>
            <a:endParaRPr lang="fr-CA" dirty="0">
              <a:sym typeface="Wingdings" panose="05000000000000000000" pitchFamily="2" charset="2"/>
            </a:endParaRPr>
          </a:p>
          <a:p>
            <a:pPr marL="285750" indent="-285750">
              <a:buFont typeface="Arial" panose="020B0604020202020204" pitchFamily="34" charset="0"/>
              <a:buChar char="•"/>
            </a:pPr>
            <a:r>
              <a:rPr lang="fr-CA" sz="1600" b="1" dirty="0"/>
              <a:t>RABAIS DE 750$ </a:t>
            </a:r>
            <a:r>
              <a:rPr lang="fr-CA" sz="1600" dirty="0"/>
              <a:t>sur le prix régulier de toutes les piscines de bois hors sol ou semi-creusées 2023 </a:t>
            </a:r>
          </a:p>
          <a:p>
            <a:pPr marL="742950" lvl="1" indent="-285750">
              <a:buFont typeface="Arial" panose="020B0604020202020204" pitchFamily="34" charset="0"/>
              <a:buChar char="•"/>
            </a:pPr>
            <a:r>
              <a:rPr lang="fr-CA" sz="1600" dirty="0"/>
              <a:t>Exception: La </a:t>
            </a:r>
            <a:r>
              <a:rPr lang="fr-CA" sz="1600" dirty="0" err="1"/>
              <a:t>Tundra</a:t>
            </a:r>
            <a:r>
              <a:rPr lang="fr-CA" sz="1600" dirty="0"/>
              <a:t> hors sol a 1250$ de rabais.</a:t>
            </a:r>
          </a:p>
          <a:p>
            <a:pPr marL="285750" indent="-285750">
              <a:buFont typeface="Arial" panose="020B0604020202020204" pitchFamily="34" charset="0"/>
              <a:buChar char="•"/>
            </a:pPr>
            <a:r>
              <a:rPr lang="fr-CA" sz="1600" b="1" dirty="0"/>
              <a:t>RABAIS DE 400$</a:t>
            </a:r>
            <a:r>
              <a:rPr lang="fr-CA" sz="1600" dirty="0"/>
              <a:t> sur le prix régulier d’une thermopompe (tous les modèles) à l’achat d’une piscine de bois chauffée. By-pass non inclus.</a:t>
            </a:r>
          </a:p>
          <a:p>
            <a:pPr marL="285750" indent="-285750">
              <a:buFont typeface="Arial" panose="020B0604020202020204" pitchFamily="34" charset="0"/>
              <a:buChar char="•"/>
            </a:pPr>
            <a:r>
              <a:rPr lang="fr-CA" sz="1600" dirty="0"/>
              <a:t>La teinture est incluse sur toutes les piscines</a:t>
            </a:r>
          </a:p>
          <a:p>
            <a:pPr marL="285750" indent="-285750">
              <a:buFont typeface="Arial" panose="020B0604020202020204" pitchFamily="34" charset="0"/>
              <a:buChar char="•"/>
            </a:pPr>
            <a:r>
              <a:rPr lang="fr-CA" sz="1600" dirty="0"/>
              <a:t>Aucune promotion de financement</a:t>
            </a:r>
          </a:p>
          <a:p>
            <a:endParaRPr lang="fr-CA" sz="1600" b="1" dirty="0"/>
          </a:p>
          <a:p>
            <a:endParaRPr lang="fr-CA" sz="1600" dirty="0"/>
          </a:p>
          <a:p>
            <a:r>
              <a:rPr lang="fr-CA" sz="1600" dirty="0"/>
              <a:t>Société de sauvetage: N’oubliez pas de donner le bracelet </a:t>
            </a:r>
            <a:r>
              <a:rPr lang="fr-CA" sz="1600" b="1" dirty="0"/>
              <a:t>SURVEILLANT DÉSIGNÉ</a:t>
            </a:r>
            <a:r>
              <a:rPr lang="fr-CA" sz="1600" dirty="0"/>
              <a:t> avec chaque achat de piscine!</a:t>
            </a:r>
          </a:p>
          <a:p>
            <a:endParaRPr lang="fr-CA" sz="1400" i="1" dirty="0"/>
          </a:p>
          <a:p>
            <a:endParaRPr lang="fr-CA" sz="1600" dirty="0"/>
          </a:p>
        </p:txBody>
      </p:sp>
      <p:sp>
        <p:nvSpPr>
          <p:cNvPr id="5" name="Zone de texte 28">
            <a:extLst>
              <a:ext uri="{FF2B5EF4-FFF2-40B4-BE49-F238E27FC236}">
                <a16:creationId xmlns:a16="http://schemas.microsoft.com/office/drawing/2014/main" id="{F94A0BDA-22DF-D760-024C-26F154DB504C}"/>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3528611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CREUSÉES 2024</a:t>
            </a:r>
          </a:p>
        </p:txBody>
      </p:sp>
      <p:sp>
        <p:nvSpPr>
          <p:cNvPr id="2" name="Espace réservé du numéro de diapositive 1">
            <a:extLst>
              <a:ext uri="{FF2B5EF4-FFF2-40B4-BE49-F238E27FC236}">
                <a16:creationId xmlns:a16="http://schemas.microsoft.com/office/drawing/2014/main" id="{67774A3C-AC2A-4D50-94B2-BA30C81610A1}"/>
              </a:ext>
            </a:extLst>
          </p:cNvPr>
          <p:cNvSpPr>
            <a:spLocks noGrp="1"/>
          </p:cNvSpPr>
          <p:nvPr>
            <p:ph type="sldNum" sz="quarter" idx="12"/>
            <p:custDataLst>
              <p:tags r:id="rId2"/>
            </p:custDataLst>
          </p:nvPr>
        </p:nvSpPr>
        <p:spPr/>
        <p:txBody>
          <a:bodyPr/>
          <a:lstStyle/>
          <a:p>
            <a:fld id="{31F4C03E-007A-4FDF-9746-0F09F296E587}" type="slidenum">
              <a:rPr lang="fr-CA" smtClean="0"/>
              <a:t>10</a:t>
            </a:fld>
            <a:endParaRPr lang="fr-CA"/>
          </a:p>
        </p:txBody>
      </p:sp>
      <p:pic>
        <p:nvPicPr>
          <p:cNvPr id="9" name="Image 8">
            <a:extLst>
              <a:ext uri="{FF2B5EF4-FFF2-40B4-BE49-F238E27FC236}">
                <a16:creationId xmlns:a16="http://schemas.microsoft.com/office/drawing/2014/main" id="{0E9840D2-DA45-4D2A-A56F-841BEFE8A67A}"/>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11" name="Zone de texte 28">
            <a:extLst>
              <a:ext uri="{FF2B5EF4-FFF2-40B4-BE49-F238E27FC236}">
                <a16:creationId xmlns:a16="http://schemas.microsoft.com/office/drawing/2014/main" id="{CB57BEBA-A86A-4781-AB89-09D90C196ACE}"/>
              </a:ext>
            </a:extLst>
          </p:cNvPr>
          <p:cNvSpPr txBox="1">
            <a:spLocks noGrp="1"/>
          </p:cNvSpPr>
          <p:nvPr>
            <p:ph type="title"/>
            <p:custDataLst>
              <p:tags r:id="rId4"/>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
        <p:nvSpPr>
          <p:cNvPr id="10" name="Rectangle 9">
            <a:extLst>
              <a:ext uri="{FF2B5EF4-FFF2-40B4-BE49-F238E27FC236}">
                <a16:creationId xmlns:a16="http://schemas.microsoft.com/office/drawing/2014/main" id="{43BD5E6B-810F-498E-B14D-305B2F9FD921}"/>
              </a:ext>
            </a:extLst>
          </p:cNvPr>
          <p:cNvSpPr/>
          <p:nvPr>
            <p:custDataLst>
              <p:tags r:id="rId5"/>
            </p:custDataLst>
          </p:nvPr>
        </p:nvSpPr>
        <p:spPr>
          <a:xfrm>
            <a:off x="260647" y="2135574"/>
            <a:ext cx="6408713" cy="1600438"/>
          </a:xfrm>
          <a:prstGeom prst="rect">
            <a:avLst/>
          </a:prstGeom>
          <a:noFill/>
          <a:ln>
            <a:solidFill>
              <a:schemeClr val="tx1"/>
            </a:solidFill>
          </a:ln>
        </p:spPr>
        <p:txBody>
          <a:bodyPr wrap="square">
            <a:spAutoFit/>
          </a:bodyPr>
          <a:lstStyle/>
          <a:p>
            <a:r>
              <a:rPr lang="fr-CA" b="1" dirty="0">
                <a:sym typeface="Wingdings" panose="05000000000000000000" pitchFamily="2" charset="2"/>
              </a:rPr>
              <a:t>LATHAM ACIER et IMPERIAL POOL</a:t>
            </a:r>
          </a:p>
          <a:p>
            <a:pPr marL="342900" lvl="0" indent="-342900">
              <a:buFont typeface="Symbol" panose="05050102010706020507" pitchFamily="18" charset="2"/>
              <a:buChar char=""/>
            </a:pPr>
            <a:r>
              <a:rPr lang="fr-FR" sz="1600" b="1" dirty="0">
                <a:ea typeface="Calibri" panose="020F0502020204030204" pitchFamily="34" charset="0"/>
                <a:cs typeface="Times New Roman" panose="02020603050405020304" pitchFamily="18" charset="0"/>
              </a:rPr>
              <a:t>RABAIS DE 5000$ SUR TOUTES LES PISCINES 12X24 ET PLUS. Sinon rabais de 4000$ sur les plus petits modèles.</a:t>
            </a:r>
            <a:endParaRPr lang="fr-CA" sz="1600" dirty="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fr-CA" sz="1600" dirty="0">
              <a:ea typeface="Calibri" panose="020F0502020204030204" pitchFamily="34" charset="0"/>
              <a:cs typeface="Times New Roman" panose="02020603050405020304" pitchFamily="18" charset="0"/>
            </a:endParaRPr>
          </a:p>
          <a:p>
            <a:r>
              <a:rPr lang="fr-CA" sz="1600" dirty="0"/>
              <a:t>Société de sauvetage: N’oubliez pas de donner le bracelet </a:t>
            </a:r>
            <a:r>
              <a:rPr lang="fr-CA" sz="1600" b="1" dirty="0"/>
              <a:t>SURVEILLANT DÉSIGNÉ</a:t>
            </a:r>
            <a:r>
              <a:rPr lang="fr-CA" sz="1600" dirty="0"/>
              <a:t> avec chaque achat de piscine!</a:t>
            </a:r>
            <a:endParaRPr lang="fr-CA" sz="2000" dirty="0"/>
          </a:p>
        </p:txBody>
      </p:sp>
      <p:sp>
        <p:nvSpPr>
          <p:cNvPr id="3" name="Rectangle 2">
            <a:extLst>
              <a:ext uri="{FF2B5EF4-FFF2-40B4-BE49-F238E27FC236}">
                <a16:creationId xmlns:a16="http://schemas.microsoft.com/office/drawing/2014/main" id="{56CE7EE2-A4B2-5123-50DA-E1A69941C17E}"/>
              </a:ext>
            </a:extLst>
          </p:cNvPr>
          <p:cNvSpPr/>
          <p:nvPr>
            <p:custDataLst>
              <p:tags r:id="rId6"/>
            </p:custDataLst>
          </p:nvPr>
        </p:nvSpPr>
        <p:spPr>
          <a:xfrm>
            <a:off x="260647" y="4283968"/>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PISCINES DE FIBRE 2024</a:t>
            </a:r>
          </a:p>
        </p:txBody>
      </p:sp>
      <p:sp>
        <p:nvSpPr>
          <p:cNvPr id="4" name="Rectangle 3">
            <a:extLst>
              <a:ext uri="{FF2B5EF4-FFF2-40B4-BE49-F238E27FC236}">
                <a16:creationId xmlns:a16="http://schemas.microsoft.com/office/drawing/2014/main" id="{8C7BCA58-4012-A7FA-44D3-BA017B8DA660}"/>
              </a:ext>
            </a:extLst>
          </p:cNvPr>
          <p:cNvSpPr/>
          <p:nvPr>
            <p:custDataLst>
              <p:tags r:id="rId7"/>
            </p:custDataLst>
          </p:nvPr>
        </p:nvSpPr>
        <p:spPr>
          <a:xfrm>
            <a:off x="260647" y="4639415"/>
            <a:ext cx="6408713" cy="3354765"/>
          </a:xfrm>
          <a:prstGeom prst="rect">
            <a:avLst/>
          </a:prstGeom>
          <a:noFill/>
          <a:ln>
            <a:solidFill>
              <a:schemeClr val="tx1"/>
            </a:solidFill>
          </a:ln>
        </p:spPr>
        <p:txBody>
          <a:bodyPr wrap="square">
            <a:spAutoFit/>
          </a:bodyPr>
          <a:lstStyle/>
          <a:p>
            <a:r>
              <a:rPr lang="fr-CA" sz="1600" b="1" dirty="0">
                <a:sym typeface="Wingdings" panose="05000000000000000000" pitchFamily="2" charset="2"/>
              </a:rPr>
              <a:t>MOVA</a:t>
            </a:r>
            <a:endParaRPr lang="fr-CA" sz="1600" dirty="0"/>
          </a:p>
          <a:p>
            <a:pPr marL="285750" indent="-285750">
              <a:buFont typeface="Arial" panose="020B0604020202020204" pitchFamily="34" charset="0"/>
              <a:buChar char="•"/>
            </a:pPr>
            <a:r>
              <a:rPr lang="fr-CA" sz="1400" b="1" dirty="0"/>
              <a:t>Rabais de jusqu’à 4500$ </a:t>
            </a:r>
            <a:r>
              <a:rPr lang="fr-CA" sz="1400" dirty="0"/>
              <a:t>sur certains modèles MOVA équipées et installées (rabais de 2500$ si piscine seule).</a:t>
            </a:r>
          </a:p>
          <a:p>
            <a:pPr marL="285750" indent="-285750">
              <a:buFont typeface="Arial" panose="020B0604020202020204" pitchFamily="34" charset="0"/>
              <a:buChar char="•"/>
            </a:pPr>
            <a:r>
              <a:rPr lang="fr-CA" sz="1400" b="1" dirty="0"/>
              <a:t>RABAIS DE 1500$ </a:t>
            </a:r>
            <a:r>
              <a:rPr lang="fr-CA" sz="1400" dirty="0"/>
              <a:t>(50% de rabais) sur le combo Thermopompe Solstice et le </a:t>
            </a:r>
            <a:r>
              <a:rPr lang="fr-CA" sz="1400" dirty="0" err="1"/>
              <a:t>chlorateur</a:t>
            </a:r>
            <a:r>
              <a:rPr lang="fr-CA" sz="1400" dirty="0"/>
              <a:t> au sel POLARIS </a:t>
            </a:r>
            <a:r>
              <a:rPr lang="fr-CA" sz="1400" dirty="0" err="1"/>
              <a:t>Autoclear</a:t>
            </a:r>
            <a:r>
              <a:rPr lang="fr-CA" sz="1400" dirty="0"/>
              <a:t> (ou équivalent) à prix régulier.</a:t>
            </a:r>
          </a:p>
          <a:p>
            <a:pPr marL="285750" indent="-285750">
              <a:buFont typeface="Arial" panose="020B0604020202020204" pitchFamily="34" charset="0"/>
              <a:buChar char="•"/>
            </a:pPr>
            <a:r>
              <a:rPr lang="fr-CA" sz="1400" dirty="0"/>
              <a:t>Aucune promotion de financement.</a:t>
            </a:r>
          </a:p>
          <a:p>
            <a:pPr marL="285750" indent="-285750">
              <a:buFont typeface="Arial" panose="020B0604020202020204" pitchFamily="34" charset="0"/>
              <a:buChar char="•"/>
            </a:pPr>
            <a:endParaRPr lang="fr-CA" sz="1400" b="1" dirty="0"/>
          </a:p>
          <a:p>
            <a:r>
              <a:rPr lang="fr-CA" sz="1400" b="1" dirty="0">
                <a:sym typeface="Wingdings" panose="05000000000000000000" pitchFamily="2" charset="2"/>
              </a:rPr>
              <a:t>AQUARINO</a:t>
            </a:r>
            <a:endParaRPr lang="fr-CA" sz="1400" dirty="0"/>
          </a:p>
          <a:p>
            <a:pPr marL="285750" lvl="0" indent="-285750">
              <a:buFont typeface="Arial" panose="020B0604020202020204" pitchFamily="34" charset="0"/>
              <a:buChar char="•"/>
            </a:pPr>
            <a:r>
              <a:rPr lang="fr-CA" sz="1400" b="1" dirty="0"/>
              <a:t>Ajout de la pataugeoire TANZA (add-on). Voir annexe pour les prix.</a:t>
            </a:r>
          </a:p>
          <a:p>
            <a:pPr marL="285750" indent="-285750">
              <a:buFont typeface="Arial" panose="020B0604020202020204" pitchFamily="34" charset="0"/>
              <a:buChar char="•"/>
            </a:pPr>
            <a:r>
              <a:rPr lang="fr-CA" sz="1400" b="1" dirty="0"/>
              <a:t>Rabais jusqu’à 8500$ </a:t>
            </a:r>
            <a:r>
              <a:rPr lang="fr-CA" sz="1400" dirty="0"/>
              <a:t>sur certaines piscines AQUARINO équipées et installées (rabais de 3500$ si piscine seule).</a:t>
            </a:r>
            <a:endParaRPr lang="fr-CA" sz="1400" b="1" dirty="0"/>
          </a:p>
          <a:p>
            <a:pPr marL="285750" indent="-285750">
              <a:buFont typeface="Arial" panose="020B0604020202020204" pitchFamily="34" charset="0"/>
              <a:buChar char="•"/>
            </a:pPr>
            <a:r>
              <a:rPr lang="fr-CA" sz="1400" b="1" dirty="0"/>
              <a:t>RABAIS DE 1500$ </a:t>
            </a:r>
            <a:r>
              <a:rPr lang="fr-CA" sz="1400" dirty="0"/>
              <a:t>(50% de rabais) sur le combo Thermopompe Solstice et le </a:t>
            </a:r>
            <a:r>
              <a:rPr lang="fr-CA" sz="1400" dirty="0" err="1"/>
              <a:t>chlorateur</a:t>
            </a:r>
            <a:r>
              <a:rPr lang="fr-CA" sz="1400" dirty="0"/>
              <a:t> au sel POLARIS </a:t>
            </a:r>
            <a:r>
              <a:rPr lang="fr-CA" sz="1400" dirty="0" err="1"/>
              <a:t>Autoclear</a:t>
            </a:r>
            <a:r>
              <a:rPr lang="fr-CA" sz="1400" dirty="0"/>
              <a:t> (ou équivalent) à prix régulier.</a:t>
            </a:r>
          </a:p>
          <a:p>
            <a:pPr marL="285750" indent="-285750">
              <a:buFont typeface="Arial" panose="020B0604020202020204" pitchFamily="34" charset="0"/>
              <a:buChar char="•"/>
            </a:pPr>
            <a:r>
              <a:rPr lang="fr-CA" sz="1400" b="1" dirty="0"/>
              <a:t>PROMO DU MANUFACTURIER</a:t>
            </a:r>
            <a:r>
              <a:rPr lang="fr-CA" sz="1400" dirty="0"/>
              <a:t>: Rabais additionnel sur le modèle TOPAZ 12x24 uniquement. Voir annexes FIBRE.</a:t>
            </a:r>
          </a:p>
        </p:txBody>
      </p:sp>
    </p:spTree>
    <p:extLst>
      <p:ext uri="{BB962C8B-B14F-4D97-AF65-F5344CB8AC3E}">
        <p14:creationId xmlns:p14="http://schemas.microsoft.com/office/powerpoint/2010/main" val="2562470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 de texte 28"/>
          <p:cNvSpPr txBox="1">
            <a:spLocks noGrp="1"/>
          </p:cNvSpPr>
          <p:nvPr>
            <p:ph type="title"/>
            <p:custDataLst>
              <p:tags r:id="rId1"/>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28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28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28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28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28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
        <p:nvSpPr>
          <p:cNvPr id="6" name="Rectangle 5"/>
          <p:cNvSpPr/>
          <p:nvPr>
            <p:custDataLst>
              <p:tags r:id="rId2"/>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THERMOPOMPES 2024</a:t>
            </a:r>
          </a:p>
        </p:txBody>
      </p:sp>
      <p:sp>
        <p:nvSpPr>
          <p:cNvPr id="8" name="Rectangle 7"/>
          <p:cNvSpPr/>
          <p:nvPr>
            <p:custDataLst>
              <p:tags r:id="rId3"/>
            </p:custDataLst>
          </p:nvPr>
        </p:nvSpPr>
        <p:spPr>
          <a:xfrm>
            <a:off x="260647" y="2128086"/>
            <a:ext cx="6408713" cy="3416320"/>
          </a:xfrm>
          <a:prstGeom prst="rect">
            <a:avLst/>
          </a:prstGeom>
          <a:noFill/>
          <a:ln>
            <a:solidFill>
              <a:schemeClr val="tx1"/>
            </a:solidFill>
          </a:ln>
        </p:spPr>
        <p:txBody>
          <a:bodyPr wrap="square">
            <a:spAutoFit/>
          </a:bodyPr>
          <a:lstStyle/>
          <a:p>
            <a:r>
              <a:rPr lang="fr-CA" b="1" dirty="0"/>
              <a:t>SOLSTICE </a:t>
            </a:r>
          </a:p>
          <a:p>
            <a:pPr marL="285750" indent="-285750">
              <a:buFont typeface="Arial" panose="020B0604020202020204" pitchFamily="34" charset="0"/>
              <a:buChar char="•"/>
            </a:pPr>
            <a:r>
              <a:rPr lang="fr-CA" sz="1600" b="1" dirty="0"/>
              <a:t>RABAIS DE 300$</a:t>
            </a:r>
            <a:r>
              <a:rPr lang="fr-CA" sz="1600" dirty="0"/>
              <a:t> sur le prix RÉGULIER de toutes les Thermopompes SOLSTICE. </a:t>
            </a:r>
          </a:p>
          <a:p>
            <a:endParaRPr lang="fr-CA" sz="1600" b="1" dirty="0"/>
          </a:p>
          <a:p>
            <a:r>
              <a:rPr lang="fr-CA" sz="1600" b="1" dirty="0"/>
              <a:t>TTI </a:t>
            </a:r>
          </a:p>
          <a:p>
            <a:pPr marL="285750" indent="-285750">
              <a:buFont typeface="Arial" panose="020B0604020202020204" pitchFamily="34" charset="0"/>
              <a:buChar char="•"/>
            </a:pPr>
            <a:r>
              <a:rPr lang="fr-CA" sz="1600" b="1" dirty="0"/>
              <a:t>RABAIS DU MANUFACTURIER DE 150$ </a:t>
            </a:r>
            <a:r>
              <a:rPr lang="fr-CA" sz="1600" dirty="0"/>
              <a:t>sur les Thermopompes de marque TTI ECOLO. Vente faites entre le 1</a:t>
            </a:r>
            <a:r>
              <a:rPr lang="fr-CA" sz="1600" baseline="30000" dirty="0"/>
              <a:t>er</a:t>
            </a:r>
            <a:r>
              <a:rPr lang="fr-CA" sz="1600" dirty="0"/>
              <a:t> et le 16 juin inclusivement.</a:t>
            </a:r>
          </a:p>
          <a:p>
            <a:pPr marL="742950" lvl="1" indent="-285750">
              <a:buFont typeface="Arial" panose="020B0604020202020204" pitchFamily="34" charset="0"/>
              <a:buChar char="•"/>
            </a:pPr>
            <a:r>
              <a:rPr lang="fr-CA" sz="1400" i="1" dirty="0">
                <a:effectLst/>
                <a:latin typeface="Aptos" panose="020B0004020202020204" pitchFamily="34" charset="0"/>
                <a:ea typeface="Aptos" panose="020B0004020202020204" pitchFamily="34" charset="0"/>
                <a:cs typeface="Aptos" panose="020B0004020202020204" pitchFamily="34" charset="0"/>
              </a:rPr>
              <a:t>Réclamation (pour les achats): Les magasins envoie leur copie de facture et preuve chez TTI directement. TTI émettra un crédit au magasin une fois la promotion terminée. Vous avez jusqu’au 30 juin pour faire la demande de réclamation auprès de TTI. Les thermopompes vendues seules ou à l’achat d’une piscine sont éligibles.</a:t>
            </a:r>
            <a:endParaRPr lang="fr-CA" sz="1400" dirty="0">
              <a:effectLst/>
              <a:latin typeface="Aptos" panose="020B0004020202020204" pitchFamily="34" charset="0"/>
              <a:ea typeface="Aptos" panose="020B0004020202020204" pitchFamily="34" charset="0"/>
              <a:cs typeface="Aptos" panose="020B0004020202020204" pitchFamily="34" charset="0"/>
            </a:endParaRPr>
          </a:p>
          <a:p>
            <a:pPr marL="742950" lvl="1" indent="-285750">
              <a:buFont typeface="Arial" panose="020B0604020202020204" pitchFamily="34" charset="0"/>
              <a:buChar char="•"/>
            </a:pPr>
            <a:endParaRPr lang="fr-CA" sz="1600" dirty="0"/>
          </a:p>
          <a:p>
            <a:endParaRPr lang="fr-CA" sz="1600" dirty="0"/>
          </a:p>
        </p:txBody>
      </p:sp>
      <p:sp>
        <p:nvSpPr>
          <p:cNvPr id="11" name="Rectangle 10">
            <a:extLst>
              <a:ext uri="{FF2B5EF4-FFF2-40B4-BE49-F238E27FC236}">
                <a16:creationId xmlns:a16="http://schemas.microsoft.com/office/drawing/2014/main" id="{0DC4BD33-7303-4103-A793-21C93DC0B414}"/>
              </a:ext>
            </a:extLst>
          </p:cNvPr>
          <p:cNvSpPr/>
          <p:nvPr>
            <p:custDataLst>
              <p:tags r:id="rId4"/>
            </p:custDataLst>
          </p:nvPr>
        </p:nvSpPr>
        <p:spPr>
          <a:xfrm>
            <a:off x="260647" y="5715523"/>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ACCESSOIRES PISCINES 2024</a:t>
            </a:r>
          </a:p>
        </p:txBody>
      </p:sp>
      <p:sp>
        <p:nvSpPr>
          <p:cNvPr id="2" name="Espace réservé du numéro de diapositive 1">
            <a:extLst>
              <a:ext uri="{FF2B5EF4-FFF2-40B4-BE49-F238E27FC236}">
                <a16:creationId xmlns:a16="http://schemas.microsoft.com/office/drawing/2014/main" id="{A9BEC494-D4C8-48DB-B968-4FEB2152C3AA}"/>
              </a:ext>
            </a:extLst>
          </p:cNvPr>
          <p:cNvSpPr>
            <a:spLocks noGrp="1"/>
          </p:cNvSpPr>
          <p:nvPr>
            <p:ph type="sldNum" sz="quarter" idx="12"/>
            <p:custDataLst>
              <p:tags r:id="rId5"/>
            </p:custDataLst>
          </p:nvPr>
        </p:nvSpPr>
        <p:spPr/>
        <p:txBody>
          <a:bodyPr/>
          <a:lstStyle/>
          <a:p>
            <a:fld id="{31F4C03E-007A-4FDF-9746-0F09F296E587}" type="slidenum">
              <a:rPr lang="fr-CA" smtClean="0"/>
              <a:t>11</a:t>
            </a:fld>
            <a:endParaRPr lang="fr-CA"/>
          </a:p>
        </p:txBody>
      </p:sp>
      <p:pic>
        <p:nvPicPr>
          <p:cNvPr id="13" name="Image 12">
            <a:extLst>
              <a:ext uri="{FF2B5EF4-FFF2-40B4-BE49-F238E27FC236}">
                <a16:creationId xmlns:a16="http://schemas.microsoft.com/office/drawing/2014/main" id="{1EE3DC31-EFFB-4C17-9CC7-30E1AD450721}"/>
              </a:ext>
            </a:extLst>
          </p:cNvPr>
          <p:cNvPicPr>
            <a:picLocks noChangeAspect="1"/>
          </p:cNvPicPr>
          <p:nvPr>
            <p:custDataLst>
              <p:tags r:id="rId6"/>
            </p:custDataLst>
          </p:nvPr>
        </p:nvPicPr>
        <p:blipFill>
          <a:blip r:embed="rId9"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3" name="Rectangle 2">
            <a:extLst>
              <a:ext uri="{FF2B5EF4-FFF2-40B4-BE49-F238E27FC236}">
                <a16:creationId xmlns:a16="http://schemas.microsoft.com/office/drawing/2014/main" id="{FB5624A4-969B-1056-5A11-C3594EF3D292}"/>
              </a:ext>
            </a:extLst>
          </p:cNvPr>
          <p:cNvSpPr/>
          <p:nvPr>
            <p:custDataLst>
              <p:tags r:id="rId7"/>
            </p:custDataLst>
          </p:nvPr>
        </p:nvSpPr>
        <p:spPr>
          <a:xfrm>
            <a:off x="260647" y="6075457"/>
            <a:ext cx="6408713" cy="830997"/>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CA" sz="1600" dirty="0"/>
              <a:t>Ajout de la pompe et filtreur Polaris dans les Annexes ACC HORS TERRE + voir rabais en cours</a:t>
            </a:r>
          </a:p>
          <a:p>
            <a:pPr marL="285750" indent="-285750">
              <a:buFont typeface="Arial" panose="020B0604020202020204" pitchFamily="34" charset="0"/>
              <a:buChar char="•"/>
            </a:pPr>
            <a:r>
              <a:rPr lang="fr-CA" sz="1600" b="1" dirty="0"/>
              <a:t>25% de rabais sur tous les jouets et gonflables du 29 mai au 16 juin. </a:t>
            </a:r>
            <a:endParaRPr lang="fr-CA" sz="1600" dirty="0"/>
          </a:p>
        </p:txBody>
      </p:sp>
    </p:spTree>
    <p:extLst>
      <p:ext uri="{BB962C8B-B14F-4D97-AF65-F5344CB8AC3E}">
        <p14:creationId xmlns:p14="http://schemas.microsoft.com/office/powerpoint/2010/main" val="1857360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CHIMIQUE 2024</a:t>
            </a:r>
          </a:p>
        </p:txBody>
      </p:sp>
      <p:sp>
        <p:nvSpPr>
          <p:cNvPr id="2" name="Espace réservé du numéro de diapositive 1">
            <a:extLst>
              <a:ext uri="{FF2B5EF4-FFF2-40B4-BE49-F238E27FC236}">
                <a16:creationId xmlns:a16="http://schemas.microsoft.com/office/drawing/2014/main" id="{35C7BBEC-1C34-426C-829B-BBBE7AEF9FD2}"/>
              </a:ext>
            </a:extLst>
          </p:cNvPr>
          <p:cNvSpPr>
            <a:spLocks noGrp="1"/>
          </p:cNvSpPr>
          <p:nvPr>
            <p:ph type="sldNum" sz="quarter" idx="12"/>
            <p:custDataLst>
              <p:tags r:id="rId2"/>
            </p:custDataLst>
          </p:nvPr>
        </p:nvSpPr>
        <p:spPr/>
        <p:txBody>
          <a:bodyPr/>
          <a:lstStyle/>
          <a:p>
            <a:fld id="{31F4C03E-007A-4FDF-9746-0F09F296E587}" type="slidenum">
              <a:rPr lang="fr-CA" smtClean="0"/>
              <a:t>12</a:t>
            </a:fld>
            <a:endParaRPr lang="fr-CA"/>
          </a:p>
        </p:txBody>
      </p:sp>
      <p:pic>
        <p:nvPicPr>
          <p:cNvPr id="9" name="Image 8">
            <a:extLst>
              <a:ext uri="{FF2B5EF4-FFF2-40B4-BE49-F238E27FC236}">
                <a16:creationId xmlns:a16="http://schemas.microsoft.com/office/drawing/2014/main" id="{215EACBE-1720-4116-90B5-C389F813A168}"/>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7" name="Rectangle 6">
            <a:extLst>
              <a:ext uri="{FF2B5EF4-FFF2-40B4-BE49-F238E27FC236}">
                <a16:creationId xmlns:a16="http://schemas.microsoft.com/office/drawing/2014/main" id="{5A6CD2D8-10E2-4C68-A85E-66B4BD875B6C}"/>
              </a:ext>
            </a:extLst>
          </p:cNvPr>
          <p:cNvSpPr/>
          <p:nvPr>
            <p:custDataLst>
              <p:tags r:id="rId4"/>
            </p:custDataLst>
          </p:nvPr>
        </p:nvSpPr>
        <p:spPr>
          <a:xfrm>
            <a:off x="241641" y="2260613"/>
            <a:ext cx="6408713" cy="464871"/>
          </a:xfrm>
          <a:prstGeom prst="rect">
            <a:avLst/>
          </a:prstGeom>
          <a:noFill/>
          <a:ln>
            <a:solidFill>
              <a:schemeClr val="tx1"/>
            </a:solidFill>
          </a:ln>
        </p:spPr>
        <p:txBody>
          <a:bodyPr wrap="square">
            <a:spAutoFit/>
          </a:bodyPr>
          <a:lstStyle/>
          <a:p>
            <a:pPr marL="285750" indent="-285750">
              <a:lnSpc>
                <a:spcPct val="150000"/>
              </a:lnSpc>
              <a:buFont typeface="Arial" panose="020B0604020202020204" pitchFamily="34" charset="0"/>
              <a:buChar char="•"/>
            </a:pPr>
            <a:r>
              <a:rPr lang="fr-CA" dirty="0"/>
              <a:t>Même rabais sur le chlore Club Piscine en cours. Voir Annexes.</a:t>
            </a:r>
          </a:p>
        </p:txBody>
      </p:sp>
      <p:sp>
        <p:nvSpPr>
          <p:cNvPr id="8" name="Zone de texte 28">
            <a:extLst>
              <a:ext uri="{FF2B5EF4-FFF2-40B4-BE49-F238E27FC236}">
                <a16:creationId xmlns:a16="http://schemas.microsoft.com/office/drawing/2014/main" id="{DE1BFEE4-4674-BCD0-5B3D-603FE4AB0381}"/>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141494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FITNESS 2024</a:t>
            </a:r>
          </a:p>
        </p:txBody>
      </p:sp>
      <p:sp>
        <p:nvSpPr>
          <p:cNvPr id="8" name="Rectangle 7"/>
          <p:cNvSpPr/>
          <p:nvPr>
            <p:custDataLst>
              <p:tags r:id="rId2"/>
            </p:custDataLst>
          </p:nvPr>
        </p:nvSpPr>
        <p:spPr>
          <a:xfrm>
            <a:off x="260647" y="2128086"/>
            <a:ext cx="6408713" cy="861774"/>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sz="1600" b="1" dirty="0"/>
              <a:t>Aucun changement.</a:t>
            </a:r>
            <a:endParaRPr lang="en-US" b="1" dirty="0">
              <a:latin typeface="Calibri" panose="020F0502020204030204" pitchFamily="34" charset="0"/>
            </a:endParaRPr>
          </a:p>
          <a:p>
            <a:pPr marL="285750" indent="-285750">
              <a:buFont typeface="Arial" panose="020B0604020202020204" pitchFamily="34" charset="0"/>
              <a:buChar char="•"/>
            </a:pPr>
            <a:endParaRPr lang="fr-CA" sz="1600" dirty="0">
              <a:latin typeface="Calibri Light" panose="020F0302020204030204" pitchFamily="34" charset="0"/>
              <a:cs typeface="Times New Roman" panose="02020603050405020304" pitchFamily="18" charset="0"/>
            </a:endParaRPr>
          </a:p>
        </p:txBody>
      </p:sp>
      <p:sp>
        <p:nvSpPr>
          <p:cNvPr id="2" name="Espace réservé du numéro de diapositive 1">
            <a:extLst>
              <a:ext uri="{FF2B5EF4-FFF2-40B4-BE49-F238E27FC236}">
                <a16:creationId xmlns:a16="http://schemas.microsoft.com/office/drawing/2014/main" id="{35C7BBEC-1C34-426C-829B-BBBE7AEF9FD2}"/>
              </a:ext>
            </a:extLst>
          </p:cNvPr>
          <p:cNvSpPr>
            <a:spLocks noGrp="1"/>
          </p:cNvSpPr>
          <p:nvPr>
            <p:ph type="sldNum" sz="quarter" idx="12"/>
            <p:custDataLst>
              <p:tags r:id="rId3"/>
            </p:custDataLst>
          </p:nvPr>
        </p:nvSpPr>
        <p:spPr/>
        <p:txBody>
          <a:bodyPr/>
          <a:lstStyle/>
          <a:p>
            <a:fld id="{31F4C03E-007A-4FDF-9746-0F09F296E587}" type="slidenum">
              <a:rPr lang="fr-CA" smtClean="0"/>
              <a:t>13</a:t>
            </a:fld>
            <a:endParaRPr lang="fr-CA"/>
          </a:p>
        </p:txBody>
      </p:sp>
      <p:pic>
        <p:nvPicPr>
          <p:cNvPr id="9" name="Image 8">
            <a:extLst>
              <a:ext uri="{FF2B5EF4-FFF2-40B4-BE49-F238E27FC236}">
                <a16:creationId xmlns:a16="http://schemas.microsoft.com/office/drawing/2014/main" id="{215EACBE-1720-4116-90B5-C389F813A168}"/>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460432"/>
            <a:ext cx="2492896" cy="402434"/>
          </a:xfrm>
          <a:prstGeom prst="rect">
            <a:avLst/>
          </a:prstGeom>
        </p:spPr>
      </p:pic>
      <p:sp>
        <p:nvSpPr>
          <p:cNvPr id="7" name="Zone de texte 28">
            <a:extLst>
              <a:ext uri="{FF2B5EF4-FFF2-40B4-BE49-F238E27FC236}">
                <a16:creationId xmlns:a16="http://schemas.microsoft.com/office/drawing/2014/main" id="{B2EEE3DC-3491-9AB7-66FD-4D31A25D6353}"/>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2814416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768046"/>
            <a:ext cx="6408713" cy="360040"/>
          </a:xfrm>
          <a:prstGeom prst="rect">
            <a:avLst/>
          </a:prstGeom>
          <a:solidFill>
            <a:srgbClr val="218BC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FINANCEMENT</a:t>
            </a:r>
          </a:p>
        </p:txBody>
      </p:sp>
      <p:sp>
        <p:nvSpPr>
          <p:cNvPr id="8" name="Rectangle 7"/>
          <p:cNvSpPr/>
          <p:nvPr>
            <p:custDataLst>
              <p:tags r:id="rId2"/>
            </p:custDataLst>
          </p:nvPr>
        </p:nvSpPr>
        <p:spPr>
          <a:xfrm>
            <a:off x="260647" y="2128084"/>
            <a:ext cx="6408713" cy="6124754"/>
          </a:xfrm>
          <a:prstGeom prst="rect">
            <a:avLst/>
          </a:prstGeom>
          <a:noFill/>
          <a:ln>
            <a:solidFill>
              <a:schemeClr val="tx1"/>
            </a:solidFill>
          </a:ln>
        </p:spPr>
        <p:txBody>
          <a:bodyPr wrap="square">
            <a:spAutoFit/>
          </a:bodyPr>
          <a:lstStyle/>
          <a:p>
            <a:r>
              <a:rPr lang="fr-CA" b="1" dirty="0"/>
              <a:t>FAIRSTONE </a:t>
            </a:r>
            <a:endParaRPr lang="fr-CA" b="1" dirty="0">
              <a:highlight>
                <a:srgbClr val="FFFF00"/>
              </a:highlight>
            </a:endParaRPr>
          </a:p>
          <a:p>
            <a:r>
              <a:rPr lang="fr-CA" sz="1600" b="1" dirty="0"/>
              <a:t>Plans de financement réguliers:</a:t>
            </a:r>
          </a:p>
          <a:p>
            <a:pPr marL="285750" indent="-285750">
              <a:buFont typeface="Arial" panose="020B0604020202020204" pitchFamily="34" charset="0"/>
              <a:buChar char="•"/>
            </a:pPr>
            <a:r>
              <a:rPr lang="fr-CA" sz="1600" b="1" dirty="0"/>
              <a:t>SPA </a:t>
            </a:r>
            <a:r>
              <a:rPr lang="fr-CA" sz="1600" dirty="0"/>
              <a:t>: 5,99% sur 60 mois </a:t>
            </a:r>
            <a:r>
              <a:rPr lang="fr-CA" sz="1600" b="1" dirty="0"/>
              <a:t>(code 36604</a:t>
            </a:r>
            <a:r>
              <a:rPr lang="fr-CA" b="1" dirty="0">
                <a:effectLst/>
                <a:latin typeface="Calibri" panose="020F0502020204030204" pitchFamily="34" charset="0"/>
                <a:ea typeface="Calibri" panose="020F0502020204030204" pitchFamily="34" charset="0"/>
              </a:rPr>
              <a:t> )</a:t>
            </a:r>
          </a:p>
          <a:p>
            <a:pPr marL="285750" indent="-285750">
              <a:buFont typeface="Arial" panose="020B0604020202020204" pitchFamily="34" charset="0"/>
              <a:buChar char="•"/>
            </a:pPr>
            <a:r>
              <a:rPr lang="fr-CA" sz="1600" b="1" dirty="0"/>
              <a:t>MEUBLES</a:t>
            </a:r>
            <a:r>
              <a:rPr lang="fr-CA" sz="1600" dirty="0"/>
              <a:t>: 12 mois sans paiement ni intérêt </a:t>
            </a:r>
            <a:r>
              <a:rPr lang="fr-CA" sz="1600" b="1" dirty="0"/>
              <a:t>(code 12120)</a:t>
            </a:r>
          </a:p>
          <a:p>
            <a:pPr marL="285750" indent="-285750">
              <a:buFont typeface="Arial" panose="020B0604020202020204" pitchFamily="34" charset="0"/>
              <a:buChar char="•"/>
            </a:pPr>
            <a:r>
              <a:rPr lang="fr-CA" sz="1600" b="1" dirty="0"/>
              <a:t>PISCINE HORS TERRE : </a:t>
            </a:r>
            <a:r>
              <a:rPr lang="fr-CA" sz="1600" dirty="0"/>
              <a:t>Aucun financement inclus dans la promotion du mois mais il est suggéré d’utiliser les 3 plans suivants qui ont un frais au marchand similaire à celui d’une carte de crédit </a:t>
            </a:r>
            <a:endParaRPr lang="fr-CA" sz="1600" b="1" dirty="0"/>
          </a:p>
          <a:p>
            <a:endParaRPr lang="fr-CA" sz="1600" dirty="0">
              <a:effectLst/>
              <a:latin typeface="Calibri" panose="020F0502020204030204" pitchFamily="34" charset="0"/>
              <a:ea typeface="Calibri" panose="020F0502020204030204" pitchFamily="34" charset="0"/>
            </a:endParaRPr>
          </a:p>
          <a:p>
            <a:endParaRPr lang="fr-CA" sz="1600" dirty="0">
              <a:latin typeface="Calibri" panose="020F0502020204030204" pitchFamily="34" charset="0"/>
              <a:ea typeface="Calibri" panose="020F0502020204030204" pitchFamily="34" charset="0"/>
            </a:endParaRPr>
          </a:p>
          <a:p>
            <a:endParaRPr lang="fr-CA" sz="1600" dirty="0">
              <a:effectLst/>
              <a:latin typeface="Calibri" panose="020F0502020204030204" pitchFamily="34" charset="0"/>
              <a:ea typeface="Calibri" panose="020F0502020204030204" pitchFamily="34" charset="0"/>
            </a:endParaRPr>
          </a:p>
          <a:p>
            <a:endParaRPr lang="fr-CA" sz="1600" dirty="0">
              <a:latin typeface="Calibri" panose="020F0502020204030204" pitchFamily="34" charset="0"/>
              <a:ea typeface="Calibri" panose="020F0502020204030204" pitchFamily="34" charset="0"/>
            </a:endParaRPr>
          </a:p>
          <a:p>
            <a:endParaRPr lang="fr-CA" sz="1600" dirty="0">
              <a:effectLst/>
              <a:latin typeface="Calibri" panose="020F0502020204030204" pitchFamily="34" charset="0"/>
              <a:ea typeface="Calibri" panose="020F0502020204030204" pitchFamily="34" charset="0"/>
            </a:endParaRPr>
          </a:p>
          <a:p>
            <a:endParaRPr lang="fr-CA" sz="1600" dirty="0">
              <a:latin typeface="Calibri" panose="020F0502020204030204" pitchFamily="34" charset="0"/>
              <a:ea typeface="Calibri" panose="020F0502020204030204" pitchFamily="34" charset="0"/>
            </a:endParaRPr>
          </a:p>
          <a:p>
            <a:endParaRPr lang="fr-CA" sz="1600" dirty="0">
              <a:effectLst/>
              <a:latin typeface="Calibri" panose="020F0502020204030204" pitchFamily="34" charset="0"/>
              <a:ea typeface="Calibri" panose="020F0502020204030204" pitchFamily="34" charset="0"/>
            </a:endParaRPr>
          </a:p>
          <a:p>
            <a:pPr lvl="1"/>
            <a:endParaRPr lang="fr-CA" sz="1600" dirty="0">
              <a:effectLst/>
              <a:latin typeface="Calibri" panose="020F0502020204030204" pitchFamily="34" charset="0"/>
              <a:ea typeface="Calibri" panose="020F0502020204030204" pitchFamily="34" charset="0"/>
            </a:endParaRPr>
          </a:p>
          <a:p>
            <a:pPr lvl="1"/>
            <a:endParaRPr lang="fr-CA" b="1" dirty="0"/>
          </a:p>
          <a:p>
            <a:r>
              <a:rPr lang="fr-CA" b="1" dirty="0"/>
              <a:t>FINANCE IT</a:t>
            </a:r>
          </a:p>
          <a:p>
            <a:pPr marL="285750" indent="-285750">
              <a:buFont typeface="Arial" panose="020B0604020202020204" pitchFamily="34" charset="0"/>
              <a:buChar char="•"/>
            </a:pPr>
            <a:r>
              <a:rPr lang="fr-CA" sz="1600" b="1" dirty="0"/>
              <a:t>PISCINE CREUSÉE &amp; FIBRE : </a:t>
            </a:r>
            <a:r>
              <a:rPr lang="fr-CA" sz="1600" dirty="0"/>
              <a:t>Aucun financement inclus dans la promotion du mois mais il est suggéré d’utiliser le Financement </a:t>
            </a:r>
            <a:r>
              <a:rPr lang="fr-CA" sz="1600" b="1" dirty="0"/>
              <a:t>FINANCE IT </a:t>
            </a:r>
            <a:r>
              <a:rPr lang="fr-CA" sz="1600" dirty="0"/>
              <a:t>car le plafond de financement n’est pas limité à 30K$. Suggestion : Promo 6 mois sans paiement.</a:t>
            </a:r>
          </a:p>
          <a:p>
            <a:pPr marL="742950" lvl="1" indent="-285750">
              <a:buFont typeface="Arial" panose="020B0604020202020204" pitchFamily="34" charset="0"/>
              <a:buChar char="•"/>
            </a:pPr>
            <a:r>
              <a:rPr lang="fr-CA" sz="1600" dirty="0"/>
              <a:t>Prêt ouvert </a:t>
            </a:r>
          </a:p>
          <a:p>
            <a:pPr marL="742950" lvl="1" indent="-285750">
              <a:buFont typeface="Arial" panose="020B0604020202020204" pitchFamily="34" charset="0"/>
              <a:buChar char="•"/>
            </a:pPr>
            <a:r>
              <a:rPr lang="fr-CA" sz="1600" dirty="0"/>
              <a:t>Financement sur terme @ 13.99% pour le consommateur.</a:t>
            </a:r>
          </a:p>
          <a:p>
            <a:pPr marL="742950" lvl="1" indent="-285750">
              <a:buFont typeface="Arial" panose="020B0604020202020204" pitchFamily="34" charset="0"/>
              <a:buChar char="•"/>
            </a:pPr>
            <a:r>
              <a:rPr lang="fr-CA" sz="1600" dirty="0"/>
              <a:t>Le 6 mois débute à la livraison/installation.</a:t>
            </a:r>
            <a:endParaRPr lang="fr-CA" b="1" dirty="0"/>
          </a:p>
        </p:txBody>
      </p:sp>
      <p:sp>
        <p:nvSpPr>
          <p:cNvPr id="2" name="Espace réservé du numéro de diapositive 1">
            <a:extLst>
              <a:ext uri="{FF2B5EF4-FFF2-40B4-BE49-F238E27FC236}">
                <a16:creationId xmlns:a16="http://schemas.microsoft.com/office/drawing/2014/main" id="{A52F2973-F05A-4798-9E29-20BCA9224E82}"/>
              </a:ext>
            </a:extLst>
          </p:cNvPr>
          <p:cNvSpPr>
            <a:spLocks noGrp="1"/>
          </p:cNvSpPr>
          <p:nvPr>
            <p:ph type="sldNum" sz="quarter" idx="12"/>
            <p:custDataLst>
              <p:tags r:id="rId3"/>
            </p:custDataLst>
          </p:nvPr>
        </p:nvSpPr>
        <p:spPr/>
        <p:txBody>
          <a:bodyPr/>
          <a:lstStyle/>
          <a:p>
            <a:fld id="{31F4C03E-007A-4FDF-9746-0F09F296E587}" type="slidenum">
              <a:rPr lang="fr-CA" smtClean="0"/>
              <a:t>14</a:t>
            </a:fld>
            <a:endParaRPr lang="fr-CA"/>
          </a:p>
        </p:txBody>
      </p:sp>
      <p:pic>
        <p:nvPicPr>
          <p:cNvPr id="9" name="Image 8">
            <a:extLst>
              <a:ext uri="{FF2B5EF4-FFF2-40B4-BE49-F238E27FC236}">
                <a16:creationId xmlns:a16="http://schemas.microsoft.com/office/drawing/2014/main" id="{488D9F2B-CBC4-4BB5-AAFD-1DAE92562030}"/>
              </a:ext>
            </a:extLst>
          </p:cNvPr>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260647" y="8629475"/>
            <a:ext cx="2492896" cy="402434"/>
          </a:xfrm>
          <a:prstGeom prst="rect">
            <a:avLst/>
          </a:prstGeom>
        </p:spPr>
      </p:pic>
      <p:pic>
        <p:nvPicPr>
          <p:cNvPr id="4" name="Image 3">
            <a:extLst>
              <a:ext uri="{FF2B5EF4-FFF2-40B4-BE49-F238E27FC236}">
                <a16:creationId xmlns:a16="http://schemas.microsoft.com/office/drawing/2014/main" id="{47605141-FA74-5EED-1FEA-96577633EC46}"/>
              </a:ext>
            </a:extLst>
          </p:cNvPr>
          <p:cNvPicPr>
            <a:picLocks noChangeAspect="1"/>
          </p:cNvPicPr>
          <p:nvPr/>
        </p:nvPicPr>
        <p:blipFill>
          <a:blip r:embed="rId8"/>
          <a:stretch>
            <a:fillRect/>
          </a:stretch>
        </p:blipFill>
        <p:spPr>
          <a:xfrm>
            <a:off x="476672" y="3923928"/>
            <a:ext cx="3168352" cy="1989100"/>
          </a:xfrm>
          <a:prstGeom prst="rect">
            <a:avLst/>
          </a:prstGeom>
        </p:spPr>
      </p:pic>
      <p:sp>
        <p:nvSpPr>
          <p:cNvPr id="10" name="Zone de texte 28">
            <a:extLst>
              <a:ext uri="{FF2B5EF4-FFF2-40B4-BE49-F238E27FC236}">
                <a16:creationId xmlns:a16="http://schemas.microsoft.com/office/drawing/2014/main" id="{F1CDD729-D564-8E3A-F4B6-4E5FF1FDDC80}"/>
              </a:ext>
            </a:extLst>
          </p:cNvPr>
          <p:cNvSpPr txBox="1">
            <a:spLocks noGrp="1"/>
          </p:cNvSpPr>
          <p:nvPr>
            <p:ph type="title"/>
            <p:custDataLst>
              <p:tags r:id="rId5"/>
            </p:custDataLst>
          </p:nvPr>
        </p:nvSpPr>
        <p:spPr>
          <a:xfrm>
            <a:off x="330307" y="539552"/>
            <a:ext cx="6172200"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36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Instructions de vente</a:t>
            </a:r>
            <a:b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29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au 2 </a:t>
            </a:r>
            <a:r>
              <a:rPr lang="en-CA" sz="32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juillet</a:t>
            </a:r>
            <a:r>
              <a:rPr lang="en-CA" sz="32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8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spTree>
    <p:extLst>
      <p:ext uri="{BB962C8B-B14F-4D97-AF65-F5344CB8AC3E}">
        <p14:creationId xmlns:p14="http://schemas.microsoft.com/office/powerpoint/2010/main" val="6935674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4"/>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4"/>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ags/tag18.xml><?xml version="1.0" encoding="utf-8"?>
<p:tagLst xmlns:a="http://schemas.openxmlformats.org/drawingml/2006/main" xmlns:r="http://schemas.openxmlformats.org/officeDocument/2006/relationships" xmlns:p="http://schemas.openxmlformats.org/presentationml/2006/main">
  <p:tag name="NUM" val="4"/>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4"/>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4"/>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5"/>
</p:tagLst>
</file>

<file path=ppt/tags/tag38.xml><?xml version="1.0" encoding="utf-8"?>
<p:tagLst xmlns:a="http://schemas.openxmlformats.org/drawingml/2006/main" xmlns:r="http://schemas.openxmlformats.org/officeDocument/2006/relationships" xmlns:p="http://schemas.openxmlformats.org/presentationml/2006/main">
  <p:tag name="NUM" val="4"/>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5"/>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5"/>
</p:tagLst>
</file>

<file path=ppt/tags/tag49.xml><?xml version="1.0" encoding="utf-8"?>
<p:tagLst xmlns:a="http://schemas.openxmlformats.org/drawingml/2006/main" xmlns:r="http://schemas.openxmlformats.org/officeDocument/2006/relationships" xmlns:p="http://schemas.openxmlformats.org/presentationml/2006/main">
  <p:tag name="NUM" val="4"/>
</p:tagLst>
</file>

<file path=ppt/tags/tag50.xml><?xml version="1.0" encoding="utf-8"?>
<p:tagLst xmlns:a="http://schemas.openxmlformats.org/drawingml/2006/main" xmlns:r="http://schemas.openxmlformats.org/officeDocument/2006/relationships" xmlns:p="http://schemas.openxmlformats.org/presentationml/2006/main">
  <p:tag name="NUM" val="5"/>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6"/>
</p:tagLst>
</file>

<file path=ppt/tags/tag56.xml><?xml version="1.0" encoding="utf-8"?>
<p:tagLst xmlns:a="http://schemas.openxmlformats.org/drawingml/2006/main" xmlns:r="http://schemas.openxmlformats.org/officeDocument/2006/relationships" xmlns:p="http://schemas.openxmlformats.org/presentationml/2006/main">
  <p:tag name="NUM" val="7"/>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5"/>
</p:tagLst>
</file>

<file path=ppt/tags/tag62.xml><?xml version="1.0" encoding="utf-8"?>
<p:tagLst xmlns:a="http://schemas.openxmlformats.org/drawingml/2006/main" xmlns:r="http://schemas.openxmlformats.org/officeDocument/2006/relationships" xmlns:p="http://schemas.openxmlformats.org/presentationml/2006/main">
  <p:tag name="NUM" val="4"/>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4"/>
</p:tagLst>
</file>

<file path=ppt/tags/tag66.xml><?xml version="1.0" encoding="utf-8"?>
<p:tagLst xmlns:a="http://schemas.openxmlformats.org/drawingml/2006/main" xmlns:r="http://schemas.openxmlformats.org/officeDocument/2006/relationships" xmlns:p="http://schemas.openxmlformats.org/presentationml/2006/main">
  <p:tag name="NUM" val="5"/>
</p:tagLst>
</file>

<file path=ppt/tags/tag67.xml><?xml version="1.0" encoding="utf-8"?>
<p:tagLst xmlns:a="http://schemas.openxmlformats.org/drawingml/2006/main" xmlns:r="http://schemas.openxmlformats.org/officeDocument/2006/relationships" xmlns:p="http://schemas.openxmlformats.org/presentationml/2006/main">
  <p:tag name="NUM" val="4"/>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5"/>
</p:tagLst>
</file>

<file path=ppt/tags/tag72.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E1C49C-B943-4250-BB39-87973E798E95}">
  <ds:schemaRefs>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purl.org/dc/terms/"/>
    <ds:schemaRef ds:uri="http://purl.org/dc/elements/1.1/"/>
    <ds:schemaRef ds:uri="8682f7ec-9bef-4d6d-8d5c-0ec39e002ff3"/>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993C392B-F690-4267-8D4E-0D4DB769B882}">
  <ds:schemaRefs>
    <ds:schemaRef ds:uri="http://schemas.microsoft.com/sharepoint/v3/contenttype/forms"/>
  </ds:schemaRefs>
</ds:datastoreItem>
</file>

<file path=customXml/itemProps3.xml><?xml version="1.0" encoding="utf-8"?>
<ds:datastoreItem xmlns:ds="http://schemas.openxmlformats.org/officeDocument/2006/customXml" ds:itemID="{732A8144-3584-4E7E-AE51-9B88B3C47B4B}"/>
</file>

<file path=docProps/app.xml><?xml version="1.0" encoding="utf-8"?>
<Properties xmlns="http://schemas.openxmlformats.org/officeDocument/2006/extended-properties" xmlns:vt="http://schemas.openxmlformats.org/officeDocument/2006/docPropsVTypes">
  <TotalTime>44665</TotalTime>
  <Words>1624</Words>
  <Application>Microsoft Office PowerPoint</Application>
  <PresentationFormat>Affichage à l'écran (4:3)</PresentationFormat>
  <Paragraphs>182</Paragraphs>
  <Slides>14</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14</vt:i4>
      </vt:variant>
    </vt:vector>
  </HeadingPairs>
  <TitlesOfParts>
    <vt:vector size="24" baseType="lpstr">
      <vt:lpstr>Aptos</vt:lpstr>
      <vt:lpstr>Arial</vt:lpstr>
      <vt:lpstr>Arial Black</vt:lpstr>
      <vt:lpstr>Calibri</vt:lpstr>
      <vt:lpstr>Calibri Light</vt:lpstr>
      <vt:lpstr>Courier New</vt:lpstr>
      <vt:lpstr>Symbol</vt:lpstr>
      <vt:lpstr>Times New Roman</vt:lpstr>
      <vt:lpstr>Wingdings</vt:lpstr>
      <vt:lpstr>Thème Office</vt:lpstr>
      <vt:lpstr>Présentation PowerPoint</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lpstr>Instructions de vente 29 mai au 2 juillet 2024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1335</cp:revision>
  <cp:lastPrinted>2022-04-27T14:46:34Z</cp:lastPrinted>
  <dcterms:created xsi:type="dcterms:W3CDTF">2017-05-24T18:44:46Z</dcterms:created>
  <dcterms:modified xsi:type="dcterms:W3CDTF">2024-05-27T17:42:07Z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