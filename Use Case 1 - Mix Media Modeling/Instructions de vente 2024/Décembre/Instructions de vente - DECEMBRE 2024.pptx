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65" r:id="rId5"/>
    <p:sldId id="281" r:id="rId6"/>
    <p:sldId id="276" r:id="rId7"/>
    <p:sldId id="285" r:id="rId8"/>
    <p:sldId id="266" r:id="rId9"/>
    <p:sldId id="280" r:id="rId10"/>
    <p:sldId id="273" r:id="rId11"/>
    <p:sldId id="267" r:id="rId12"/>
    <p:sldId id="268" r:id="rId13"/>
    <p:sldId id="275" r:id="rId14"/>
    <p:sldId id="270" r:id="rId15"/>
    <p:sldId id="284" r:id="rId16"/>
    <p:sldId id="264" r:id="rId17"/>
    <p:sldId id="272" r:id="rId18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CDE9"/>
    <a:srgbClr val="218BCB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94"/>
  </p:normalViewPr>
  <p:slideViewPr>
    <p:cSldViewPr>
      <p:cViewPr varScale="1">
        <p:scale>
          <a:sx n="79" d="100"/>
          <a:sy n="79" d="100"/>
        </p:scale>
        <p:origin x="3054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29/11/2024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2024-11-29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2024-11-29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2024-11-29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2024-11-29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2024-11-29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2024-11-29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2024-11-29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2024-11-29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2024-11-29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2024-11-29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2024-11-29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2024-11-29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1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1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7.xml"/><Relationship Id="rId4" Type="http://schemas.openxmlformats.org/officeDocument/2006/relationships/tags" Target="../tags/tag3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1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1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../media/image2.png"/><Relationship Id="rId5" Type="http://schemas.openxmlformats.org/officeDocument/2006/relationships/tags" Target="../tags/tag59.xml"/><Relationship Id="rId10" Type="http://schemas.openxmlformats.org/officeDocument/2006/relationships/image" Target="../media/image1.png"/><Relationship Id="rId4" Type="http://schemas.openxmlformats.org/officeDocument/2006/relationships/tags" Target="../tags/tag58.xml"/><Relationship Id="rId9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7" Type="http://schemas.openxmlformats.org/officeDocument/2006/relationships/image" Target="../media/image1.png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2.xml"/><Relationship Id="rId4" Type="http://schemas.openxmlformats.org/officeDocument/2006/relationships/tags" Target="../tags/tag7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7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57170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RÉSUMÉ DES PROMOS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334374"/>
            <a:ext cx="6408713" cy="63555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Solde des fêtes sera valide </a:t>
            </a:r>
            <a:r>
              <a:rPr lang="fr-CA" sz="1400" u="sng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pour tout décembre</a:t>
            </a: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Nous n’aurons donc pas de vente additionnelle pour le boxing </a:t>
            </a:r>
            <a:r>
              <a:rPr lang="fr-CA" sz="1400" dirty="0" err="1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week</a:t>
            </a: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Voici les principaux changements:</a:t>
            </a:r>
          </a:p>
          <a:p>
            <a:pPr>
              <a:lnSpc>
                <a:spcPct val="150000"/>
              </a:lnSpc>
            </a:pPr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SPA: </a:t>
            </a: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Ajustement des rabais pour offrir 750$ sur tous les SOLSTICE et jusqu’à 1000$ sur les JACUZZI  + </a:t>
            </a: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Carte-cadeau de 1000$ sur les spas JACUZZI &amp; SOLSTICE.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CREUSÉE: </a:t>
            </a: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Nouveaux prix 2025. Rabais de 4000$ + Thermopompe 50k BTU Gratuite*!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FIBRE:  </a:t>
            </a: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Nouveaux prix 2025 +Combo </a:t>
            </a:r>
            <a:r>
              <a:rPr lang="fr-CA" sz="1400" dirty="0" err="1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chlorinateur</a:t>
            </a: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Moov et thermopompe Solstice 50k BTU offerts gratuitement!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THERMO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 Nouveaux prix 2025. Et 300$ de rabais sur les Solstice.</a:t>
            </a:r>
            <a:endParaRPr lang="fr-CA" sz="1400" dirty="0">
              <a:solidFill>
                <a:schemeClr val="accent6"/>
              </a:solidFill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PISCINES HT :   </a:t>
            </a:r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Nouveaux prix 2025. Jusqu’à 1000$ de rabais sur toutes les piscines hors terre + 300$ de rabais sur un thermopompe Solstice ou TTI + Robot SOL gratuit!</a:t>
            </a:r>
            <a:endParaRPr lang="fr-CA" sz="14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MEUBLE: et GAZEBO  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Certains changements de prix réguliers sur les </a:t>
            </a:r>
            <a:r>
              <a:rPr lang="fr-CA" sz="1400" i="1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repeat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 et prolongation du 10% additionnel sur certains produits. Voir annexe pour détails.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4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FITNESS</a:t>
            </a:r>
            <a:r>
              <a:rPr lang="fr-CA" sz="14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Ajout des nouveaux produits à l’annexe.</a:t>
            </a:r>
          </a:p>
          <a:p>
            <a:endParaRPr lang="fr-CA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endParaRPr lang="fr-CA" sz="14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sz="1200" i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Tous les détails des promotions aux pages suivantes. Les codes des plans de financement se trouvent à la dernière page.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sp>
        <p:nvSpPr>
          <p:cNvPr id="7" name="Zone de texte 28">
            <a:extLst>
              <a:ext uri="{FF2B5EF4-FFF2-40B4-BE49-F238E27FC236}">
                <a16:creationId xmlns:a16="http://schemas.microsoft.com/office/drawing/2014/main" id="{9954BF8A-DD31-9DF8-A9CE-38C033095C3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7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200" b="1" dirty="0"/>
              <a:t>JACUZZI </a:t>
            </a:r>
            <a:endParaRPr lang="fr-CA" sz="1200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b="1" dirty="0"/>
              <a:t>1000$ de rabais </a:t>
            </a:r>
            <a:r>
              <a:rPr lang="fr-CA" sz="1200" dirty="0"/>
              <a:t>sur la série J300 et J400 (sauf le J495) 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b="1" dirty="0"/>
              <a:t>500$ de rabais </a:t>
            </a:r>
            <a:r>
              <a:rPr lang="fr-CA" sz="1200" dirty="0"/>
              <a:t>sur la série J200 et le J495 (Smart tub non inclus sur les modèles J200 2024)</a:t>
            </a: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b="1" dirty="0"/>
              <a:t>CARTE –CADEAU: </a:t>
            </a:r>
            <a:r>
              <a:rPr lang="fr-FR" sz="1200" dirty="0"/>
              <a:t>À l’achat d’un spa , obtenez une carte-cadeau de 1000$ ! Ne peut être appliqué sur le spa lui-même. La carte devra être activé et remise lors de la livraison du spa ou lors du paiement complet de la facture.</a:t>
            </a:r>
            <a:endParaRPr lang="fr-FR" sz="12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dirty="0"/>
              <a:t>Le levier, la marche, le GFCI sont </a:t>
            </a:r>
            <a:r>
              <a:rPr lang="fr-CA" sz="1200" b="1" dirty="0"/>
              <a:t>INCLUS</a:t>
            </a:r>
            <a:r>
              <a:rPr lang="fr-CA" sz="1200" dirty="0"/>
              <a:t>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dirty="0"/>
              <a:t>La livraison </a:t>
            </a:r>
            <a:r>
              <a:rPr lang="fr-FR" sz="1200" b="1" dirty="0"/>
              <a:t>N’EST PAS INCLUSE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dirty="0"/>
              <a:t>Aucune promo de financement.</a:t>
            </a:r>
          </a:p>
          <a:p>
            <a:endParaRPr lang="fr-CA" sz="1200" b="1" dirty="0"/>
          </a:p>
          <a:p>
            <a:pPr lvl="0"/>
            <a:r>
              <a:rPr lang="fr-CA" sz="1200" b="1" dirty="0"/>
              <a:t>Tous les modèles viennent avec la promotion ‘’Trousse énergétique </a:t>
            </a:r>
            <a:r>
              <a:rPr lang="fr-CA" sz="1200" b="1" dirty="0" err="1"/>
              <a:t>SmartTub</a:t>
            </a:r>
            <a:r>
              <a:rPr lang="fr-CA" sz="1200" b="1" dirty="0"/>
              <a:t> </a:t>
            </a:r>
            <a:r>
              <a:rPr lang="fr-CA" sz="1200" b="1" dirty="0" err="1"/>
              <a:t>play</a:t>
            </a:r>
            <a:r>
              <a:rPr lang="fr-CA" sz="1200" b="1" dirty="0"/>
              <a:t>’’ d’une valeur ajoutée de </a:t>
            </a:r>
            <a:r>
              <a:rPr lang="fr-CA" sz="1200" dirty="0"/>
              <a:t>: </a:t>
            </a:r>
            <a:endParaRPr lang="fr-CA" sz="1400" dirty="0">
              <a:effectLst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J-300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 + lumière extérieure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J-400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b="1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1199$ 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J-LX incluant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10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10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n’y a plus de trousse incluse avec la série J-200, en option seulement.</a:t>
            </a:r>
            <a:endParaRPr lang="fr-CA" sz="105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CA" sz="1600" dirty="0"/>
          </a:p>
          <a:p>
            <a:r>
              <a:rPr lang="fr-CA" sz="1200" b="1" dirty="0"/>
              <a:t>TAPIS CHAUFFANTS</a:t>
            </a:r>
            <a:r>
              <a:rPr lang="fr-CA" sz="1200" dirty="0"/>
              <a:t>: Rabais de 20% sur tous les tapis chauffants à prix réguliers.</a:t>
            </a:r>
          </a:p>
          <a:p>
            <a:endParaRPr lang="fr-CA" sz="1200" dirty="0"/>
          </a:p>
          <a:p>
            <a:r>
              <a:rPr lang="fr-CA" sz="1200" b="1" dirty="0"/>
              <a:t>PUBLICITÉ</a:t>
            </a:r>
            <a:r>
              <a:rPr lang="fr-CA" sz="1200" dirty="0"/>
              <a:t>: La promotion jusqu’à 2900$ de rabais et avantages + 1000$ en carte promotionnelle comprend jusqu’à 1000$ de rabais + 1900$ Trousse d’économie d’énergie + 1000$ en carte promo (valide 1 an à compter de la date d’émission). Modèles en inventaire seulement.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8C7895C-4014-4298-99F6-5FEF6B83122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D8509D8C-343F-06AD-5CD6-AAFAF86F10B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7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45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4062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1600" dirty="0"/>
          </a:p>
          <a:p>
            <a:r>
              <a:rPr lang="fr-CA" sz="1400" b="1" dirty="0"/>
              <a:t>SOLSTICE SPAS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/>
              <a:t>750$ de rabais </a:t>
            </a:r>
            <a:r>
              <a:rPr lang="fr-CA" sz="1400" dirty="0"/>
              <a:t>sur les modèles en inventaire applicable sur le prix régulier.</a:t>
            </a:r>
            <a:endParaRPr lang="fr-CA" sz="14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/>
              <a:t>CARTE –CADEAU: </a:t>
            </a:r>
            <a:r>
              <a:rPr lang="fr-FR" sz="1400" dirty="0"/>
              <a:t>À l’achat d’un spa , obtenez une carte-cadeau de 1000$ ! Ne peut être appliqué sur le spa lui-même. La carte devra être activée et remise lors de la livraison du spa ou lors du paiement complet de la facture.</a:t>
            </a:r>
            <a:endParaRPr lang="fr-FR" sz="1400" b="1" dirty="0"/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/>
              <a:t>PROMO: OBTENEZ 2 SERVIETTES SOLSTICE À L’ACHAT D’UN SPA </a:t>
            </a:r>
            <a:r>
              <a:rPr lang="fr-CA" sz="1400" dirty="0"/>
              <a:t>(</a:t>
            </a:r>
            <a:r>
              <a:rPr lang="fr-CA" sz="1400" i="1" dirty="0"/>
              <a:t>PTR 173988)</a:t>
            </a:r>
            <a:r>
              <a:rPr lang="fr-CA" sz="1400" dirty="0"/>
              <a:t>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/>
              <a:t>Le levier, la marche, le GFCI sont </a:t>
            </a:r>
            <a:r>
              <a:rPr lang="fr-CA" sz="1400" b="1" dirty="0"/>
              <a:t>INCLUS</a:t>
            </a:r>
            <a:r>
              <a:rPr lang="fr-CA" sz="1400" dirty="0"/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/>
              <a:t>La livraison </a:t>
            </a:r>
            <a:r>
              <a:rPr lang="fr-CA" sz="1400" b="1" dirty="0"/>
              <a:t>N’EST PAS INCLUSE</a:t>
            </a:r>
          </a:p>
          <a:p>
            <a:pPr lvl="0"/>
            <a:endParaRPr lang="fr-CA" sz="1400" b="1" dirty="0"/>
          </a:p>
          <a:p>
            <a:r>
              <a:rPr lang="fr-CA" sz="1400" b="1" dirty="0"/>
              <a:t>TAPIS CHAUFFANTS</a:t>
            </a:r>
            <a:r>
              <a:rPr lang="fr-CA" sz="1400" dirty="0"/>
              <a:t>: Rabais de 20% sur tous les tapis chauffants à prix réguliers.</a:t>
            </a:r>
          </a:p>
          <a:p>
            <a:endParaRPr lang="fr-CA" sz="1400" dirty="0">
              <a:highlight>
                <a:srgbClr val="FFFF00"/>
              </a:highlight>
            </a:endParaRPr>
          </a:p>
          <a:p>
            <a:endParaRPr lang="fr-CA" sz="1400" dirty="0"/>
          </a:p>
          <a:p>
            <a:r>
              <a:rPr lang="fr-CA" sz="1200" b="1" dirty="0"/>
              <a:t>INNOVAPSA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Spa Blizzard édition limitée en promotion à  6999$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Aucun rabais sur les autres modèles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Aucune promotion de financement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Le levier, la marche et le chimique sont vendus séparément.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La livraison n’est pas incluse.</a:t>
            </a:r>
            <a:r>
              <a:rPr lang="fr-CA" sz="1400" dirty="0"/>
              <a:t> </a:t>
            </a:r>
            <a:endParaRPr lang="fr-CA" sz="20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3</a:t>
            </a:fld>
            <a:endParaRPr lang="fr-CA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9FEAEB21-924D-0BB3-2089-762DCFE95A2A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7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8093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DE NAGE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2000" dirty="0"/>
          </a:p>
          <a:p>
            <a:r>
              <a:rPr lang="fr-CA" sz="1600" b="1" dirty="0"/>
              <a:t>SPA DE NAGE JACUZZI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2000$ sur les spas de nage </a:t>
            </a:r>
            <a:r>
              <a:rPr lang="fr-CA" sz="1600" b="1" dirty="0" err="1"/>
              <a:t>Poweractive</a:t>
            </a:r>
            <a:r>
              <a:rPr lang="fr-CA" sz="1600" b="1" dirty="0"/>
              <a:t> et </a:t>
            </a:r>
            <a:r>
              <a:rPr lang="fr-CA" sz="1600" b="1" dirty="0" err="1"/>
              <a:t>Powerpro</a:t>
            </a:r>
            <a:r>
              <a:rPr lang="fr-CA" sz="1600" b="1" dirty="0"/>
              <a:t> J-16 J-19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1000$ sur le J-13.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600" b="1" dirty="0"/>
              <a:t>CARTE –CADEAU: </a:t>
            </a:r>
            <a:r>
              <a:rPr lang="fr-FR" sz="1600" dirty="0"/>
              <a:t>À l’achat d’un spa , obtenez une carte-cadeau de 1000$ ! Ne peut être appliqué sur le spa lui-même. La carte devra être activée et remise lors de la livraison du spa ou lors du paiement complet de la facture.</a:t>
            </a:r>
            <a:endParaRPr lang="fr-F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livraison et frais de grue </a:t>
            </a:r>
            <a:r>
              <a:rPr lang="fr-CA" sz="1600" b="1" dirty="0"/>
              <a:t>NE SONT PAS INCLUS.</a:t>
            </a:r>
          </a:p>
          <a:p>
            <a:endParaRPr lang="fr-CA" sz="16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4</a:t>
            </a:fld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1EECA49-570A-45D0-B3D2-36F8939D94C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75" y="8604448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A7F81D3D-448A-5C14-F6F4-BD6CB39D6DE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7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775FD9-3F53-F1C8-F75E-4C30132DD58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24644" y="5335632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SAUNAS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88D168-C6BD-83A0-A7A2-5C74FEE645C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24643" y="5695672"/>
            <a:ext cx="6408713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Voir rabais en cours sur tous les PURE CUBE.</a:t>
            </a:r>
            <a:endParaRPr lang="fr-CA" sz="2000" dirty="0"/>
          </a:p>
          <a:p>
            <a:endParaRPr lang="fr-CA" sz="1600" b="1" dirty="0"/>
          </a:p>
        </p:txBody>
      </p:sp>
    </p:spTree>
    <p:extLst>
      <p:ext uri="{BB962C8B-B14F-4D97-AF65-F5344CB8AC3E}">
        <p14:creationId xmlns:p14="http://schemas.microsoft.com/office/powerpoint/2010/main" val="2478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MEUBLES ET PARASOLS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Les prix promo du Vendredi fou se poursuivent en décembre mais on bascule au prix 2025 (régulier et promo) pour certains meubles </a:t>
            </a:r>
            <a:r>
              <a:rPr lang="fr-CA" sz="1600" b="1" i="1" dirty="0" err="1"/>
              <a:t>repeat</a:t>
            </a:r>
            <a:r>
              <a:rPr lang="fr-CA" sz="1600" b="1" dirty="0"/>
              <a:t>. Voir </a:t>
            </a:r>
            <a:r>
              <a:rPr lang="fr-CA" sz="1600" b="1" dirty="0">
                <a:highlight>
                  <a:srgbClr val="FFFF00"/>
                </a:highlight>
              </a:rPr>
              <a:t>en jaune </a:t>
            </a:r>
            <a:r>
              <a:rPr lang="fr-CA" sz="1600" b="1" dirty="0"/>
              <a:t>dans l’annexe de MEUBLE. </a:t>
            </a:r>
            <a:endParaRPr lang="fr-FR" sz="1600" b="1" dirty="0">
              <a:highlight>
                <a:srgbClr val="FFFF00"/>
              </a:highlight>
            </a:endParaRPr>
          </a:p>
          <a:p>
            <a:endParaRPr lang="fr-CA" sz="1600" b="1" dirty="0"/>
          </a:p>
          <a:p>
            <a:endParaRPr lang="fr-CA" sz="16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5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03D57059-6F6C-1C0B-C433-B6111C46857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7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511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D76D5B-B0B5-42AC-B72B-0EBE42B8EC3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183569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GAZEBOS 2024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710E5B-75AB-401F-9969-A6297E0521B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2195736"/>
            <a:ext cx="6408713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On bascule au prix 2025 (régulier et promo) pour certains meubles </a:t>
            </a:r>
            <a:r>
              <a:rPr lang="fr-CA" sz="1600" b="1" i="1" dirty="0" err="1"/>
              <a:t>repeat</a:t>
            </a:r>
            <a:r>
              <a:rPr lang="fr-CA" sz="1600" b="1" dirty="0"/>
              <a:t>. Voir </a:t>
            </a:r>
            <a:r>
              <a:rPr lang="fr-CA" sz="1600" b="1" dirty="0">
                <a:highlight>
                  <a:srgbClr val="FFFF00"/>
                </a:highlight>
              </a:rPr>
              <a:t>en jaune </a:t>
            </a:r>
            <a:r>
              <a:rPr lang="fr-CA" sz="1600" b="1" dirty="0"/>
              <a:t>dans l’annexe GAZEBO. </a:t>
            </a:r>
            <a:endParaRPr lang="fr-FR" sz="1600" b="1" dirty="0">
              <a:highlight>
                <a:srgbClr val="FFFF00"/>
              </a:highlight>
            </a:endParaRPr>
          </a:p>
          <a:p>
            <a:endParaRPr lang="fr-CA" sz="1600" b="1" dirty="0"/>
          </a:p>
          <a:p>
            <a:pPr marL="342900" lvl="0" indent="-342900">
              <a:buFont typeface="Calibri Light" panose="020F0302020204030204" pitchFamily="34" charset="0"/>
              <a:buChar char="-"/>
            </a:pPr>
            <a:endParaRPr lang="fr-CA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6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0A162E0D-C84B-5103-A90E-753D24EAE91A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7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B98A85-28E6-9084-5552-296CB412346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435597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CABANONS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66828-647B-D170-87FC-F8145DDC9FA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4716016"/>
            <a:ext cx="640871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600" dirty="0"/>
              <a:t>Aucune promotion en cours</a:t>
            </a:r>
          </a:p>
        </p:txBody>
      </p:sp>
    </p:spTree>
    <p:extLst>
      <p:ext uri="{BB962C8B-B14F-4D97-AF65-F5344CB8AC3E}">
        <p14:creationId xmlns:p14="http://schemas.microsoft.com/office/powerpoint/2010/main" val="18552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BBQ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29546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b="1" dirty="0">
                <a:latin typeface="Calibri" panose="020F0502020204030204" pitchFamily="34" charset="0"/>
              </a:rPr>
              <a:t>Aucune promotion du fournisseur. Voir rabais en cours dans l’annexe.</a:t>
            </a:r>
            <a:endParaRPr lang="fr-CA" dirty="0"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latin typeface="Calibri" panose="020F0502020204030204" pitchFamily="34" charset="0"/>
              </a:rPr>
              <a:t>Tous les accessoires </a:t>
            </a:r>
            <a:r>
              <a:rPr lang="fr-CA" dirty="0" err="1">
                <a:latin typeface="Calibri" panose="020F0502020204030204" pitchFamily="34" charset="0"/>
              </a:rPr>
              <a:t>Kitchen</a:t>
            </a:r>
            <a:r>
              <a:rPr lang="fr-CA" dirty="0">
                <a:latin typeface="Calibri" panose="020F0502020204030204" pitchFamily="34" charset="0"/>
              </a:rPr>
              <a:t> </a:t>
            </a:r>
            <a:r>
              <a:rPr lang="fr-CA" dirty="0" err="1">
                <a:latin typeface="Calibri" panose="020F0502020204030204" pitchFamily="34" charset="0"/>
              </a:rPr>
              <a:t>Aid</a:t>
            </a:r>
            <a:r>
              <a:rPr lang="fr-CA" dirty="0">
                <a:latin typeface="Calibri" panose="020F0502020204030204" pitchFamily="34" charset="0"/>
              </a:rPr>
              <a:t> et </a:t>
            </a:r>
            <a:r>
              <a:rPr lang="fr-CA" dirty="0" err="1">
                <a:latin typeface="Calibri" panose="020F0502020204030204" pitchFamily="34" charset="0"/>
              </a:rPr>
              <a:t>Megamaster</a:t>
            </a:r>
            <a:r>
              <a:rPr lang="fr-CA" dirty="0">
                <a:latin typeface="Calibri" panose="020F0502020204030204" pitchFamily="34" charset="0"/>
              </a:rPr>
              <a:t> sont à 50% de rabais jusqu’à épuisement des stocks.</a:t>
            </a:r>
          </a:p>
          <a:p>
            <a:endParaRPr lang="fr-CA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2DBC70-3186-48CE-819F-361D4296B6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7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783D21B-B117-4026-9C7F-49C36B6A584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7" y="8411910"/>
            <a:ext cx="2492896" cy="402434"/>
          </a:xfrm>
          <a:prstGeom prst="rect">
            <a:avLst/>
          </a:prstGeom>
        </p:spPr>
      </p:pic>
      <p:sp>
        <p:nvSpPr>
          <p:cNvPr id="3" name="Zone de texte 28">
            <a:extLst>
              <a:ext uri="{FF2B5EF4-FFF2-40B4-BE49-F238E27FC236}">
                <a16:creationId xmlns:a16="http://schemas.microsoft.com/office/drawing/2014/main" id="{06DA51CB-48AE-022D-713C-4EFDF21B11C9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7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4054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6" y="1779769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HORS TERRE 2025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8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8BA23A4-D293-442A-8E64-DD7EEB3C81B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6" y="2139809"/>
            <a:ext cx="6408713" cy="38164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CARVIN  &amp; TRENDIUM (VOGUE) 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Nouveaux prix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1000$ </a:t>
            </a:r>
            <a:r>
              <a:rPr lang="fr-CA" sz="1400" dirty="0"/>
              <a:t>sur toutes les piscines hors terre Seules, Équipées et Équipées &amp; Installées.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GRATUIT! Robot Aqua </a:t>
            </a:r>
            <a:r>
              <a:rPr lang="fr-CA" sz="1400" b="1" dirty="0" err="1"/>
              <a:t>products</a:t>
            </a:r>
            <a:r>
              <a:rPr lang="fr-CA" sz="1400" b="1" dirty="0"/>
              <a:t> SOL </a:t>
            </a:r>
            <a:r>
              <a:rPr lang="fr-CA" sz="1400" dirty="0"/>
              <a:t>(valeur de 599$) offert avec tout achat de piscine (PTR 179035 )!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400" dirty="0"/>
              <a:t>Si le client ne prend pas le robot, on offre un rabais additionnel de 300$.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300$</a:t>
            </a:r>
            <a:r>
              <a:rPr lang="fr-CA" sz="1400" dirty="0"/>
              <a:t> sur prix régulier d’une thermopompe SOLSTICE ou TTI. Le rabais est le même que si la thermopompe est achetée seule.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/>
              <a:t>L’installation de la Thermopompe et le By-pass ne </a:t>
            </a:r>
            <a:r>
              <a:rPr lang="fr-CA" sz="1400" b="1" dirty="0"/>
              <a:t>sont pas inclus.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b="1" dirty="0"/>
          </a:p>
          <a:p>
            <a:endParaRPr lang="fr-CA" sz="1400" dirty="0"/>
          </a:p>
          <a:p>
            <a:endParaRPr lang="fr-CA" sz="1400" dirty="0"/>
          </a:p>
          <a:p>
            <a:r>
              <a:rPr lang="fr-CA" sz="1400" dirty="0"/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400" dirty="0"/>
              <a:t>Bracelet </a:t>
            </a:r>
            <a:r>
              <a:rPr lang="fr-CA" sz="1400" b="1" dirty="0"/>
              <a:t>SURVEILLANT DÉSIGNÉ</a:t>
            </a:r>
            <a:r>
              <a:rPr lang="fr-CA" sz="1400" dirty="0"/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400" dirty="0"/>
              <a:t>2 serviettes Club Piscine</a:t>
            </a:r>
            <a:endParaRPr lang="fr-CA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0515F779-2714-30D9-1318-0B70F5821AFE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7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BOIS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9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42F5A22-327C-4D75-9397-912D5DCB218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2128086"/>
            <a:ext cx="6408713" cy="40318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AQUABOIS 2024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750$ </a:t>
            </a:r>
            <a:r>
              <a:rPr lang="fr-CA" sz="1600" dirty="0"/>
              <a:t>sur le prix régulier de toutes les piscines de bois hors sol ou semi-creusées 2023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Exception: La </a:t>
            </a:r>
            <a:r>
              <a:rPr lang="fr-CA" sz="1600" dirty="0" err="1"/>
              <a:t>Tundra</a:t>
            </a:r>
            <a:r>
              <a:rPr lang="fr-CA" sz="1600" dirty="0"/>
              <a:t> hors sol a 1250$ de rabais.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300$</a:t>
            </a:r>
            <a:r>
              <a:rPr lang="fr-CA" sz="1600" dirty="0"/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L’installation de la Thermopompe et le By-pass ne </a:t>
            </a:r>
            <a:r>
              <a:rPr lang="fr-CA" sz="1600" b="1" dirty="0"/>
              <a:t>sont pas inclus.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teinture est incluse sur toutes les piscines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Aucune promotion de financement</a:t>
            </a:r>
          </a:p>
          <a:p>
            <a:endParaRPr lang="fr-CA" sz="1600" b="1" dirty="0"/>
          </a:p>
          <a:p>
            <a:endParaRPr lang="fr-CA" sz="1600" dirty="0"/>
          </a:p>
          <a:p>
            <a:r>
              <a:rPr lang="fr-CA" sz="1600" dirty="0"/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600" dirty="0"/>
              <a:t>Bracelet </a:t>
            </a:r>
            <a:r>
              <a:rPr lang="fr-CA" sz="1600" b="1" dirty="0"/>
              <a:t>SURVEILLANT DÉSIGNÉ</a:t>
            </a:r>
            <a:r>
              <a:rPr lang="fr-CA" sz="1600" dirty="0"/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600" dirty="0"/>
              <a:t>2 serviettes Club Piscine</a:t>
            </a:r>
          </a:p>
          <a:p>
            <a:endParaRPr lang="fr-CA" sz="1400" i="1" dirty="0"/>
          </a:p>
          <a:p>
            <a:endParaRPr lang="fr-CA" sz="1600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F94A0BDA-22DF-D760-024C-26F154DB504C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7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8611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CREUSÉES 2025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10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CB57BEBA-A86A-4781-AB89-09D90C196ACE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7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D5E6B-810F-498E-B14D-305B2F9FD92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2135574"/>
            <a:ext cx="6408713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300" b="1" dirty="0">
                <a:sym typeface="Wingdings" panose="05000000000000000000" pitchFamily="2" charset="2"/>
              </a:rPr>
              <a:t>LATHAM ACIER et IMPERIAL POOL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1300" dirty="0">
                <a:ea typeface="Calibri" panose="020F0502020204030204" pitchFamily="34" charset="0"/>
                <a:cs typeface="Times New Roman" panose="02020603050405020304" pitchFamily="18" charset="0"/>
              </a:rPr>
              <a:t>Nouveaux prix 2025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1300" dirty="0">
                <a:ea typeface="Calibri" panose="020F0502020204030204" pitchFamily="34" charset="0"/>
                <a:cs typeface="Times New Roman" panose="02020603050405020304" pitchFamily="18" charset="0"/>
              </a:rPr>
              <a:t>RABAIS DE 4000$ SUR TOUTES LES PISCINES EN ACIER  + THERMOPOMPE 50K BTU SOLSTICE INCLUSE (l’installation de la thermopompe est incluse aussi).</a:t>
            </a:r>
            <a:endParaRPr lang="fr-CA" sz="1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sz="1300" dirty="0"/>
          </a:p>
          <a:p>
            <a:r>
              <a:rPr lang="fr-CA" sz="1300" dirty="0"/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300" dirty="0"/>
              <a:t>Bracelet </a:t>
            </a:r>
            <a:r>
              <a:rPr lang="fr-CA" sz="1300" b="1" dirty="0"/>
              <a:t>SURVEILLANT DÉSIGNÉ</a:t>
            </a:r>
            <a:r>
              <a:rPr lang="fr-CA" sz="1300" dirty="0"/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300" dirty="0"/>
              <a:t>2 serviettes Club Piscine</a:t>
            </a:r>
          </a:p>
          <a:p>
            <a:pPr lvl="0"/>
            <a:endParaRPr lang="fr-CA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E7EE2-A4B2-5123-50DA-E1A69941C17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399593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FIBRE 2025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BCA58-4012-A7FA-44D3-BA017B8DA66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4351383"/>
            <a:ext cx="6408713" cy="39087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300" b="1" dirty="0">
                <a:sym typeface="Wingdings" panose="05000000000000000000" pitchFamily="2" charset="2"/>
              </a:rPr>
              <a:t>MOVA</a:t>
            </a:r>
            <a:endParaRPr lang="fr-CA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Aucun changement. Rabais de jusqu’à 4500$ </a:t>
            </a:r>
            <a:r>
              <a:rPr lang="fr-CA" sz="1300" dirty="0"/>
              <a:t>sur certains modèles MOVA équipées et installées (rabais de 2500$ si piscine seule).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RABAIS DE 1500$ </a:t>
            </a:r>
            <a:r>
              <a:rPr lang="fr-CA" sz="1300" dirty="0"/>
              <a:t>(50% de rabais) sur le combo Thermopompe Solstice et le </a:t>
            </a:r>
            <a:r>
              <a:rPr lang="fr-CA" sz="1300" dirty="0" err="1"/>
              <a:t>chlorateur</a:t>
            </a:r>
            <a:r>
              <a:rPr lang="fr-CA" sz="1300" dirty="0"/>
              <a:t> au sel POLARIS </a:t>
            </a:r>
            <a:r>
              <a:rPr lang="fr-CA" sz="1300" dirty="0" err="1"/>
              <a:t>Autoclear</a:t>
            </a:r>
            <a:r>
              <a:rPr lang="fr-CA" sz="1300" dirty="0"/>
              <a:t> (ou équivalent) à prix régulier.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dirty="0"/>
              <a:t>Aucune promotion de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300" b="1" dirty="0"/>
          </a:p>
          <a:p>
            <a:r>
              <a:rPr lang="fr-CA" sz="1300" b="1" dirty="0">
                <a:sym typeface="Wingdings" panose="05000000000000000000" pitchFamily="2" charset="2"/>
              </a:rPr>
              <a:t>AQUARINO</a:t>
            </a:r>
            <a:endParaRPr lang="fr-CA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Nouveaux Prix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Rabais jusqu’à 7500$ </a:t>
            </a:r>
            <a:r>
              <a:rPr lang="fr-CA" sz="1300" dirty="0"/>
              <a:t>sur certaines piscines AQUARINO équipées et installées (rabais de 3500$ si piscine seule).</a:t>
            </a:r>
            <a:endParaRPr lang="fr-CA" sz="13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COMBO </a:t>
            </a:r>
            <a:r>
              <a:rPr lang="fr-CA" sz="1300" b="1" dirty="0" err="1"/>
              <a:t>Chlorinateur+Thermopome</a:t>
            </a:r>
            <a:r>
              <a:rPr lang="fr-CA" sz="1300" b="1" dirty="0"/>
              <a:t> GRATUIT: </a:t>
            </a:r>
            <a:r>
              <a:rPr lang="fr-CA" sz="1300" dirty="0"/>
              <a:t>Comprend le combo Thermopompe Solstice 50k BTU et le </a:t>
            </a:r>
            <a:r>
              <a:rPr lang="fr-CA" sz="1300" dirty="0" err="1"/>
              <a:t>chlorinateur</a:t>
            </a:r>
            <a:r>
              <a:rPr lang="fr-CA" sz="1300" dirty="0"/>
              <a:t> au sel MOOV </a:t>
            </a:r>
            <a:r>
              <a:rPr lang="fr-CA" sz="1300" dirty="0" err="1"/>
              <a:t>minisalt</a:t>
            </a:r>
            <a:r>
              <a:rPr lang="fr-CA" sz="1300" dirty="0"/>
              <a:t> 50k L (ou équivalent). Modèle TANZA exclu de la promotion.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300" dirty="0"/>
          </a:p>
          <a:p>
            <a:r>
              <a:rPr lang="fr-CA" sz="1300" dirty="0"/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300" dirty="0"/>
              <a:t>Bracelet </a:t>
            </a:r>
            <a:r>
              <a:rPr lang="fr-CA" sz="1300" b="1" dirty="0"/>
              <a:t>SURVEILLANT DÉSIGNÉ</a:t>
            </a:r>
            <a:r>
              <a:rPr lang="fr-CA" sz="1300" dirty="0"/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300" dirty="0"/>
              <a:t>2 serviettes Club Piscine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/>
          </a:p>
        </p:txBody>
      </p:sp>
    </p:spTree>
    <p:extLst>
      <p:ext uri="{BB962C8B-B14F-4D97-AF65-F5344CB8AC3E}">
        <p14:creationId xmlns:p14="http://schemas.microsoft.com/office/powerpoint/2010/main" val="2562470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7 </a:t>
            </a:r>
            <a:r>
              <a:rPr lang="en-CA" sz="28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THERMOPOMPES 2025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6"/>
            <a:ext cx="6408713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SOLSTICE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300$</a:t>
            </a:r>
            <a:r>
              <a:rPr lang="fr-CA" sz="1600" dirty="0"/>
              <a:t> sur le prix RÉGULIER de toutes les Thermopompes SOLSTICE.</a:t>
            </a:r>
          </a:p>
          <a:p>
            <a:endParaRPr lang="fr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r>
              <a:rPr lang="fr-CA" sz="1600" b="1" dirty="0"/>
              <a:t>TTI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300$ </a:t>
            </a:r>
            <a:r>
              <a:rPr lang="fr-CA" sz="1600" dirty="0"/>
              <a:t>sur tous les modèles TTI</a:t>
            </a:r>
            <a:endParaRPr lang="fr-CA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lvl="1"/>
            <a:endParaRPr lang="fr-CA" sz="1600" dirty="0"/>
          </a:p>
          <a:p>
            <a:endParaRPr lang="fr-CA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C4BD33-7303-4103-A793-21C93DC0B4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543609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ACCESSOIRES PISCINES ET SPAS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BEC494-D4C8-48DB-B968-4FEB2152C3A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11</a:t>
            </a:fld>
            <a:endParaRPr lang="fr-CA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EE3DC31-EFFB-4C17-9CC7-30E1AD45072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5624A4-969B-1056-5A11-C3594EF3D2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75720" y="5796136"/>
            <a:ext cx="6408713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On poursuit le rabais en cours sur la pompe et filtreur Polaris. Voir Annexes ACC HORS TERRE.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endParaRPr lang="fr-FR" sz="1600" b="1" dirty="0">
              <a:highlight>
                <a:srgbClr val="7FCDE9"/>
              </a:highlight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20% de </a:t>
            </a:r>
            <a:r>
              <a:rPr lang="en-CA" sz="1600" dirty="0" err="1"/>
              <a:t>rabais</a:t>
            </a:r>
            <a:r>
              <a:rPr lang="en-CA" sz="1600" dirty="0"/>
              <a:t> sur les tapis </a:t>
            </a:r>
            <a:r>
              <a:rPr lang="en-CA" sz="1600" dirty="0" err="1"/>
              <a:t>chauffants</a:t>
            </a:r>
            <a:endParaRPr lang="en-CA" sz="16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825CD56-A3C5-E20F-C93D-FD24C5FA850D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12481" y="6444208"/>
            <a:ext cx="5705044" cy="15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60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CHIMIQUE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12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6CD2D8-10E2-4C68-A85E-66B4BD875B6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41641" y="2260613"/>
            <a:ext cx="6408713" cy="464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dirty="0"/>
              <a:t>Même rabais en cours sur le chlore et le sel. Voir Annexes.</a:t>
            </a:r>
          </a:p>
        </p:txBody>
      </p:sp>
      <p:sp>
        <p:nvSpPr>
          <p:cNvPr id="8" name="Zone de texte 28">
            <a:extLst>
              <a:ext uri="{FF2B5EF4-FFF2-40B4-BE49-F238E27FC236}">
                <a16:creationId xmlns:a16="http://schemas.microsoft.com/office/drawing/2014/main" id="{DE1BFEE4-4674-BCD0-5B3D-603FE4AB0381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7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494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FITNESS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Voir annexes pour les nouveaux rabais en cours.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Nouveautés prévues en janvier 2025.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13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Zone de texte 28">
            <a:extLst>
              <a:ext uri="{FF2B5EF4-FFF2-40B4-BE49-F238E27FC236}">
                <a16:creationId xmlns:a16="http://schemas.microsoft.com/office/drawing/2014/main" id="{B2EEE3DC-3491-9AB7-66FD-4D31A25D635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7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4416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FINANCEMENT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4"/>
            <a:ext cx="6408713" cy="5355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/>
              <a:t>FAIRSTONE </a:t>
            </a:r>
            <a:endParaRPr lang="fr-CA" sz="1600" b="1" dirty="0">
              <a:highlight>
                <a:srgbClr val="FFFF00"/>
              </a:highlight>
            </a:endParaRPr>
          </a:p>
          <a:p>
            <a:r>
              <a:rPr lang="fr-CA" sz="1400" b="1" dirty="0"/>
              <a:t>Plans de financement réguliers: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Autres : </a:t>
            </a:r>
            <a:r>
              <a:rPr lang="fr-CA" sz="1400" dirty="0"/>
              <a:t>Il est possible d’offrir l’un des 5 plans qui sont également offerts en ligne à l’achat de 500$ et+ . Voir votre gestionnaire pour plus de détail.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400" b="1" dirty="0"/>
              <a:t>3 mois sans paiement ( code 12030)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400" b="1" dirty="0"/>
              <a:t>12 mois différé avec paiement mensuel min. de 5% (code 13120)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CA" sz="1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Avec intérêt:</a:t>
            </a:r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/>
            <a:endParaRPr lang="fr-CA" sz="1600" b="1" dirty="0"/>
          </a:p>
          <a:p>
            <a:r>
              <a:rPr lang="fr-CA" sz="1600" b="1" dirty="0"/>
              <a:t>FINANCE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PISCINE CREUSÉE &amp; FIBRE : </a:t>
            </a:r>
            <a:r>
              <a:rPr lang="fr-CA" sz="1400" dirty="0"/>
              <a:t>Aucun financement inclus dans la promotion du mois mais il est suggéré d’utiliser le Financement </a:t>
            </a:r>
            <a:r>
              <a:rPr lang="fr-CA" sz="1400" b="1" dirty="0"/>
              <a:t>FINANCE IT </a:t>
            </a:r>
            <a:r>
              <a:rPr lang="fr-CA" sz="1400" dirty="0"/>
              <a:t>car le plafond de financement n’est pas limité à 30K$. Suggestion : Promo 6 mois sans paiement.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/>
              <a:t>Prêt ouvert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/>
              <a:t>Financement sur terme @ 13.99% pour le consommateur.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/>
              <a:t>Le 6 mois débute à la livraison/installation.</a:t>
            </a:r>
            <a:endParaRPr lang="fr-CA" sz="16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14</a:t>
            </a:fld>
            <a:endParaRPr lang="fr-CA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88D9F2B-CBC4-4BB5-AAFD-1DAE9256203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629475"/>
            <a:ext cx="2492896" cy="40243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7605141-FA74-5EED-1FEA-96577633EC4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979104" y="3872888"/>
            <a:ext cx="2971798" cy="1865703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F1CDD729-D564-8E3A-F4B6-4E5FF1FDDC80}"/>
              </a:ext>
            </a:extLst>
          </p:cNvPr>
          <p:cNvSpPr txBox="1"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4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décembre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au 7 </a:t>
            </a:r>
            <a:r>
              <a:rPr lang="en-CA" sz="3200" dirty="0" err="1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janvier</a:t>
            </a: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935674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0279977-0361-45B9-9F5B-EC9E232842A6}"/>
</file>

<file path=customXml/itemProps2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E1C49C-B943-4250-BB39-87973E798E95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8682f7ec-9bef-4d6d-8d5c-0ec39e002ff3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49747</TotalTime>
  <Words>1594</Words>
  <Application>Microsoft Office PowerPoint</Application>
  <PresentationFormat>Affichage à l'écran (4:3)</PresentationFormat>
  <Paragraphs>193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4" baseType="lpstr">
      <vt:lpstr>Aptos</vt:lpstr>
      <vt:lpstr>Arial</vt:lpstr>
      <vt:lpstr>Arial Black</vt:lpstr>
      <vt:lpstr>Calibri</vt:lpstr>
      <vt:lpstr>Calibri Light</vt:lpstr>
      <vt:lpstr>Courier New</vt:lpstr>
      <vt:lpstr>Symbol</vt:lpstr>
      <vt:lpstr>Times New Roman</vt:lpstr>
      <vt:lpstr>Wingdings</vt:lpstr>
      <vt:lpstr>Thème Office</vt:lpstr>
      <vt:lpstr>Présentation PowerPoint</vt:lpstr>
      <vt:lpstr>Instructions de vente 4 décembre au 7 janvier 2025</vt:lpstr>
      <vt:lpstr>Instructions de vente 4 décembre au 7 janvier 2025</vt:lpstr>
      <vt:lpstr>Instructions de vente 4 décembre au 7 janvier 2025</vt:lpstr>
      <vt:lpstr>Instructions de vente 4 décembre au 7 janvier 2025</vt:lpstr>
      <vt:lpstr>Instructions de vente 4 décembre au 7 janvier 2025</vt:lpstr>
      <vt:lpstr>Instructions de vente 4 décembre au 7 janvier 2025</vt:lpstr>
      <vt:lpstr>Instructions de vente 4 décembre au 7 janvier 2025</vt:lpstr>
      <vt:lpstr>Instructions de vente 4 décembre au 7 janvier 2025</vt:lpstr>
      <vt:lpstr>Instructions de vente 4 décembre au 7 janvier 2025</vt:lpstr>
      <vt:lpstr>Instructions de vente 4 décembre au 7 janvier 2025</vt:lpstr>
      <vt:lpstr>Instructions de vente 4 décembre au 7 janvier 2025</vt:lpstr>
      <vt:lpstr>Instructions de vente 4 décembre au 7 janvier 2025</vt:lpstr>
      <vt:lpstr>Instructions de vente 4 décembre au 7 janvier 2025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1504</cp:revision>
  <cp:lastPrinted>2022-04-27T14:46:34Z</cp:lastPrinted>
  <dcterms:created xsi:type="dcterms:W3CDTF">2017-05-24T18:44:46Z</dcterms:created>
  <dcterms:modified xsi:type="dcterms:W3CDTF">2024-11-29T17:37:47Z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