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65" r:id="rId5"/>
    <p:sldId id="281" r:id="rId6"/>
    <p:sldId id="276" r:id="rId7"/>
    <p:sldId id="285" r:id="rId8"/>
    <p:sldId id="266" r:id="rId9"/>
    <p:sldId id="280" r:id="rId10"/>
    <p:sldId id="273" r:id="rId11"/>
    <p:sldId id="267" r:id="rId12"/>
    <p:sldId id="268" r:id="rId13"/>
    <p:sldId id="275" r:id="rId14"/>
    <p:sldId id="270" r:id="rId15"/>
    <p:sldId id="284" r:id="rId16"/>
    <p:sldId id="264" r:id="rId17"/>
    <p:sldId id="272" r:id="rId18"/>
    <p:sldId id="286" r:id="rId19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CDE9"/>
    <a:srgbClr val="218BCB"/>
    <a:srgbClr val="229FCC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94"/>
  </p:normalViewPr>
  <p:slideViewPr>
    <p:cSldViewPr>
      <p:cViewPr varScale="1">
        <p:scale>
          <a:sx n="79" d="100"/>
          <a:sy n="79" d="100"/>
        </p:scale>
        <p:origin x="3054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26/09/2024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2024-09-26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2024-09-26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2024-09-26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2024-09-26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2024-09-26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2024-09-26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2024-09-26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2024-09-26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2024-09-26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2024-09-26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2024-09-26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2024-09-26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.xml"/><Relationship Id="rId7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1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1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image" Target="../media/image1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image" Target="../media/image1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7" Type="http://schemas.openxmlformats.org/officeDocument/2006/relationships/image" Target="../media/image1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3.png"/><Relationship Id="rId4" Type="http://schemas.openxmlformats.org/officeDocument/2006/relationships/tags" Target="../tags/tag56.xml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7" Type="http://schemas.openxmlformats.org/officeDocument/2006/relationships/image" Target="../media/image1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4.xml"/><Relationship Id="rId4" Type="http://schemas.openxmlformats.org/officeDocument/2006/relationships/tags" Target="../tags/tag6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7" Type="http://schemas.openxmlformats.org/officeDocument/2006/relationships/image" Target="../media/image1.pn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9.xml"/><Relationship Id="rId4" Type="http://schemas.openxmlformats.org/officeDocument/2006/relationships/tags" Target="../tags/tag6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72.xml"/><Relationship Id="rId7" Type="http://schemas.openxmlformats.org/officeDocument/2006/relationships/image" Target="../media/image1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4.xml"/><Relationship Id="rId4" Type="http://schemas.openxmlformats.org/officeDocument/2006/relationships/tags" Target="../tags/tag7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77.xml"/><Relationship Id="rId7" Type="http://schemas.openxmlformats.org/officeDocument/2006/relationships/image" Target="../media/image1.pn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9.xml"/><Relationship Id="rId4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571706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RÉSUMÉ DES PROMOS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334374"/>
            <a:ext cx="6408713" cy="5278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Voici les principaux changements:</a:t>
            </a:r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MEUBLE: 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Même rabais mais on ajoute la promotion de </a:t>
            </a:r>
            <a:r>
              <a:rPr lang="fr-CA" sz="1400" dirty="0">
                <a:solidFill>
                  <a:schemeClr val="accent6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financement 6 mois sans paiement.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ajoute les foyers Home Run dans la promotion ‘’on paie l’équivalent des 2 taxes’’ sur les chauffe-terrasse et table-foyer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GAZEBOS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 Pour les nouveaux modèles </a:t>
            </a:r>
            <a:r>
              <a:rPr lang="fr-CA" sz="14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Visscher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seulement, ajout de la promo </a:t>
            </a:r>
            <a:r>
              <a:rPr lang="fr-CA" sz="1400" dirty="0">
                <a:solidFill>
                  <a:schemeClr val="accent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6 mois sans paiement.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PISCINES HT :   </a:t>
            </a: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1300$ de rabais sur toutes les piscines hors terre  + </a:t>
            </a:r>
            <a:r>
              <a:rPr lang="fr-CA" sz="1400" dirty="0">
                <a:solidFill>
                  <a:schemeClr val="accent6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 mois sans paiement</a:t>
            </a:r>
            <a:r>
              <a:rPr lang="fr-CA" sz="1400" dirty="0">
                <a:solidFill>
                  <a:schemeClr val="accent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. </a:t>
            </a: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 de rabais additionnel sur la thermopompe.</a:t>
            </a:r>
            <a:endParaRPr lang="fr-CA" sz="14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THERMO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Rabais de 200$ sur les modèles Solstice et TTI + </a:t>
            </a:r>
            <a:r>
              <a:rPr lang="fr-CA" sz="1400" dirty="0">
                <a:solidFill>
                  <a:schemeClr val="accent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6 mois sans paiement.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AUTRE: 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Fin de la promo 15% sur les filtres. Les autres promos du manufacturier se poursuivent.</a:t>
            </a:r>
          </a:p>
          <a:p>
            <a:endParaRPr lang="en-CA" sz="14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endParaRPr lang="fr-CA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endParaRPr lang="fr-CA" sz="14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CA" sz="1200" i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Tous les détails des promotions aux pages suivantes. Les codes des plans de financement se trouvent à la dernière page.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  <p:sp>
        <p:nvSpPr>
          <p:cNvPr id="7" name="Zone de texte 28">
            <a:extLst>
              <a:ext uri="{FF2B5EF4-FFF2-40B4-BE49-F238E27FC236}">
                <a16:creationId xmlns:a16="http://schemas.microsoft.com/office/drawing/2014/main" id="{9954BF8A-DD31-9DF8-A9CE-38C033095C3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 au 29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355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54476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200" b="1" dirty="0"/>
              <a:t>JACUZZI </a:t>
            </a:r>
            <a:endParaRPr lang="fr-CA" sz="1200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b="1" dirty="0"/>
              <a:t>1000$ de rabais </a:t>
            </a:r>
            <a:r>
              <a:rPr lang="fr-CA" sz="1200" dirty="0"/>
              <a:t>sur la série J300 et J400 (sauf le J495)</a:t>
            </a:r>
            <a:endParaRPr lang="fr-CA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b="1" dirty="0"/>
              <a:t>750$ de rabais </a:t>
            </a:r>
            <a:r>
              <a:rPr lang="fr-CA" sz="1200" dirty="0"/>
              <a:t>sur la série J200 (Smart tub non inclus sur les modèles J200 2024)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fr-CA" sz="1200" b="1" dirty="0">
                <a:solidFill>
                  <a:schemeClr val="accent6"/>
                </a:solidFill>
              </a:rPr>
              <a:t>PROMO DU MANUFACTURIER! </a:t>
            </a:r>
            <a:r>
              <a:rPr lang="fr-CA" sz="1200" b="1" dirty="0" err="1"/>
              <a:t>Sensor</a:t>
            </a:r>
            <a:r>
              <a:rPr lang="fr-CA" sz="1200" b="1" dirty="0"/>
              <a:t> kit GRATUIT à l’achat des J300, J400 et JLX!</a:t>
            </a:r>
            <a:r>
              <a:rPr lang="fr-CA" sz="1200" dirty="0"/>
              <a:t> </a:t>
            </a:r>
            <a:r>
              <a:rPr lang="fr-FR" sz="1200" dirty="0">
                <a:effectLst/>
                <a:latin typeface="-apple-system"/>
              </a:rPr>
              <a:t>Obtenez un ensemble de capteurs gratuit à l’achat d’un spa Jacuzzi incluant </a:t>
            </a:r>
            <a:r>
              <a:rPr lang="fr-FR" sz="1200" dirty="0">
                <a:latin typeface="-apple-system"/>
              </a:rPr>
              <a:t>(PTR</a:t>
            </a:r>
            <a:r>
              <a:rPr lang="fr-CA" sz="1200" dirty="0">
                <a:latin typeface="-apple-system"/>
              </a:rPr>
              <a:t>180519 </a:t>
            </a:r>
            <a:r>
              <a:rPr lang="fr-FR" sz="1200" dirty="0">
                <a:effectLst/>
                <a:latin typeface="-apple-system"/>
              </a:rPr>
              <a:t>valeur de 299$): 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200" dirty="0">
                <a:effectLst/>
                <a:latin typeface="-apple-system"/>
              </a:rPr>
              <a:t>Un capteur de couvercle de spa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200" dirty="0">
                <a:effectLst/>
                <a:latin typeface="-apple-system"/>
              </a:rPr>
              <a:t>Un capteur de drainage et de remplissage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200" dirty="0">
                <a:effectLst/>
                <a:latin typeface="-apple-system"/>
              </a:rPr>
              <a:t>Détecteur d’eau </a:t>
            </a:r>
          </a:p>
          <a:p>
            <a:r>
              <a:rPr lang="fr-FR" sz="1200" dirty="0">
                <a:effectLst/>
                <a:latin typeface="-apple-system"/>
              </a:rPr>
              <a:t> </a:t>
            </a:r>
            <a:r>
              <a:rPr lang="fr-CA" sz="1200" dirty="0"/>
              <a:t>	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200" b="1" dirty="0"/>
              <a:t>Tapis chauffants GRATUITS! </a:t>
            </a:r>
            <a:r>
              <a:rPr lang="fr-FR" sz="1200" dirty="0"/>
              <a:t>Nous suggérons le combo en jaune ci-dessous mais le client peut choisir les tapis de son choix pour une valeur totale maximale de 929$. On souhaite ici favoriser les </a:t>
            </a:r>
            <a:r>
              <a:rPr lang="fr-FR" sz="1200" i="1" dirty="0" err="1"/>
              <a:t>upsale</a:t>
            </a:r>
            <a:r>
              <a:rPr lang="fr-FR" sz="1200" dirty="0"/>
              <a:t> et donc de vendre des tapis additionnels au client. Si le client ne prend pas les tapis, on enlève un montant de 200$: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dirty="0"/>
              <a:t>Le levier, la marche, le GFCI sont </a:t>
            </a:r>
            <a:r>
              <a:rPr lang="fr-CA" sz="1200" b="1" dirty="0"/>
              <a:t>INCLUS</a:t>
            </a:r>
            <a:r>
              <a:rPr lang="fr-CA" sz="1200" dirty="0"/>
              <a:t>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200" dirty="0"/>
              <a:t>La livraison </a:t>
            </a:r>
            <a:r>
              <a:rPr lang="fr-FR" sz="1200" b="1" dirty="0"/>
              <a:t>N’EST PAS INCLUSE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200" dirty="0"/>
              <a:t>Aucune promo de financement.</a:t>
            </a:r>
          </a:p>
          <a:p>
            <a:endParaRPr lang="fr-CA" sz="1200" b="1" dirty="0"/>
          </a:p>
          <a:p>
            <a:pPr lvl="0"/>
            <a:r>
              <a:rPr lang="fr-CA" sz="1200" b="1" dirty="0"/>
              <a:t>Tous les modèles 2024 viennent avec la promotion ‘’Trousse énergétique </a:t>
            </a:r>
            <a:r>
              <a:rPr lang="fr-CA" sz="1200" b="1" dirty="0" err="1"/>
              <a:t>SmartTub</a:t>
            </a:r>
            <a:r>
              <a:rPr lang="fr-CA" sz="1200" b="1" dirty="0"/>
              <a:t> </a:t>
            </a:r>
            <a:r>
              <a:rPr lang="fr-CA" sz="1200" b="1" dirty="0" err="1"/>
              <a:t>play</a:t>
            </a:r>
            <a:r>
              <a:rPr lang="fr-CA" sz="1200" b="1" dirty="0"/>
              <a:t>’’ d’une valeur ajoutée de </a:t>
            </a:r>
            <a:r>
              <a:rPr lang="fr-CA" sz="1200" dirty="0"/>
              <a:t>: </a:t>
            </a:r>
            <a:endParaRPr lang="fr-CA" sz="1400" dirty="0">
              <a:effectLst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1899$ 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J-300 incluant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 + lumière extérieure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1599$ 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J-400 incluant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1199$ 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J-LX incluant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n’y a plus de trousse incluse avec la série J-200, en option seulement.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CA" sz="1600" dirty="0"/>
          </a:p>
          <a:p>
            <a:r>
              <a:rPr lang="fr-CA" sz="1200" b="1" dirty="0"/>
              <a:t>TAPIS CHAUFFANTS</a:t>
            </a:r>
            <a:r>
              <a:rPr lang="fr-CA" sz="1200" dirty="0"/>
              <a:t>: Rabais de 20% sur tous les tapis chauffants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2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8C7895C-4014-4298-99F6-5FEF6B83122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D8509D8C-343F-06AD-5CD6-AAFAF86F10B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 au 29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CC3E1EFF-70C3-1B7C-8257-A3E2F954C5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1843" y="4572000"/>
            <a:ext cx="3329128" cy="60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9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6247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1600" dirty="0"/>
          </a:p>
          <a:p>
            <a:r>
              <a:rPr lang="fr-CA" sz="1400" b="1" dirty="0"/>
              <a:t>SOLSTICE SPAS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/>
              <a:t>750$ de rabais </a:t>
            </a:r>
            <a:r>
              <a:rPr lang="fr-CA" sz="1400" dirty="0"/>
              <a:t>sur les modèles 2024  applicable sur le prix régulier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accent6"/>
                </a:solidFill>
              </a:rPr>
              <a:t>PROMO DU MANUFACTURIER! </a:t>
            </a:r>
            <a:r>
              <a:rPr lang="fr-FR" sz="1400" b="1" dirty="0"/>
              <a:t>Module de contrôle à distance GRATUIT </a:t>
            </a:r>
            <a:r>
              <a:rPr lang="fr-FR" sz="1400" dirty="0"/>
              <a:t>à l’achat d’un spa Solstice (valeur de 1000$).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100" dirty="0"/>
              <a:t>Système </a:t>
            </a:r>
            <a:r>
              <a:rPr lang="fr-FR" sz="1100" dirty="0" err="1"/>
              <a:t>InTouch</a:t>
            </a:r>
            <a:r>
              <a:rPr lang="fr-FR" sz="1100" dirty="0"/>
              <a:t> 2 </a:t>
            </a:r>
            <a:r>
              <a:rPr lang="fr-FR" sz="1100" dirty="0" err="1"/>
              <a:t>WiFi</a:t>
            </a:r>
            <a:endParaRPr lang="fr-FR" sz="11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100" dirty="0"/>
              <a:t>Lumières DEL intégrées dans les jets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100" dirty="0"/>
              <a:t>Bar flottant Bluetooth avec lumières DEL intégrées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100" dirty="0">
                <a:effectLst/>
              </a:rPr>
              <a:t>Système de purification d’eau à l’Ozone</a:t>
            </a:r>
            <a:endParaRPr lang="fr-FR" sz="1100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/>
              <a:t>Tapis chauffants GRATUITS! </a:t>
            </a:r>
            <a:r>
              <a:rPr lang="fr-FR" sz="1400" dirty="0"/>
              <a:t>Nous suggérons le combo en jaune ci-dessous mais le client peut choisir les tapis de son choix pour une valeur totale maximale de 929$. On souhaite ici favoriser les </a:t>
            </a:r>
            <a:r>
              <a:rPr lang="fr-FR" sz="1400" i="1" dirty="0" err="1"/>
              <a:t>upsale</a:t>
            </a:r>
            <a:r>
              <a:rPr lang="fr-FR" sz="1400" dirty="0"/>
              <a:t> et donc de vendre des tapis additionnels au client. Si le client ne prend pas les tapis, on enlève un montant de 200$: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fr-CA" sz="1400" b="1" dirty="0"/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fr-CA" sz="1400" b="1" dirty="0"/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fr-CA" sz="1400" b="1" dirty="0"/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/>
              <a:t>PROMO: OBTENEZ 2 SERVIETTES SOLSTICE À L’ACHAT D’UN SPA </a:t>
            </a:r>
            <a:r>
              <a:rPr lang="fr-CA" sz="1400" dirty="0"/>
              <a:t>(</a:t>
            </a:r>
            <a:r>
              <a:rPr lang="fr-CA" sz="1400" i="1" dirty="0"/>
              <a:t>PTR 173988)</a:t>
            </a:r>
            <a:r>
              <a:rPr lang="fr-CA" sz="1400" dirty="0"/>
              <a:t>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/>
              <a:t>Le levier, la marche, le GFCI sont </a:t>
            </a:r>
            <a:r>
              <a:rPr lang="fr-CA" sz="1400" b="1" dirty="0"/>
              <a:t>INCLUS</a:t>
            </a:r>
            <a:r>
              <a:rPr lang="fr-CA" sz="1400" dirty="0"/>
              <a:t>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/>
              <a:t>La livraison </a:t>
            </a:r>
            <a:r>
              <a:rPr lang="fr-CA" sz="1400" b="1" dirty="0"/>
              <a:t>N’EST PAS INCLUSE</a:t>
            </a:r>
          </a:p>
          <a:p>
            <a:pPr lvl="0"/>
            <a:endParaRPr lang="fr-CA" sz="1400" b="1" dirty="0"/>
          </a:p>
          <a:p>
            <a:r>
              <a:rPr lang="fr-CA" sz="1400" b="1" dirty="0"/>
              <a:t>TAPIS CHAUFFANTS</a:t>
            </a:r>
            <a:r>
              <a:rPr lang="fr-CA" sz="1400" dirty="0"/>
              <a:t>: Rabais de 20% sur tous les tapis chauffants</a:t>
            </a:r>
          </a:p>
          <a:p>
            <a:endParaRPr lang="fr-CA" sz="1400" dirty="0">
              <a:highlight>
                <a:srgbClr val="FFFF00"/>
              </a:highlight>
            </a:endParaRPr>
          </a:p>
          <a:p>
            <a:endParaRPr lang="fr-CA" sz="1400" dirty="0"/>
          </a:p>
          <a:p>
            <a:r>
              <a:rPr lang="fr-CA" sz="1200" b="1" dirty="0"/>
              <a:t>INNOVAPSA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Spa Blizzard édition limitée en promotion à  6999$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Aucun rabais sur les autres modèles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Aucune promotion de financement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Le levier, la marche et le chimique sont vendus séparément.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La livraison n’est pas incluse.</a:t>
            </a:r>
            <a:r>
              <a:rPr lang="fr-CA" sz="1400" dirty="0"/>
              <a:t> </a:t>
            </a:r>
            <a:endParaRPr lang="fr-CA" sz="20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3</a:t>
            </a:fld>
            <a:endParaRPr lang="fr-CA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9FEAEB21-924D-0BB3-2089-762DCFE95A2A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 au 29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11702E2-F5A9-B104-BC4F-2E3287AC81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0438" y="4860032"/>
            <a:ext cx="3329128" cy="60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93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DE NAGE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2369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2000" dirty="0"/>
          </a:p>
          <a:p>
            <a:r>
              <a:rPr lang="fr-CA" sz="1600" b="1" dirty="0"/>
              <a:t>SPA DE NAGE JACUZZI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Fin de la promo du manufacturier.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2000$ sur les spas de nage </a:t>
            </a:r>
            <a:r>
              <a:rPr lang="fr-CA" sz="1600" b="1" dirty="0" err="1"/>
              <a:t>Poweractive</a:t>
            </a:r>
            <a:r>
              <a:rPr lang="fr-CA" sz="1600" b="1" dirty="0"/>
              <a:t> et </a:t>
            </a:r>
            <a:r>
              <a:rPr lang="fr-CA" sz="1600" b="1" dirty="0" err="1"/>
              <a:t>Powerpro</a:t>
            </a:r>
            <a:r>
              <a:rPr lang="fr-CA" sz="1600" b="1" dirty="0"/>
              <a:t> J-16 J-19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1000$ sur le J-13.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Les frais de de livraison de base sont inclus dans le prix. Les frais de grue sont en sus. </a:t>
            </a:r>
            <a:endParaRPr lang="fr-CA" sz="2000" dirty="0"/>
          </a:p>
          <a:p>
            <a:endParaRPr lang="fr-CA" sz="1600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4</a:t>
            </a:fld>
            <a:endParaRPr lang="fr-CA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1EECA49-570A-45D0-B3D2-36F8939D94C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75" y="8604448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A7F81D3D-448A-5C14-F6F4-BD6CB39D6DE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 au 29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86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MEUBLES ET PARASOLS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LIQUIDATION : </a:t>
            </a:r>
            <a:r>
              <a:rPr lang="fr-CA" sz="1600" dirty="0"/>
              <a:t>Aucun changement donc jusqu’à 40% de rabais sur les meubles et accessoires.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On paye l’équivalent des 2 taxes sur les chauffe-terrasses, table-foyer et foyer Home Run!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FINANCEMENT : Promotion 6 mois sans paiement ni intérêt de Fairstone (code 12060).</a:t>
            </a:r>
            <a:r>
              <a:rPr lang="fr-CA" sz="1600" dirty="0"/>
              <a:t> Voir dernière page des instructions de vente pour les détails.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600" dirty="0"/>
              <a:t>Aucune compensation si le client ne prend pas le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 dirty="0">
              <a:highlight>
                <a:srgbClr val="FFFF00"/>
              </a:highlight>
            </a:endParaRPr>
          </a:p>
          <a:p>
            <a:endParaRPr lang="fr-CA" sz="1600" b="1" dirty="0"/>
          </a:p>
          <a:p>
            <a:endParaRPr lang="fr-CA" sz="16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5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03D57059-6F6C-1C0B-C433-B6111C46857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 au 29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511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D76D5B-B0B5-42AC-B72B-0EBE42B8EC3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0647" y="183569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GAZEBOS 2024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710E5B-75AB-401F-9969-A6297E0521B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2195736"/>
            <a:ext cx="6408713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A" sz="1600" dirty="0"/>
              <a:t>Aucun changement sauf pour les nouveaux modèles de VISSCHER</a:t>
            </a:r>
            <a:r>
              <a:rPr lang="fr-CA" sz="1600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A" sz="1600" b="1" dirty="0"/>
              <a:t>VISSCHER 2024 seulement: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fr-CA" sz="1600" b="1" dirty="0"/>
              <a:t>FINANCEMENT : Promotion 6 mois sans paiement ni intérêt de Fairstone (code 12060).</a:t>
            </a:r>
            <a:r>
              <a:rPr lang="fr-CA" sz="1600" dirty="0"/>
              <a:t> Voir dernière page des instructions de vente pour les détails. 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fr-CA" sz="1600" dirty="0"/>
              <a:t>Aucune compensation si le client ne prend pas le financement.</a:t>
            </a:r>
            <a:endParaRPr lang="fr-CA" dirty="0"/>
          </a:p>
          <a:p>
            <a:endParaRPr lang="fr-CA" sz="1600" b="1" dirty="0"/>
          </a:p>
          <a:p>
            <a:pPr marL="342900" lvl="0" indent="-342900">
              <a:buFont typeface="Calibri Light" panose="020F0302020204030204" pitchFamily="34" charset="0"/>
              <a:buChar char="-"/>
            </a:pPr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6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0A162E0D-C84B-5103-A90E-753D24EAE91A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 au 29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B98A85-28E6-9084-5552-296CB412346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435597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CABANONS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66828-647B-D170-87FC-F8145DDC9FA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4716016"/>
            <a:ext cx="6408713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b="1" dirty="0">
                <a:solidFill>
                  <a:schemeClr val="accent6"/>
                </a:solidFill>
              </a:rPr>
              <a:t>PROMO DU MANUFACTURIER!</a:t>
            </a:r>
            <a:r>
              <a:rPr lang="fr-CA" b="1" dirty="0"/>
              <a:t> </a:t>
            </a:r>
            <a:r>
              <a:rPr lang="fr-CA" dirty="0"/>
              <a:t>À l’achat d’un cabanon </a:t>
            </a:r>
            <a:r>
              <a:rPr lang="fr-CA" dirty="0" err="1"/>
              <a:t>Fiberwood</a:t>
            </a:r>
            <a:r>
              <a:rPr lang="fr-CA" dirty="0"/>
              <a:t>, obtenez l’installation gratuite! Voir formulaire ci-jointe à faire signer au client.</a:t>
            </a:r>
            <a:endParaRPr lang="fr-CA" sz="18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endParaRPr lang="fr-FR" sz="12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Détail de l’offre: </a:t>
            </a:r>
          </a:p>
          <a:p>
            <a:r>
              <a:rPr lang="fr-FR" sz="1200" b="0" i="0" u="none" strike="noStrike" baseline="0" dirty="0" err="1">
                <a:solidFill>
                  <a:srgbClr val="000000"/>
                </a:solidFill>
                <a:latin typeface="Aptos" panose="020B0004020202020204" pitchFamily="34" charset="0"/>
              </a:rPr>
              <a:t>Fiberwood</a:t>
            </a:r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 offre l’installation gratuite des cabanons , PAR les installateurs de </a:t>
            </a:r>
            <a:r>
              <a:rPr lang="fr-FR" sz="1200" b="0" i="0" u="none" strike="noStrike" baseline="0" dirty="0" err="1">
                <a:solidFill>
                  <a:srgbClr val="000000"/>
                </a:solidFill>
                <a:latin typeface="Aptos" panose="020B0004020202020204" pitchFamily="34" charset="0"/>
              </a:rPr>
              <a:t>Fiberwood</a:t>
            </a:r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. Aux conditions et termes suivants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Sur tous nos modèles de cabanon </a:t>
            </a:r>
            <a:r>
              <a:rPr lang="fr-FR" sz="1200" b="0" i="0" u="none" strike="noStrike" baseline="0" dirty="0" err="1">
                <a:solidFill>
                  <a:srgbClr val="000000"/>
                </a:solidFill>
                <a:latin typeface="Aptos" panose="020B0004020202020204" pitchFamily="34" charset="0"/>
              </a:rPr>
              <a:t>Fiberwood</a:t>
            </a:r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Offre valable pour tout le Québec avec certaines conditions : Jusqu’à un maximum de 50km d’une succursale Club Piscine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Distance excédentaire facturée au client de Club Piscine au montant de 2,20</a:t>
            </a:r>
            <a:r>
              <a:rPr lang="fr-FR" sz="1200" dirty="0">
                <a:solidFill>
                  <a:srgbClr val="000000"/>
                </a:solidFill>
                <a:latin typeface="Aptos" panose="020B0004020202020204" pitchFamily="34" charset="0"/>
              </a:rPr>
              <a:t>$ du kilomètre facturé directement par </a:t>
            </a:r>
            <a:r>
              <a:rPr lang="fr-FR" sz="1200" dirty="0" err="1">
                <a:solidFill>
                  <a:srgbClr val="000000"/>
                </a:solidFill>
                <a:latin typeface="Aptos" panose="020B0004020202020204" pitchFamily="34" charset="0"/>
              </a:rPr>
              <a:t>Fiberwood</a:t>
            </a:r>
            <a:r>
              <a:rPr lang="fr-FR" sz="1200" dirty="0">
                <a:solidFill>
                  <a:srgbClr val="000000"/>
                </a:solidFill>
                <a:latin typeface="Aptos" panose="020B0004020202020204" pitchFamily="34" charset="0"/>
              </a:rPr>
              <a:t> (incluant temps homme et transport) . Montant de l’excédent à payer par le client la journée de l’installation.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0000"/>
                </a:solidFill>
                <a:latin typeface="Aptos" panose="020B0004020202020204" pitchFamily="34" charset="0"/>
              </a:rPr>
              <a:t>L’installation du cabanon </a:t>
            </a:r>
            <a:r>
              <a:rPr lang="fr-FR" sz="1200" dirty="0" err="1">
                <a:solidFill>
                  <a:srgbClr val="000000"/>
                </a:solidFill>
                <a:latin typeface="Aptos" panose="020B0004020202020204" pitchFamily="34" charset="0"/>
              </a:rPr>
              <a:t>Fiberwood</a:t>
            </a:r>
            <a:r>
              <a:rPr lang="fr-FR" sz="1200" dirty="0">
                <a:solidFill>
                  <a:srgbClr val="000000"/>
                </a:solidFill>
                <a:latin typeface="Aptos" panose="020B0004020202020204" pitchFamily="34" charset="0"/>
              </a:rPr>
              <a:t> vendu demeure gratuite pour l’acheteur </a:t>
            </a:r>
            <a:r>
              <a:rPr lang="fr-FR" sz="1200" u="sng" dirty="0">
                <a:solidFill>
                  <a:srgbClr val="000000"/>
                </a:solidFill>
                <a:latin typeface="Aptos" panose="020B0004020202020204" pitchFamily="34" charset="0"/>
              </a:rPr>
              <a:t>à condition qu’il accepte que l’installation soit possiblement filmée à des buts publicitaires. </a:t>
            </a:r>
            <a:r>
              <a:rPr lang="fr-FR" sz="1200" dirty="0">
                <a:solidFill>
                  <a:srgbClr val="000000"/>
                </a:solidFill>
                <a:latin typeface="Aptos" panose="020B0004020202020204" pitchFamily="34" charset="0"/>
              </a:rPr>
              <a:t>Voir formulaire ci-joint.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0000"/>
                </a:solidFill>
                <a:latin typeface="Aptos" panose="020B0004020202020204" pitchFamily="34" charset="0"/>
              </a:rPr>
              <a:t>L’installation du cabanon vendu doit être planifié entre le 1er septembre 2024 et le 15 novembre 2024 pour qu’elle demeure gratuite. </a:t>
            </a:r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29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BBQ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b="1" dirty="0">
                <a:latin typeface="Calibri" panose="020F0502020204030204" pitchFamily="34" charset="0"/>
              </a:rPr>
              <a:t>Voir rabais en cours dans l’annexes.</a:t>
            </a:r>
            <a:endParaRPr lang="fr-CA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latin typeface="Calibri" panose="020F0502020204030204" pitchFamily="34" charset="0"/>
              </a:rPr>
              <a:t>Tous les accessoires </a:t>
            </a:r>
            <a:r>
              <a:rPr lang="fr-CA" dirty="0" err="1">
                <a:latin typeface="Calibri" panose="020F0502020204030204" pitchFamily="34" charset="0"/>
              </a:rPr>
              <a:t>Kitchen</a:t>
            </a:r>
            <a:r>
              <a:rPr lang="fr-CA" dirty="0">
                <a:latin typeface="Calibri" panose="020F0502020204030204" pitchFamily="34" charset="0"/>
              </a:rPr>
              <a:t> </a:t>
            </a:r>
            <a:r>
              <a:rPr lang="fr-CA" dirty="0" err="1">
                <a:latin typeface="Calibri" panose="020F0502020204030204" pitchFamily="34" charset="0"/>
              </a:rPr>
              <a:t>Aid</a:t>
            </a:r>
            <a:r>
              <a:rPr lang="fr-CA" dirty="0">
                <a:latin typeface="Calibri" panose="020F0502020204030204" pitchFamily="34" charset="0"/>
              </a:rPr>
              <a:t> et </a:t>
            </a:r>
            <a:r>
              <a:rPr lang="fr-CA" dirty="0" err="1">
                <a:latin typeface="Calibri" panose="020F0502020204030204" pitchFamily="34" charset="0"/>
              </a:rPr>
              <a:t>Megamaster</a:t>
            </a:r>
            <a:r>
              <a:rPr lang="fr-CA" dirty="0">
                <a:latin typeface="Calibri" panose="020F0502020204030204" pitchFamily="34" charset="0"/>
              </a:rPr>
              <a:t> sont à 50% de rabais jusqu’à épuisement des stocks.</a:t>
            </a:r>
          </a:p>
          <a:p>
            <a:endParaRPr lang="fr-CA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2DBC70-3186-48CE-819F-361D4296B6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7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783D21B-B117-4026-9C7F-49C36B6A584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7" y="8411910"/>
            <a:ext cx="2492896" cy="402434"/>
          </a:xfrm>
          <a:prstGeom prst="rect">
            <a:avLst/>
          </a:prstGeom>
        </p:spPr>
      </p:pic>
      <p:sp>
        <p:nvSpPr>
          <p:cNvPr id="3" name="Zone de texte 28">
            <a:extLst>
              <a:ext uri="{FF2B5EF4-FFF2-40B4-BE49-F238E27FC236}">
                <a16:creationId xmlns:a16="http://schemas.microsoft.com/office/drawing/2014/main" id="{06DA51CB-48AE-022D-713C-4EFDF21B11C9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 au 29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4054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HORS TERRE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33DA19-C6A4-4697-B85F-7F129DA9B7C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8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8BA23A4-D293-442A-8E64-DD7EEB3C81B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78D544-23DE-4DBE-ABBE-33607EA8AFE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6" y="2139809"/>
            <a:ext cx="6408713" cy="3877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CARVIN  &amp; TRENDIUM (VOGUE) 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1300$ </a:t>
            </a:r>
            <a:r>
              <a:rPr lang="fr-CA" sz="1400" dirty="0"/>
              <a:t>sur toutes les piscines hors terre Seules, Équipées et Équipées &amp; Installées.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200$</a:t>
            </a:r>
            <a:r>
              <a:rPr lang="fr-CA" sz="1400" dirty="0"/>
              <a:t> sur prix régulier d’une thermopompe SOLSTICE 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dirty="0"/>
              <a:t>L’installation de la Thermopompe et le By-pass ne </a:t>
            </a:r>
            <a:r>
              <a:rPr lang="fr-CA" sz="1400" b="1" dirty="0"/>
              <a:t>sont pas inclus.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FINANCEMENT </a:t>
            </a:r>
            <a:r>
              <a:rPr lang="fr-FR" sz="1400" dirty="0"/>
              <a:t>(non publicisé)</a:t>
            </a:r>
            <a:r>
              <a:rPr lang="fr-FR" sz="1400" b="1" dirty="0"/>
              <a:t>:  </a:t>
            </a:r>
            <a:r>
              <a:rPr lang="fr-CA" sz="1400" b="1" dirty="0"/>
              <a:t>Promotion 6 mois sans paiement ni intérêt de Fairstone (code 12060).</a:t>
            </a:r>
            <a:r>
              <a:rPr lang="fr-CA" sz="1400" dirty="0"/>
              <a:t> Voir dernière page des instructions de vente pour les détails.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CA" sz="1400" dirty="0"/>
              <a:t>On offre 3% de rabais additionnel sur le prix de la </a:t>
            </a:r>
            <a:r>
              <a:rPr lang="fr-CA" sz="1400" dirty="0" err="1"/>
              <a:t>piscinesi</a:t>
            </a:r>
            <a:r>
              <a:rPr lang="fr-CA" sz="1400" dirty="0"/>
              <a:t> le client ne prend pas le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b="1" dirty="0"/>
          </a:p>
          <a:p>
            <a:endParaRPr lang="fr-CA" sz="1400" dirty="0"/>
          </a:p>
          <a:p>
            <a:endParaRPr lang="fr-CA" sz="1400" dirty="0"/>
          </a:p>
          <a:p>
            <a:r>
              <a:rPr lang="fr-CA" sz="1400" dirty="0"/>
              <a:t>Société de sauvetage: N’oubliez pas de donner le bracelet </a:t>
            </a:r>
            <a:r>
              <a:rPr lang="fr-CA" sz="1400" b="1" dirty="0"/>
              <a:t>SURVEILLANT DÉSIGNÉ</a:t>
            </a:r>
            <a:r>
              <a:rPr lang="fr-CA" sz="1400" dirty="0"/>
              <a:t> avec chaque achat de piscine!</a:t>
            </a:r>
          </a:p>
          <a:p>
            <a:endParaRPr lang="fr-CA" b="1" dirty="0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0515F779-2714-30D9-1318-0B70F5821AFE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 au 29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775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BOIS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9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42F5A22-327C-4D75-9397-912D5DCB218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2128086"/>
            <a:ext cx="6408713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AQUABOIS 2024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750$ </a:t>
            </a:r>
            <a:r>
              <a:rPr lang="fr-CA" sz="1600" dirty="0"/>
              <a:t>sur le prix régulier de toutes les piscines de bois hors sol ou semi-creusées 2023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Exception: La </a:t>
            </a:r>
            <a:r>
              <a:rPr lang="fr-CA" sz="1600" dirty="0" err="1"/>
              <a:t>Tundra</a:t>
            </a:r>
            <a:r>
              <a:rPr lang="fr-CA" sz="1600" dirty="0"/>
              <a:t> hors sol a 1250$ de rabais.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200$</a:t>
            </a:r>
            <a:r>
              <a:rPr lang="fr-CA" sz="1600" dirty="0"/>
              <a:t> sur prix régulier d’une thermopompe SOLSTICE 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L’installation de la Thermopompe et le By-pass ne </a:t>
            </a:r>
            <a:r>
              <a:rPr lang="fr-CA" sz="1600" b="1" dirty="0"/>
              <a:t>sont pas inclus.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La teinture est incluse sur toutes les piscines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Aucune promotion de financement</a:t>
            </a:r>
          </a:p>
          <a:p>
            <a:endParaRPr lang="fr-CA" sz="1600" b="1" dirty="0"/>
          </a:p>
          <a:p>
            <a:endParaRPr lang="fr-CA" sz="1600" dirty="0"/>
          </a:p>
          <a:p>
            <a:r>
              <a:rPr lang="fr-CA" sz="1600" dirty="0"/>
              <a:t>Société de sauvetage: N’oubliez pas de donner le bracelet </a:t>
            </a:r>
            <a:r>
              <a:rPr lang="fr-CA" sz="1600" b="1" dirty="0"/>
              <a:t>SURVEILLANT DÉSIGNÉ</a:t>
            </a:r>
            <a:r>
              <a:rPr lang="fr-CA" sz="1600" dirty="0"/>
              <a:t> avec chaque achat de piscine!</a:t>
            </a:r>
          </a:p>
          <a:p>
            <a:endParaRPr lang="fr-CA" sz="1400" i="1" dirty="0"/>
          </a:p>
          <a:p>
            <a:endParaRPr lang="fr-CA" sz="1600" dirty="0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F94A0BDA-22DF-D760-024C-26F154DB504C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 au 29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8611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CREUSÉES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10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CB57BEBA-A86A-4781-AB89-09D90C196ACE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 au 29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D5E6B-810F-498E-B14D-305B2F9FD92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2135574"/>
            <a:ext cx="6408713" cy="13542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LATHAM ACIER et IMPERIAL POOL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1600" dirty="0">
                <a:ea typeface="Calibri" panose="020F0502020204030204" pitchFamily="34" charset="0"/>
                <a:cs typeface="Times New Roman" panose="02020603050405020304" pitchFamily="18" charset="0"/>
              </a:rPr>
              <a:t>RABAIS DE 4000$ SUR TOUTES LES PISCINES EN ACIER + thermopompe Solstice 50k btu offert gratuitement!</a:t>
            </a:r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E7EE2-A4B2-5123-50DA-E1A69941C17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4211960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FIBRE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BCA58-4012-A7FA-44D3-BA017B8DA66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4567407"/>
            <a:ext cx="6408713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>
                <a:sym typeface="Wingdings" panose="05000000000000000000" pitchFamily="2" charset="2"/>
              </a:rPr>
              <a:t>MOVA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Aucun changement. Rabais de jusqu’à 4500$ </a:t>
            </a:r>
            <a:r>
              <a:rPr lang="fr-CA" sz="1400" dirty="0"/>
              <a:t>sur certains modèles MOVA équipées et installées (rabais de 2500$ si piscine seule).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1500$ </a:t>
            </a:r>
            <a:r>
              <a:rPr lang="fr-CA" sz="1400" dirty="0"/>
              <a:t>(50% de rabais) sur le combo Thermopompe Solstice et le </a:t>
            </a:r>
            <a:r>
              <a:rPr lang="fr-CA" sz="1400" dirty="0" err="1"/>
              <a:t>chlorateur</a:t>
            </a:r>
            <a:r>
              <a:rPr lang="fr-CA" sz="1400" dirty="0"/>
              <a:t> au sel POLARIS </a:t>
            </a:r>
            <a:r>
              <a:rPr lang="fr-CA" sz="1400" dirty="0" err="1"/>
              <a:t>Autoclear</a:t>
            </a:r>
            <a:r>
              <a:rPr lang="fr-CA" sz="1400" dirty="0"/>
              <a:t> (ou équivalent) à prix régulier.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/>
              <a:t>Aucune promotion de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b="1" dirty="0"/>
          </a:p>
          <a:p>
            <a:r>
              <a:rPr lang="fr-CA" sz="1400" b="1" dirty="0">
                <a:sym typeface="Wingdings" panose="05000000000000000000" pitchFamily="2" charset="2"/>
              </a:rPr>
              <a:t>AQUARINO</a:t>
            </a:r>
            <a:endParaRPr lang="fr-C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Aucun changement. Rabais jusqu’à 8500$ </a:t>
            </a:r>
            <a:r>
              <a:rPr lang="fr-CA" sz="1400" dirty="0"/>
              <a:t>sur certaines piscines AQUARINO équipées et installées (rabais de 3500$ si piscine seule).</a:t>
            </a:r>
            <a:endParaRPr lang="fr-CA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1500$ </a:t>
            </a:r>
            <a:r>
              <a:rPr lang="fr-CA" sz="1400" dirty="0"/>
              <a:t>(50% de rabais) sur le combo Thermopompe Solstice et le </a:t>
            </a:r>
            <a:r>
              <a:rPr lang="fr-CA" sz="1400" dirty="0" err="1"/>
              <a:t>chlorateur</a:t>
            </a:r>
            <a:r>
              <a:rPr lang="fr-CA" sz="1400" dirty="0"/>
              <a:t> au sel POLARIS </a:t>
            </a:r>
            <a:r>
              <a:rPr lang="fr-CA" sz="1400" dirty="0" err="1"/>
              <a:t>Autoclear</a:t>
            </a:r>
            <a:r>
              <a:rPr lang="fr-CA" sz="1400" dirty="0"/>
              <a:t> (ou équivalent) à prix régulier.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/>
              <a:t>PRIX 2025: Voir nouvel onglet FIBRE 2025 basé sur  l’estimé de l’augmentation prévue l’an prochain.</a:t>
            </a:r>
          </a:p>
        </p:txBody>
      </p:sp>
    </p:spTree>
    <p:extLst>
      <p:ext uri="{BB962C8B-B14F-4D97-AF65-F5344CB8AC3E}">
        <p14:creationId xmlns:p14="http://schemas.microsoft.com/office/powerpoint/2010/main" val="2562470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 au 29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THERMOPOMPES 2024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7" y="2128086"/>
            <a:ext cx="6408713" cy="38164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SOLSTICE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200$</a:t>
            </a:r>
            <a:r>
              <a:rPr lang="fr-CA" sz="1600" dirty="0"/>
              <a:t> sur le prix RÉGULIER de toutes les Thermopompes SOLSTICE.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FINANCEMENT </a:t>
            </a:r>
            <a:r>
              <a:rPr lang="fr-FR" sz="1400" dirty="0"/>
              <a:t>(non publicisé)</a:t>
            </a:r>
            <a:r>
              <a:rPr lang="fr-FR" sz="1400" b="1" dirty="0"/>
              <a:t>:  </a:t>
            </a:r>
            <a:r>
              <a:rPr lang="fr-CA" sz="1400" b="1" dirty="0"/>
              <a:t>Promotion 6 mois sans paiement ni intérêt de Fairstone (code 12060).</a:t>
            </a:r>
            <a:r>
              <a:rPr lang="fr-CA" sz="1400" dirty="0"/>
              <a:t> Voir dernière page des instructions de vente pour les détails.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CA" sz="1400" dirty="0"/>
              <a:t>Si le client ne prend pas le financement, on enlève un 100$ additionnel.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r>
              <a:rPr lang="fr-CA" sz="1600" b="1" dirty="0"/>
              <a:t>TTI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200$ </a:t>
            </a:r>
            <a:r>
              <a:rPr lang="fr-CA" sz="1600" dirty="0"/>
              <a:t>sur tous les modèles TTI</a:t>
            </a:r>
            <a:endParaRPr lang="fr-CA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FINANCEMENT </a:t>
            </a:r>
            <a:r>
              <a:rPr lang="fr-FR" sz="1400" dirty="0"/>
              <a:t>(non publicisé)</a:t>
            </a:r>
            <a:r>
              <a:rPr lang="fr-FR" sz="1400" b="1" dirty="0"/>
              <a:t>:  </a:t>
            </a:r>
            <a:r>
              <a:rPr lang="fr-CA" sz="1400" b="1" dirty="0"/>
              <a:t>Promotion 6 mois sans paiement ni intérêt de Fairstone (code 12060).</a:t>
            </a:r>
            <a:r>
              <a:rPr lang="fr-CA" sz="1400" dirty="0"/>
              <a:t> Voir dernière page des instructions de vente pour les détails.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CA" sz="1400" dirty="0"/>
              <a:t>Si le client ne prend pas le financement, on enlève un 100$ additionnel.</a:t>
            </a:r>
          </a:p>
          <a:p>
            <a:pPr lvl="1"/>
            <a:endParaRPr lang="fr-CA" sz="1600" dirty="0"/>
          </a:p>
          <a:p>
            <a:endParaRPr lang="fr-CA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C4BD33-7303-4103-A793-21C93DC0B4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5715523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ACCESSOIRES PISCINES ET SPAS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BEC494-D4C8-48DB-B968-4FEB2152C3A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11</a:t>
            </a:fld>
            <a:endParaRPr lang="fr-CA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EE3DC31-EFFB-4C17-9CC7-30E1AD45072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5624A4-969B-1056-5A11-C3594EF3D2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75720" y="6075563"/>
            <a:ext cx="6408713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On poursuit le rabais en cours sur la pompe et filtreur Polaris. Voir Annexes ACC HORS TERRE.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endParaRPr lang="fr-FR" sz="1600" b="1" dirty="0">
              <a:highlight>
                <a:srgbClr val="7FCDE9"/>
              </a:highlight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accent6"/>
                </a:solidFill>
              </a:rPr>
              <a:t>PROMO DU MANUFACTURIER! </a:t>
            </a:r>
            <a:r>
              <a:rPr lang="en-CA" sz="1600" dirty="0"/>
              <a:t>À </a:t>
            </a:r>
            <a:r>
              <a:rPr lang="en-CA" sz="1600" dirty="0" err="1"/>
              <a:t>l’achat</a:t>
            </a:r>
            <a:r>
              <a:rPr lang="en-CA" sz="1600" dirty="0"/>
              <a:t> d’un robot POLARIS de 1399$ et+, </a:t>
            </a:r>
            <a:r>
              <a:rPr lang="en-CA" sz="1600" dirty="0" err="1"/>
              <a:t>obtenez</a:t>
            </a:r>
            <a:r>
              <a:rPr lang="en-CA" sz="1600" dirty="0"/>
              <a:t> le service de fermeture de piscine </a:t>
            </a:r>
            <a:r>
              <a:rPr lang="en-CA" sz="1600" dirty="0" err="1"/>
              <a:t>gratuitement</a:t>
            </a:r>
            <a:r>
              <a:rPr lang="en-CA" sz="1600" dirty="0"/>
              <a:t>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20% de </a:t>
            </a:r>
            <a:r>
              <a:rPr lang="en-CA" sz="1600" dirty="0" err="1"/>
              <a:t>rabais</a:t>
            </a:r>
            <a:r>
              <a:rPr lang="en-CA" sz="1600" dirty="0"/>
              <a:t> sur les tapis </a:t>
            </a:r>
            <a:r>
              <a:rPr lang="en-CA" sz="1600" dirty="0" err="1"/>
              <a:t>chauffants</a:t>
            </a:r>
            <a:endParaRPr lang="en-CA" sz="16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825CD56-A3C5-E20F-C93D-FD24C5FA85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481" y="6732240"/>
            <a:ext cx="5705044" cy="15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60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CHIMIQUE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12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6CD2D8-10E2-4C68-A85E-66B4BD875B6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41641" y="2260613"/>
            <a:ext cx="6408713" cy="4648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dirty="0"/>
              <a:t>Même rabais en cours sur le chlore et le sel. Voir Annexes.</a:t>
            </a:r>
          </a:p>
        </p:txBody>
      </p:sp>
      <p:sp>
        <p:nvSpPr>
          <p:cNvPr id="8" name="Zone de texte 28">
            <a:extLst>
              <a:ext uri="{FF2B5EF4-FFF2-40B4-BE49-F238E27FC236}">
                <a16:creationId xmlns:a16="http://schemas.microsoft.com/office/drawing/2014/main" id="{DE1BFEE4-4674-BCD0-5B3D-603FE4AB0381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 au 29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494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FITNESS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1138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 changement. Voir Annexes pour rabais en cours.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Calibri" panose="020F0502020204030204" pitchFamily="34" charset="0"/>
              </a:rPr>
              <a:t>Le nouveau programme et prix sera effectif le 30 octobre prochain.</a:t>
            </a:r>
            <a:endParaRPr lang="en-US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13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Zone de texte 28">
            <a:extLst>
              <a:ext uri="{FF2B5EF4-FFF2-40B4-BE49-F238E27FC236}">
                <a16:creationId xmlns:a16="http://schemas.microsoft.com/office/drawing/2014/main" id="{B2EEE3DC-3491-9AB7-66FD-4D31A25D635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 au 29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4416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FINANCEMENT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4"/>
            <a:ext cx="6408713" cy="58169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/>
              <a:t>FAIRSTONE </a:t>
            </a:r>
            <a:endParaRPr lang="fr-CA" sz="1600" b="1" dirty="0">
              <a:highlight>
                <a:srgbClr val="FFFF00"/>
              </a:highlight>
            </a:endParaRPr>
          </a:p>
          <a:p>
            <a:r>
              <a:rPr lang="fr-CA" sz="1400" b="1" dirty="0"/>
              <a:t>Plans de financement réguliers: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Meuble, Hors terre, thermopompe et nouveaux modèles </a:t>
            </a:r>
            <a:r>
              <a:rPr lang="fr-CA" sz="1400" b="1" dirty="0" err="1"/>
              <a:t>Visscher</a:t>
            </a:r>
            <a:r>
              <a:rPr lang="fr-CA" sz="1400" b="1" dirty="0"/>
              <a:t> </a:t>
            </a:r>
            <a:r>
              <a:rPr lang="fr-CA" sz="1400" dirty="0"/>
              <a:t>: 6 mois sans paiement ni intérêt (</a:t>
            </a:r>
            <a:r>
              <a:rPr lang="fr-CA" sz="1400" b="1" dirty="0"/>
              <a:t>Code 12060</a:t>
            </a:r>
            <a:r>
              <a:rPr lang="fr-CA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Autres : </a:t>
            </a:r>
            <a:r>
              <a:rPr lang="fr-CA" sz="1400" dirty="0"/>
              <a:t>Il est possible d’offrir l’un des 5 plans qui sont également offerts en ligne à l’achat de 500$ et+ . Voir votre gestionnaire pour plus de détail.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400" b="1" dirty="0"/>
              <a:t>3 mois sans paiement ( code 12030)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400" b="1" dirty="0"/>
              <a:t>12 mois différé avec paiement mensuel min. de 5% (code 13120)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Avec intérêt:</a:t>
            </a:r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/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/>
            <a:endParaRPr lang="fr-CA" sz="1600" b="1" dirty="0"/>
          </a:p>
          <a:p>
            <a:r>
              <a:rPr lang="fr-CA" sz="1600" b="1" dirty="0"/>
              <a:t>FINANCE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PISCINE CREUSÉE &amp; FIBRE : </a:t>
            </a:r>
            <a:r>
              <a:rPr lang="fr-CA" sz="1400" dirty="0"/>
              <a:t>Aucun financement inclus dans la promotion du mois mais il est suggéré d’utiliser le Financement </a:t>
            </a:r>
            <a:r>
              <a:rPr lang="fr-CA" sz="1400" b="1" dirty="0"/>
              <a:t>FINANCE IT </a:t>
            </a:r>
            <a:r>
              <a:rPr lang="fr-CA" sz="1400" dirty="0"/>
              <a:t>car le plafond de financement n’est pas limité à 30K$. Suggestion : Promo 6 mois sans paiement.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dirty="0"/>
              <a:t>Prêt ouvert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dirty="0"/>
              <a:t>Financement sur terme @ 13.99% pour le consommateur.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dirty="0"/>
              <a:t>Le 6 mois débute à la livraison/installation.</a:t>
            </a:r>
            <a:endParaRPr lang="fr-CA" sz="1600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2F2973-F05A-4798-9E29-20BCA9224E8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14</a:t>
            </a:fld>
            <a:endParaRPr lang="fr-CA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88D9F2B-CBC4-4BB5-AAFD-1DAE9256203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629475"/>
            <a:ext cx="2492896" cy="40243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7605141-FA74-5EED-1FEA-96577633EC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0848" y="4097610"/>
            <a:ext cx="2971798" cy="1865703"/>
          </a:xfrm>
          <a:prstGeom prst="rect">
            <a:avLst/>
          </a:prstGeom>
        </p:spPr>
      </p:pic>
      <p:sp>
        <p:nvSpPr>
          <p:cNvPr id="10" name="Zone de texte 28">
            <a:extLst>
              <a:ext uri="{FF2B5EF4-FFF2-40B4-BE49-F238E27FC236}">
                <a16:creationId xmlns:a16="http://schemas.microsoft.com/office/drawing/2014/main" id="{F1CDD729-D564-8E3A-F4B6-4E5FF1FDDC8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 au 29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93567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MARKETING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60324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r>
              <a:rPr lang="fr-CA" sz="1600" dirty="0"/>
              <a:t>Voici le détail des rabais et avantages de 4100$ de la promotion spa de septembre: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Jusqu’à 1000$ de rabais sur les spas Jacuzzi + 1900$ valeur de la Trousse </a:t>
            </a:r>
            <a:r>
              <a:rPr lang="fr-CA" sz="1600" dirty="0" err="1"/>
              <a:t>SmartTub</a:t>
            </a:r>
            <a:r>
              <a:rPr lang="fr-CA" sz="1600" dirty="0"/>
              <a:t> + 900$ valeur des tapis chauffants + 300$ valeur du </a:t>
            </a:r>
            <a:r>
              <a:rPr lang="fr-CA" sz="1600" dirty="0" err="1"/>
              <a:t>Sensor</a:t>
            </a:r>
            <a:r>
              <a:rPr lang="fr-CA" sz="1600" dirty="0"/>
              <a:t> kit = </a:t>
            </a:r>
            <a:r>
              <a:rPr lang="fr-CA" sz="1600" b="1" dirty="0"/>
              <a:t>valeur de  4100$.  NOTE: </a:t>
            </a:r>
            <a:r>
              <a:rPr lang="fr-CA" sz="1600" dirty="0"/>
              <a:t>Les 30x38 que vous recevrez en magasin ont été imprimés SANS la valeur du </a:t>
            </a:r>
            <a:r>
              <a:rPr lang="fr-CA" sz="1600" dirty="0" err="1"/>
              <a:t>Sensor</a:t>
            </a:r>
            <a:r>
              <a:rPr lang="fr-CA" sz="1600" dirty="0"/>
              <a:t> kit et avec les tapis indiqués séparément. Nous avons finalement décidé d’utiliser le visuel ci-dessous pour l’ensemble de la campagne.</a:t>
            </a:r>
          </a:p>
          <a:p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15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Zone de texte 28">
            <a:extLst>
              <a:ext uri="{FF2B5EF4-FFF2-40B4-BE49-F238E27FC236}">
                <a16:creationId xmlns:a16="http://schemas.microsoft.com/office/drawing/2014/main" id="{B2EEE3DC-3491-9AB7-66FD-4D31A25D635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 au 29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FC9F59A-DEAA-FB88-16EF-C0C3D11C34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0868" y="4568928"/>
            <a:ext cx="2376264" cy="333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97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5B6DA8F-B441-48CF-B873-FC803B275E48}"/>
</file>

<file path=customXml/itemProps2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E1C49C-B943-4250-BB39-87973E798E95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8682f7ec-9bef-4d6d-8d5c-0ec39e002ff3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47913</TotalTime>
  <Words>1969</Words>
  <Application>Microsoft Office PowerPoint</Application>
  <PresentationFormat>Affichage à l'écran (4:3)</PresentationFormat>
  <Paragraphs>230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6" baseType="lpstr">
      <vt:lpstr>-apple-system</vt:lpstr>
      <vt:lpstr>Aptos</vt:lpstr>
      <vt:lpstr>Arial</vt:lpstr>
      <vt:lpstr>Arial Black</vt:lpstr>
      <vt:lpstr>Calibri</vt:lpstr>
      <vt:lpstr>Calibri Light</vt:lpstr>
      <vt:lpstr>Courier New</vt:lpstr>
      <vt:lpstr>Symbol</vt:lpstr>
      <vt:lpstr>Times New Roman</vt:lpstr>
      <vt:lpstr>Wingdings</vt:lpstr>
      <vt:lpstr>Thème Office</vt:lpstr>
      <vt:lpstr>Présentation PowerPoint</vt:lpstr>
      <vt:lpstr>Instructions de vente 2 au 29 octobre 2024</vt:lpstr>
      <vt:lpstr>Instructions de vente 2 au 29 octobre 2024</vt:lpstr>
      <vt:lpstr>Instructions de vente 2 au 29 octobre 2024</vt:lpstr>
      <vt:lpstr>Instructions de vente 2 au 29 octobre 2024</vt:lpstr>
      <vt:lpstr>Instructions de vente 2 au 29 octobre 2024</vt:lpstr>
      <vt:lpstr>Instructions de vente 2 au 29 octobre 2024</vt:lpstr>
      <vt:lpstr>Instructions de vente 2 au 29 octobre 2024</vt:lpstr>
      <vt:lpstr>Instructions de vente 2 au 29 octobre 2024</vt:lpstr>
      <vt:lpstr>Instructions de vente 2 au 29 octobre 2024</vt:lpstr>
      <vt:lpstr>Instructions de vente 2 au 29 octobre 2024</vt:lpstr>
      <vt:lpstr>Instructions de vente 2 au 29 octobre 2024</vt:lpstr>
      <vt:lpstr>Instructions de vente 2 au 29 octobre 2024</vt:lpstr>
      <vt:lpstr>Instructions de vente 2 au 29 octobre 2024</vt:lpstr>
      <vt:lpstr>Instructions de vente 2 au 29 octobre 2024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1455</cp:revision>
  <cp:lastPrinted>2022-04-27T14:46:34Z</cp:lastPrinted>
  <dcterms:created xsi:type="dcterms:W3CDTF">2017-05-24T18:44:46Z</dcterms:created>
  <dcterms:modified xsi:type="dcterms:W3CDTF">2024-09-26T17:35:24Z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