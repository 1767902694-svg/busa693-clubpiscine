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65" r:id="rId5"/>
    <p:sldId id="281" r:id="rId6"/>
    <p:sldId id="276" r:id="rId7"/>
    <p:sldId id="285" r:id="rId8"/>
    <p:sldId id="275" r:id="rId9"/>
    <p:sldId id="267" r:id="rId10"/>
    <p:sldId id="270" r:id="rId11"/>
    <p:sldId id="266" r:id="rId12"/>
    <p:sldId id="273" r:id="rId13"/>
    <p:sldId id="272" r:id="rId14"/>
    <p:sldId id="286" r:id="rId15"/>
  </p:sldIdLst>
  <p:sldSz cx="6858000" cy="9144000" type="screen4x3"/>
  <p:notesSz cx="6950075" cy="923607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CDE9"/>
    <a:srgbClr val="1447AB"/>
    <a:srgbClr val="3068D9"/>
    <a:srgbClr val="218BCB"/>
    <a:srgbClr val="229FCC"/>
    <a:srgbClr val="48B8E0"/>
    <a:srgbClr val="2FAF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p:cViewPr varScale="1">
        <p:scale>
          <a:sx n="79" d="100"/>
          <a:sy n="79" d="100"/>
        </p:scale>
        <p:origin x="3144" y="9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D974EA55-1F88-4D33-948F-129C030CA228}" type="datetimeFigureOut">
              <a:rPr lang="fr-FR" smtClean="0"/>
              <a:t>04/07/2025</a:t>
            </a:fld>
            <a:endParaRPr lang="fr-FR"/>
          </a:p>
        </p:txBody>
      </p:sp>
      <p:sp>
        <p:nvSpPr>
          <p:cNvPr id="4" name="Espace réservé de l'image des diapositives 3"/>
          <p:cNvSpPr>
            <a:spLocks noGrp="1" noRot="1" noChangeAspect="1"/>
          </p:cNvSpPr>
          <p:nvPr>
            <p:ph type="sldImg" idx="2"/>
          </p:nvPr>
        </p:nvSpPr>
        <p:spPr>
          <a:xfrm>
            <a:off x="2305050" y="1154113"/>
            <a:ext cx="2339975" cy="31178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8C8FADA9-DAE0-49B2-8C03-98CBE548380A}" type="slidenum">
              <a:rPr lang="fr-FR" smtClean="0"/>
              <a:t>‹N°›</a:t>
            </a:fld>
            <a:endParaRPr lang="fr-FR"/>
          </a:p>
        </p:txBody>
      </p:sp>
    </p:spTree>
    <p:extLst>
      <p:ext uri="{BB962C8B-B14F-4D97-AF65-F5344CB8AC3E}">
        <p14:creationId xmlns:p14="http://schemas.microsoft.com/office/powerpoint/2010/main" val="144495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514350" y="2840568"/>
            <a:ext cx="5829300" cy="1960033"/>
          </a:xfrm>
        </p:spPr>
        <p:txBody>
          <a:bodyPr/>
          <a:lstStyle/>
          <a:p>
            <a:r>
              <a:rPr lang="fr-FR"/>
              <a:t>Modifiez le style du titre</a:t>
            </a:r>
            <a:endParaRPr lang="fr-CA"/>
          </a:p>
        </p:txBody>
      </p:sp>
      <p:sp>
        <p:nvSpPr>
          <p:cNvPr id="3" name="Sous-titr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831270F1-02CD-4B62-A24E-C50745FFF5F5}" type="datetime1">
              <a:rPr lang="fr-CA" smtClean="0"/>
              <a:t>2025-07-04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48049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E8FB3501-DB26-46B1-B49D-78AAEDB8FBB0}" type="datetime1">
              <a:rPr lang="fr-CA" smtClean="0"/>
              <a:t>2025-07-04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756885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41735" y="5875867"/>
            <a:ext cx="5829300" cy="1816100"/>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D9D7A85-2AFD-4815-A0A7-D4B79870DF4B}" type="datetime1">
              <a:rPr lang="fr-CA" smtClean="0"/>
              <a:t>2025-07-04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797159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8C976F20-C377-4AED-9510-F5ADE3870E9C}" type="datetime1">
              <a:rPr lang="fr-CA" smtClean="0"/>
              <a:t>2025-07-04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62237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42900" y="366184"/>
            <a:ext cx="6172200" cy="1524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3C686B50-1D08-40D3-BECA-FFE7DEF4ECA0}" type="datetime1">
              <a:rPr lang="fr-CA" smtClean="0"/>
              <a:t>2025-07-04</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427151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1CCDA913-A0AB-4357-9718-F642A4CB965C}" type="datetime1">
              <a:rPr lang="fr-CA" smtClean="0"/>
              <a:t>2025-07-04</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6124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F1D8FFD-9EF2-4DF5-ADE3-0FA2D06B7D28}" type="datetime1">
              <a:rPr lang="fr-CA" smtClean="0"/>
              <a:t>2025-07-04</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1983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42900" y="364067"/>
            <a:ext cx="2256235" cy="154940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23AA06B-BE77-4E72-9CCA-00E4DEE9532E}" type="datetime1">
              <a:rPr lang="fr-CA" smtClean="0"/>
              <a:t>2025-07-04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2455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344216" y="6400800"/>
            <a:ext cx="4114800" cy="755651"/>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D4EBF81-A9BE-418D-9E78-24D0919B7A1C}" type="datetime1">
              <a:rPr lang="fr-CA" smtClean="0"/>
              <a:t>2025-07-04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88577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867DEE61-C885-4A50-BEE7-C9DDDBD88187}" type="datetime1">
              <a:rPr lang="fr-CA" smtClean="0"/>
              <a:t>2025-07-04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3004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3729037" y="488951"/>
            <a:ext cx="1157288" cy="10401300"/>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257175" y="488951"/>
            <a:ext cx="3357563" cy="104013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6FFC38EA-1C13-48D8-9A28-13347BB0C9CB}" type="datetime1">
              <a:rPr lang="fr-CA" smtClean="0"/>
              <a:t>2025-07-04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3692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74A8D5B-1515-4F97-901C-AB1B94820B7C}" type="datetime1">
              <a:rPr lang="fr-CA" smtClean="0"/>
              <a:t>2025-07-04</a:t>
            </a:fld>
            <a:endParaRPr lang="fr-CA"/>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31F4C03E-007A-4FDF-9746-0F09F296E587}" type="slidenum">
              <a:rPr lang="fr-CA" smtClean="0"/>
              <a:t>‹N°›</a:t>
            </a:fld>
            <a:endParaRPr lang="fr-CA"/>
          </a:p>
        </p:txBody>
      </p:sp>
    </p:spTree>
    <p:extLst>
      <p:ext uri="{BB962C8B-B14F-4D97-AF65-F5344CB8AC3E}">
        <p14:creationId xmlns:p14="http://schemas.microsoft.com/office/powerpoint/2010/main" val="31056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png"/><Relationship Id="rId5" Type="http://schemas.openxmlformats.org/officeDocument/2006/relationships/slideLayout" Target="../slideLayouts/slideLayout2.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slideLayout" Target="../slideLayouts/slideLayout2.xml"/><Relationship Id="rId4" Type="http://schemas.openxmlformats.org/officeDocument/2006/relationships/tags" Target="../tags/tag12.xml"/></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5.xml"/><Relationship Id="rId7"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1.xml"/><Relationship Id="rId7"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7.xml"/><Relationship Id="rId7"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s/_rels/slide7.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9"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41.xml"/><Relationship Id="rId7"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s>
</file>

<file path=ppt/slides/_rels/slide9.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10" Type="http://schemas.openxmlformats.org/officeDocument/2006/relationships/image" Target="../media/image1.png"/><Relationship Id="rId4" Type="http://schemas.openxmlformats.org/officeDocument/2006/relationships/tags" Target="../tags/tag48.xml"/><Relationship Id="rId9"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55.xml"/><Relationship Id="rId7" Type="http://schemas.openxmlformats.org/officeDocument/2006/relationships/image" Target="../media/image2.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hyperlink" Target="https://www.clubpiscine.ca/fr/financement" TargetMode="External"/><Relationship Id="rId5" Type="http://schemas.openxmlformats.org/officeDocument/2006/relationships/slideLayout" Target="../slideLayouts/slideLayout2.xml"/><Relationship Id="rId4" Type="http://schemas.openxmlformats.org/officeDocument/2006/relationships/tags" Target="../tags/tag56.xml"/><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4.png"/><Relationship Id="rId5" Type="http://schemas.openxmlformats.org/officeDocument/2006/relationships/hyperlink" Target="https://www.kasemedesign.ca/fr/collections/club-piscine" TargetMode="Externa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RÉSUMÉ DES PROMOS</a:t>
            </a:r>
          </a:p>
        </p:txBody>
      </p:sp>
      <p:sp>
        <p:nvSpPr>
          <p:cNvPr id="8" name="Rectangle 7"/>
          <p:cNvSpPr/>
          <p:nvPr>
            <p:custDataLst>
              <p:tags r:id="rId2"/>
            </p:custDataLst>
          </p:nvPr>
        </p:nvSpPr>
        <p:spPr>
          <a:xfrm>
            <a:off x="260646" y="2252637"/>
            <a:ext cx="6408713" cy="5472652"/>
          </a:xfrm>
          <a:prstGeom prst="rect">
            <a:avLst/>
          </a:prstGeom>
          <a:noFill/>
          <a:ln>
            <a:solidFill>
              <a:schemeClr val="tx1"/>
            </a:solidFill>
          </a:ln>
        </p:spPr>
        <p:txBody>
          <a:bodyPr wrap="square">
            <a:spAutoFit/>
          </a:bodyPr>
          <a:lstStyle/>
          <a:p>
            <a:pPr>
              <a:lnSpc>
                <a:spcPct val="150000"/>
              </a:lnSpc>
            </a:pPr>
            <a:r>
              <a:rPr lang="fr-CA" sz="1200" dirty="0">
                <a:latin typeface="Nunito" pitchFamily="2" charset="0"/>
                <a:ea typeface="Calibri" panose="020F0502020204030204" pitchFamily="34" charset="0"/>
                <a:cs typeface="Times New Roman" panose="02020603050405020304" pitchFamily="18" charset="0"/>
              </a:rPr>
              <a:t>Voici les principaux changements:</a:t>
            </a:r>
            <a:endParaRPr lang="fr-CA" sz="1200" dirty="0">
              <a:effectLst/>
              <a:latin typeface="Nunito" pitchFamily="2" charset="0"/>
              <a:ea typeface="Calibri" panose="020F050202020403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fr-CA" sz="1200" b="1" dirty="0">
                <a:latin typeface="Nunito" pitchFamily="2" charset="0"/>
                <a:ea typeface="Calibri" panose="020F0502020204030204" pitchFamily="34" charset="0"/>
                <a:cs typeface="Times New Roman" panose="02020603050405020304" pitchFamily="18" charset="0"/>
              </a:rPr>
              <a:t>SPA : </a:t>
            </a:r>
          </a:p>
          <a:p>
            <a:pPr marL="742950" lvl="1" indent="-285750">
              <a:lnSpc>
                <a:spcPct val="150000"/>
              </a:lnSpc>
              <a:buFont typeface="Arial" panose="020B0604020202020204" pitchFamily="34" charset="0"/>
              <a:buChar char="•"/>
            </a:pPr>
            <a:r>
              <a:rPr kumimoji="0" lang="fr-FR" altLang="fr-FR" sz="1200" b="0" i="0" u="none" strike="noStrike" cap="none" normalizeH="0" baseline="0" dirty="0">
                <a:ln>
                  <a:noFill/>
                </a:ln>
                <a:solidFill>
                  <a:srgbClr val="000000"/>
                </a:solidFill>
                <a:effectLst/>
                <a:latin typeface="Nunito" pitchFamily="2" charset="0"/>
                <a:ea typeface="Aptos" panose="020B0004020202020204" pitchFamily="34" charset="0"/>
                <a:cs typeface="Times New Roman" panose="02020603050405020304" pitchFamily="18" charset="0"/>
              </a:rPr>
              <a:t>1000$ de rabais sur les Solstice et Jacuzzi. Inclus spa de nage.</a:t>
            </a:r>
          </a:p>
          <a:p>
            <a:pPr marL="742950" lvl="1" indent="-285750">
              <a:lnSpc>
                <a:spcPct val="150000"/>
              </a:lnSpc>
              <a:buFont typeface="Arial" panose="020B0604020202020204" pitchFamily="34" charset="0"/>
              <a:buChar char="•"/>
            </a:pPr>
            <a:r>
              <a:rPr kumimoji="0" lang="fr-FR" altLang="fr-FR" sz="1200" b="0" i="0" u="none" strike="noStrike" cap="none" normalizeH="0" baseline="0" dirty="0">
                <a:ln>
                  <a:noFill/>
                </a:ln>
                <a:solidFill>
                  <a:srgbClr val="000000"/>
                </a:solidFill>
                <a:effectLst/>
                <a:latin typeface="Nunito" pitchFamily="2" charset="0"/>
                <a:ea typeface="Aptos" panose="020B0004020202020204" pitchFamily="34" charset="0"/>
                <a:cs typeface="Times New Roman" panose="02020603050405020304" pitchFamily="18" charset="0"/>
              </a:rPr>
              <a:t>Financement 48 mois à 5.99% sur les spas détentes</a:t>
            </a:r>
          </a:p>
          <a:p>
            <a:pPr marL="285750" indent="-285750">
              <a:lnSpc>
                <a:spcPct val="150000"/>
              </a:lnSpc>
              <a:buFont typeface="Arial" panose="020B0604020202020204" pitchFamily="34" charset="0"/>
              <a:buChar char="•"/>
            </a:pPr>
            <a:r>
              <a:rPr lang="fr-CA" sz="1200" b="1" dirty="0">
                <a:latin typeface="Nunito" pitchFamily="2" charset="0"/>
                <a:ea typeface="Calibri" panose="020F0502020204030204" pitchFamily="34" charset="0"/>
                <a:cs typeface="Times New Roman" panose="02020603050405020304" pitchFamily="18" charset="0"/>
              </a:rPr>
              <a:t>PISCINES HT :  </a:t>
            </a:r>
          </a:p>
          <a:p>
            <a:pPr marL="742950" lvl="1" indent="-285750">
              <a:lnSpc>
                <a:spcPct val="150000"/>
              </a:lnSpc>
              <a:buFont typeface="Arial" panose="020B0604020202020204" pitchFamily="34" charset="0"/>
              <a:buChar char="•"/>
            </a:pPr>
            <a:r>
              <a:rPr lang="fr-CA" sz="1200" dirty="0">
                <a:latin typeface="Nunito" pitchFamily="2" charset="0"/>
                <a:ea typeface="Calibri" panose="020F0502020204030204" pitchFamily="34" charset="0"/>
                <a:cs typeface="Times New Roman" panose="02020603050405020304" pitchFamily="18" charset="0"/>
              </a:rPr>
              <a:t>Rabais de 1500$ sur toutes les piscines hors terre chauffée + financement 48 mois à 5.99%.</a:t>
            </a:r>
          </a:p>
          <a:p>
            <a:pPr marL="285750" indent="-285750">
              <a:lnSpc>
                <a:spcPct val="150000"/>
              </a:lnSpc>
              <a:buFont typeface="Arial" panose="020B0604020202020204" pitchFamily="34" charset="0"/>
              <a:buChar char="•"/>
            </a:pPr>
            <a:r>
              <a:rPr lang="fr-CA" sz="1200" b="1" dirty="0">
                <a:latin typeface="Nunito" pitchFamily="2" charset="0"/>
                <a:ea typeface="Calibri" panose="020F0502020204030204" pitchFamily="34" charset="0"/>
                <a:cs typeface="Times New Roman" panose="02020603050405020304" pitchFamily="18" charset="0"/>
              </a:rPr>
              <a:t>CREUSÉE: </a:t>
            </a:r>
            <a:r>
              <a:rPr lang="fr-CA" sz="1200" dirty="0">
                <a:latin typeface="Nunito" pitchFamily="2" charset="0"/>
                <a:ea typeface="Calibri" panose="020F0502020204030204" pitchFamily="34" charset="0"/>
                <a:cs typeface="Times New Roman" panose="02020603050405020304" pitchFamily="18" charset="0"/>
              </a:rPr>
              <a:t>Jusqu’à 7000$ sur  les piscines creusées en acier.</a:t>
            </a:r>
          </a:p>
          <a:p>
            <a:pPr marL="285750" indent="-285750">
              <a:lnSpc>
                <a:spcPct val="150000"/>
              </a:lnSpc>
              <a:buFont typeface="Arial" panose="020B0604020202020204" pitchFamily="34" charset="0"/>
              <a:buChar char="•"/>
            </a:pPr>
            <a:r>
              <a:rPr lang="fr-CA" sz="1200" b="1" dirty="0">
                <a:latin typeface="Nunito" pitchFamily="2" charset="0"/>
                <a:ea typeface="Calibri" panose="020F0502020204030204" pitchFamily="34" charset="0"/>
                <a:cs typeface="Times New Roman" panose="02020603050405020304" pitchFamily="18" charset="0"/>
              </a:rPr>
              <a:t>FIBRE:  </a:t>
            </a:r>
            <a:r>
              <a:rPr lang="fr-CA" sz="1200" dirty="0">
                <a:latin typeface="Nunito" pitchFamily="2" charset="0"/>
                <a:ea typeface="Calibri" panose="020F0502020204030204" pitchFamily="34" charset="0"/>
                <a:cs typeface="Times New Roman" panose="02020603050405020304" pitchFamily="18" charset="0"/>
              </a:rPr>
              <a:t>Aucun changement.</a:t>
            </a:r>
          </a:p>
          <a:p>
            <a:pPr marL="285750" indent="-285750">
              <a:lnSpc>
                <a:spcPct val="150000"/>
              </a:lnSpc>
              <a:buFont typeface="Arial" panose="020B0604020202020204" pitchFamily="34" charset="0"/>
              <a:buChar char="•"/>
            </a:pPr>
            <a:r>
              <a:rPr lang="fr-CA" sz="1200" b="1" dirty="0">
                <a:latin typeface="Nunito" pitchFamily="2" charset="0"/>
                <a:cs typeface="Times New Roman" panose="02020603050405020304" pitchFamily="18" charset="0"/>
              </a:rPr>
              <a:t>MEUBLE:  </a:t>
            </a:r>
            <a:r>
              <a:rPr lang="fr-FR" sz="1200" dirty="0">
                <a:latin typeface="Nunito" pitchFamily="2" charset="0"/>
                <a:ea typeface="Calibri" panose="020F0502020204030204" pitchFamily="34" charset="0"/>
                <a:cs typeface="Times New Roman" panose="02020603050405020304" pitchFamily="18" charset="0"/>
              </a:rPr>
              <a:t>Jusqu'à 40% de rabais sur les meubles, table-foyer et accessoires sélectionnés+ 24 mois sans intérêt.</a:t>
            </a:r>
            <a:r>
              <a:rPr lang="fr-CA" sz="1200" dirty="0">
                <a:latin typeface="Nunito" pitchFamily="2" charset="0"/>
                <a:ea typeface="Calibri" panose="020F0502020204030204" pitchFamily="34" charset="0"/>
                <a:cs typeface="Times New Roman" panose="02020603050405020304" pitchFamily="18" charset="0"/>
              </a:rPr>
              <a:t>.</a:t>
            </a:r>
            <a:endParaRPr lang="fr-FR" dirty="0"/>
          </a:p>
          <a:p>
            <a:pPr marL="285750" indent="-285750">
              <a:lnSpc>
                <a:spcPct val="150000"/>
              </a:lnSpc>
              <a:buFont typeface="Arial" panose="020B0604020202020204" pitchFamily="34" charset="0"/>
              <a:buChar char="•"/>
            </a:pPr>
            <a:r>
              <a:rPr lang="fr-CA" sz="1200" b="1" dirty="0">
                <a:latin typeface="Nunito" pitchFamily="2" charset="0"/>
                <a:ea typeface="Calibri" panose="020F0502020204030204" pitchFamily="34" charset="0"/>
                <a:cs typeface="Times New Roman" panose="02020603050405020304" pitchFamily="18" charset="0"/>
              </a:rPr>
              <a:t>GAZEBO:</a:t>
            </a:r>
            <a:r>
              <a:rPr lang="fr-CA" sz="1200" dirty="0">
                <a:latin typeface="Nunito" pitchFamily="2" charset="0"/>
                <a:ea typeface="Calibri" panose="020F0502020204030204" pitchFamily="34" charset="0"/>
                <a:cs typeface="Times New Roman" panose="02020603050405020304" pitchFamily="18" charset="0"/>
              </a:rPr>
              <a:t>  Jusqu’à 1000$ de rabais. Ajout de rabais.</a:t>
            </a:r>
          </a:p>
          <a:p>
            <a:pPr marL="285750" indent="-285750">
              <a:lnSpc>
                <a:spcPct val="150000"/>
              </a:lnSpc>
              <a:buFont typeface="Arial" panose="020B0604020202020204" pitchFamily="34" charset="0"/>
              <a:buChar char="•"/>
            </a:pPr>
            <a:r>
              <a:rPr lang="fr-CA" sz="1200" b="1" dirty="0">
                <a:latin typeface="Nunito" pitchFamily="2" charset="0"/>
                <a:ea typeface="Calibri" panose="020F0502020204030204" pitchFamily="34" charset="0"/>
                <a:cs typeface="Times New Roman" panose="02020603050405020304" pitchFamily="18" charset="0"/>
              </a:rPr>
              <a:t>BBQ</a:t>
            </a:r>
            <a:r>
              <a:rPr lang="fr-CA" sz="1200" dirty="0">
                <a:latin typeface="Nunito" pitchFamily="2" charset="0"/>
                <a:ea typeface="Calibri" panose="020F0502020204030204" pitchFamily="34" charset="0"/>
                <a:cs typeface="Times New Roman" panose="02020603050405020304" pitchFamily="18" charset="0"/>
              </a:rPr>
              <a:t>: Voir promo du manufacturier en cours.</a:t>
            </a:r>
          </a:p>
          <a:p>
            <a:pPr marL="285750" indent="-285750">
              <a:lnSpc>
                <a:spcPct val="150000"/>
              </a:lnSpc>
              <a:buFont typeface="Arial" panose="020B0604020202020204" pitchFamily="34" charset="0"/>
              <a:buChar char="•"/>
            </a:pPr>
            <a:r>
              <a:rPr lang="fr-CA" sz="1200" b="1" dirty="0">
                <a:latin typeface="Nunito" pitchFamily="2" charset="0"/>
                <a:ea typeface="Calibri" panose="020F0502020204030204" pitchFamily="34" charset="0"/>
                <a:cs typeface="Times New Roman" panose="02020603050405020304" pitchFamily="18" charset="0"/>
              </a:rPr>
              <a:t>AUTRES:</a:t>
            </a:r>
          </a:p>
          <a:p>
            <a:pPr marL="742950" lvl="1" indent="-285750">
              <a:lnSpc>
                <a:spcPct val="150000"/>
              </a:lnSpc>
              <a:buFont typeface="Arial" panose="020B0604020202020204" pitchFamily="34" charset="0"/>
              <a:buChar char="•"/>
            </a:pPr>
            <a:r>
              <a:rPr lang="fr-CA" sz="1100" dirty="0">
                <a:latin typeface="Nunito" pitchFamily="2" charset="0"/>
                <a:ea typeface="Calibri" panose="020F0502020204030204" pitchFamily="34" charset="0"/>
                <a:cs typeface="Times New Roman" panose="02020603050405020304" pitchFamily="18" charset="0"/>
              </a:rPr>
              <a:t>Jusqu’à 1500$ de rabais sur les cabanons Fiberwood – Jusqu’u 16 juillet 2025</a:t>
            </a:r>
          </a:p>
          <a:p>
            <a:pPr marL="742950" lvl="1" indent="-285750">
              <a:lnSpc>
                <a:spcPct val="150000"/>
              </a:lnSpc>
              <a:buFont typeface="Arial" panose="020B0604020202020204" pitchFamily="34" charset="0"/>
              <a:buChar char="•"/>
            </a:pPr>
            <a:r>
              <a:rPr lang="fr-CA" sz="1100" dirty="0">
                <a:latin typeface="Nunito" pitchFamily="2" charset="0"/>
                <a:ea typeface="Calibri" panose="020F0502020204030204" pitchFamily="34" charset="0"/>
                <a:cs typeface="Times New Roman" panose="02020603050405020304" pitchFamily="18" charset="0"/>
              </a:rPr>
              <a:t>Jusqu’à 15% de rabais sur les spas gonflable et piscine gonflables </a:t>
            </a:r>
            <a:r>
              <a:rPr lang="fr-CA" sz="1100" dirty="0" err="1">
                <a:latin typeface="Nunito" pitchFamily="2" charset="0"/>
                <a:ea typeface="Calibri" panose="020F0502020204030204" pitchFamily="34" charset="0"/>
                <a:cs typeface="Times New Roman" panose="02020603050405020304" pitchFamily="18" charset="0"/>
              </a:rPr>
              <a:t>Bestway</a:t>
            </a:r>
            <a:r>
              <a:rPr lang="fr-CA" sz="1100" dirty="0">
                <a:latin typeface="Nunito" pitchFamily="2" charset="0"/>
                <a:ea typeface="Calibri" panose="020F0502020204030204" pitchFamily="34" charset="0"/>
                <a:cs typeface="Times New Roman" panose="02020603050405020304" pitchFamily="18" charset="0"/>
              </a:rPr>
              <a:t> </a:t>
            </a:r>
          </a:p>
          <a:p>
            <a:pPr marL="742950" lvl="1" indent="-285750">
              <a:lnSpc>
                <a:spcPct val="150000"/>
              </a:lnSpc>
              <a:buFont typeface="Arial" panose="020B0604020202020204" pitchFamily="34" charset="0"/>
              <a:buChar char="•"/>
            </a:pPr>
            <a:r>
              <a:rPr lang="fr-FR" sz="1100" dirty="0">
                <a:latin typeface="Nunito" pitchFamily="2" charset="0"/>
                <a:ea typeface="Calibri" panose="020F0502020204030204" pitchFamily="34" charset="0"/>
                <a:cs typeface="Times New Roman" panose="02020603050405020304" pitchFamily="18" charset="0"/>
              </a:rPr>
              <a:t>15% de rabais sur les jeux et gonflables (exclut aide à la nage et sport) - 18 juin au 7 juillet</a:t>
            </a:r>
          </a:p>
          <a:p>
            <a:pPr marL="742950" lvl="1" indent="-285750">
              <a:lnSpc>
                <a:spcPct val="150000"/>
              </a:lnSpc>
              <a:buFont typeface="Arial" panose="020B0604020202020204" pitchFamily="34" charset="0"/>
              <a:buChar char="•"/>
            </a:pPr>
            <a:r>
              <a:rPr lang="fr-FR" sz="1100" dirty="0">
                <a:latin typeface="Nunito" pitchFamily="2" charset="0"/>
                <a:ea typeface="Calibri" panose="020F0502020204030204" pitchFamily="34" charset="0"/>
                <a:cs typeface="Times New Roman" panose="02020603050405020304" pitchFamily="18" charset="0"/>
              </a:rPr>
              <a:t>ICO en promo à 499.99$</a:t>
            </a:r>
          </a:p>
          <a:p>
            <a:pPr marL="742950" lvl="1" indent="-285750">
              <a:lnSpc>
                <a:spcPct val="150000"/>
              </a:lnSpc>
              <a:buFont typeface="Arial" panose="020B0604020202020204" pitchFamily="34" charset="0"/>
              <a:buChar char="•"/>
            </a:pPr>
            <a:r>
              <a:rPr lang="fr-FR" sz="1100" dirty="0">
                <a:latin typeface="Nunito" pitchFamily="2" charset="0"/>
                <a:ea typeface="Calibri" panose="020F0502020204030204" pitchFamily="34" charset="0"/>
                <a:cs typeface="Times New Roman" panose="02020603050405020304" pitchFamily="18" charset="0"/>
              </a:rPr>
              <a:t>À l’achat d’un gazebo, obtenez 15% de rabais sur les tuiles de composites </a:t>
            </a:r>
            <a:r>
              <a:rPr lang="fr-FR" sz="1100" dirty="0" err="1">
                <a:latin typeface="Nunito" pitchFamily="2" charset="0"/>
                <a:ea typeface="Calibri" panose="020F0502020204030204" pitchFamily="34" charset="0"/>
                <a:cs typeface="Times New Roman" panose="02020603050405020304" pitchFamily="18" charset="0"/>
              </a:rPr>
              <a:t>LeadVision</a:t>
            </a:r>
            <a:endParaRPr lang="fr-FR" sz="1100" dirty="0">
              <a:latin typeface="Nunito" pitchFamily="2" charset="0"/>
              <a:ea typeface="Calibri" panose="020F0502020204030204" pitchFamily="34" charset="0"/>
              <a:cs typeface="Times New Roman" panose="02020603050405020304" pitchFamily="18" charset="0"/>
            </a:endParaRPr>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1</a:t>
            </a:fld>
            <a:endParaRPr lang="fr-CA" dirty="0"/>
          </a:p>
        </p:txBody>
      </p:sp>
      <p:sp>
        <p:nvSpPr>
          <p:cNvPr id="7" name="Zone de texte 28">
            <a:extLst>
              <a:ext uri="{FF2B5EF4-FFF2-40B4-BE49-F238E27FC236}">
                <a16:creationId xmlns:a16="http://schemas.microsoft.com/office/drawing/2014/main" id="{9954BF8A-DD31-9DF8-A9CE-38C033095C3B}"/>
              </a:ext>
            </a:extLst>
          </p:cNvPr>
          <p:cNvSpPr txBox="1">
            <a:spLocks/>
          </p:cNvSpPr>
          <p:nvPr>
            <p:custDataLst>
              <p:tags r:id="rId4"/>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4" name="ZoneTexte 3">
            <a:extLst>
              <a:ext uri="{FF2B5EF4-FFF2-40B4-BE49-F238E27FC236}">
                <a16:creationId xmlns:a16="http://schemas.microsoft.com/office/drawing/2014/main" id="{881EABBC-C49F-FFC2-4E49-3F25AF558C54}"/>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pic>
        <p:nvPicPr>
          <p:cNvPr id="5" name="Image 4" descr="Une image contenant Graphique, Police, émoticône, texte&#10;&#10;Le contenu généré par l’IA peut être incorrect.">
            <a:extLst>
              <a:ext uri="{FF2B5EF4-FFF2-40B4-BE49-F238E27FC236}">
                <a16:creationId xmlns:a16="http://schemas.microsoft.com/office/drawing/2014/main" id="{6A011CA4-D025-2CF7-B847-8536ABDB2C7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
        <p:nvSpPr>
          <p:cNvPr id="9" name="ZoneTexte 8">
            <a:extLst>
              <a:ext uri="{FF2B5EF4-FFF2-40B4-BE49-F238E27FC236}">
                <a16:creationId xmlns:a16="http://schemas.microsoft.com/office/drawing/2014/main" id="{A8B0C627-E33D-56E6-4D72-651D6EA52AA9}"/>
              </a:ext>
            </a:extLst>
          </p:cNvPr>
          <p:cNvSpPr txBox="1"/>
          <p:nvPr/>
        </p:nvSpPr>
        <p:spPr>
          <a:xfrm>
            <a:off x="1016731" y="8700357"/>
            <a:ext cx="4824538" cy="261610"/>
          </a:xfrm>
          <a:prstGeom prst="rect">
            <a:avLst/>
          </a:prstGeom>
          <a:noFill/>
        </p:spPr>
        <p:txBody>
          <a:bodyPr wrap="square">
            <a:spAutoFit/>
          </a:bodyPr>
          <a:lstStyle/>
          <a:p>
            <a:pPr lvl="1" algn="ctr">
              <a:lnSpc>
                <a:spcPct val="150000"/>
              </a:lnSpc>
            </a:pPr>
            <a:r>
              <a:rPr lang="fr-FR" sz="800" b="1" dirty="0">
                <a:latin typeface="Nunito" pitchFamily="2" charset="0"/>
                <a:ea typeface="Calibri" panose="020F0502020204030204" pitchFamily="34" charset="0"/>
                <a:cs typeface="Times New Roman" panose="02020603050405020304" pitchFamily="18" charset="0"/>
              </a:rPr>
              <a:t>Voir toutes les promotions détaillées dans les pages suivantes.</a:t>
            </a:r>
            <a:endParaRPr lang="fr-FR" sz="800" dirty="0">
              <a:latin typeface="Nunito"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3557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custDataLst>
              <p:tags r:id="rId1"/>
            </p:custDataLst>
          </p:nvPr>
        </p:nvSpPr>
        <p:spPr>
          <a:xfrm>
            <a:off x="260646" y="2267744"/>
            <a:ext cx="6408713" cy="5047536"/>
          </a:xfrm>
          <a:prstGeom prst="rect">
            <a:avLst/>
          </a:prstGeom>
          <a:noFill/>
          <a:ln>
            <a:solidFill>
              <a:schemeClr val="tx1"/>
            </a:solidFill>
          </a:ln>
        </p:spPr>
        <p:txBody>
          <a:bodyPr wrap="square">
            <a:spAutoFit/>
          </a:bodyPr>
          <a:lstStyle/>
          <a:p>
            <a:r>
              <a:rPr lang="fr-CA" sz="1400" b="1" dirty="0">
                <a:latin typeface="Nunito" pitchFamily="2" charset="0"/>
              </a:rPr>
              <a:t>JACUZZI </a:t>
            </a:r>
            <a:endParaRPr lang="fr-CA" sz="1400" dirty="0">
              <a:latin typeface="Nunito" pitchFamily="2" charset="0"/>
            </a:endParaRPr>
          </a:p>
          <a:p>
            <a:pPr marL="342900" indent="-342900">
              <a:buFont typeface="Symbol" panose="05050102010706020507" pitchFamily="18" charset="2"/>
              <a:buChar char=""/>
            </a:pPr>
            <a:r>
              <a:rPr lang="fr-FR" sz="1400" b="1" dirty="0">
                <a:latin typeface="Nunito" pitchFamily="2" charset="0"/>
              </a:rPr>
              <a:t>Rabais de 1000$ </a:t>
            </a:r>
            <a:r>
              <a:rPr lang="fr-FR" sz="1400" dirty="0">
                <a:latin typeface="Nunito" pitchFamily="2" charset="0"/>
              </a:rPr>
              <a:t>sur tous les JACUZZI </a:t>
            </a:r>
          </a:p>
          <a:p>
            <a:pPr marL="342900" indent="-342900">
              <a:buFont typeface="Symbol" panose="05050102010706020507" pitchFamily="18" charset="2"/>
              <a:buChar char=""/>
            </a:pPr>
            <a:r>
              <a:rPr lang="fr-FR" sz="1400" dirty="0">
                <a:latin typeface="Nunito" pitchFamily="2" charset="0"/>
              </a:rPr>
              <a:t>Rabais de 50% sur l’option de </a:t>
            </a:r>
            <a:r>
              <a:rPr lang="fr-FR" sz="1400" b="1" dirty="0">
                <a:latin typeface="Nunito" pitchFamily="2" charset="0"/>
              </a:rPr>
              <a:t>couleur mat Canyon </a:t>
            </a:r>
            <a:r>
              <a:rPr lang="fr-FR" sz="1400" dirty="0">
                <a:latin typeface="Nunito" pitchFamily="2" charset="0"/>
              </a:rPr>
              <a:t>PTR 182471, 182472, 182473 et 182474 (valeur de 500$ donc rabais de 250$). Promotion non diffusée.</a:t>
            </a:r>
          </a:p>
          <a:p>
            <a:pPr marL="342900" indent="-342900">
              <a:buFont typeface="Symbol" panose="05050102010706020507" pitchFamily="18" charset="2"/>
              <a:buChar char=""/>
            </a:pPr>
            <a:r>
              <a:rPr lang="fr-CA" sz="1400" dirty="0">
                <a:latin typeface="Nunito" pitchFamily="2" charset="0"/>
              </a:rPr>
              <a:t>Le levier, la marche, et le GFCI standards sont </a:t>
            </a:r>
            <a:r>
              <a:rPr lang="fr-CA" sz="1400" b="1" dirty="0">
                <a:latin typeface="Nunito" pitchFamily="2" charset="0"/>
              </a:rPr>
              <a:t>INCLUS</a:t>
            </a:r>
            <a:r>
              <a:rPr lang="fr-CA" sz="1400" dirty="0">
                <a:latin typeface="Nunito" pitchFamily="2" charset="0"/>
              </a:rPr>
              <a:t>.</a:t>
            </a:r>
            <a:endParaRPr lang="fr-FR" sz="1400" b="1" dirty="0">
              <a:latin typeface="Nunito" pitchFamily="2" charset="0"/>
            </a:endParaRPr>
          </a:p>
          <a:p>
            <a:pPr marL="342900" indent="-342900">
              <a:buFont typeface="Symbol" panose="05050102010706020507" pitchFamily="18" charset="2"/>
              <a:buChar char=""/>
            </a:pPr>
            <a:r>
              <a:rPr lang="fr-FR" sz="1400" dirty="0">
                <a:latin typeface="Nunito" pitchFamily="2" charset="0"/>
              </a:rPr>
              <a:t>La livraison </a:t>
            </a:r>
            <a:r>
              <a:rPr lang="fr-FR" sz="1400" b="1" dirty="0">
                <a:latin typeface="Nunito" pitchFamily="2" charset="0"/>
              </a:rPr>
              <a:t>N’EST PAS INCLUSE</a:t>
            </a:r>
          </a:p>
          <a:p>
            <a:pPr marL="342900" indent="-342900">
              <a:buFont typeface="Symbol" panose="05050102010706020507" pitchFamily="18" charset="2"/>
              <a:buChar char=""/>
            </a:pPr>
            <a:r>
              <a:rPr lang="fr-FR" sz="1400" b="1" dirty="0">
                <a:latin typeface="Nunito" pitchFamily="2" charset="0"/>
              </a:rPr>
              <a:t>Financement : </a:t>
            </a:r>
            <a:r>
              <a:rPr lang="fr-FR" sz="1400" dirty="0">
                <a:latin typeface="Nunito" pitchFamily="2" charset="0"/>
              </a:rPr>
              <a:t>48 mois à 5.99% (code 36485).</a:t>
            </a:r>
          </a:p>
          <a:p>
            <a:pPr marL="800100" lvl="1" indent="-342900">
              <a:buFont typeface="Wingdings" panose="05000000000000000000" pitchFamily="2" charset="2"/>
              <a:buChar char="Ø"/>
            </a:pPr>
            <a:r>
              <a:rPr lang="fr-FR" sz="1400" dirty="0">
                <a:latin typeface="Nunito" pitchFamily="2" charset="0"/>
              </a:rPr>
              <a:t>Rabais de 500$ si le client ne prend pas le financement.</a:t>
            </a:r>
          </a:p>
          <a:p>
            <a:endParaRPr lang="fr-CA" sz="1400" b="1" dirty="0">
              <a:latin typeface="Nunito" pitchFamily="2" charset="0"/>
            </a:endParaRPr>
          </a:p>
          <a:p>
            <a:r>
              <a:rPr lang="fr-FR" sz="1400" b="1" dirty="0">
                <a:effectLst/>
                <a:latin typeface="Nunito" pitchFamily="2" charset="0"/>
              </a:rPr>
              <a:t>TROUSSE 2025</a:t>
            </a:r>
          </a:p>
          <a:p>
            <a:r>
              <a:rPr lang="fr-FR" sz="1400" dirty="0">
                <a:effectLst/>
                <a:latin typeface="Nunito" pitchFamily="2" charset="0"/>
              </a:rPr>
              <a:t>Tous les modèles viennent avec la promotion ‘’Trousse énergétique </a:t>
            </a:r>
            <a:r>
              <a:rPr lang="fr-FR" sz="1400" dirty="0" err="1">
                <a:effectLst/>
                <a:latin typeface="Nunito" pitchFamily="2" charset="0"/>
              </a:rPr>
              <a:t>SmartTub</a:t>
            </a:r>
            <a:r>
              <a:rPr lang="fr-FR" sz="1400" dirty="0">
                <a:effectLst/>
                <a:latin typeface="Nunito" pitchFamily="2" charset="0"/>
              </a:rPr>
              <a:t> </a:t>
            </a:r>
            <a:r>
              <a:rPr lang="fr-FR" sz="1400" dirty="0" err="1">
                <a:effectLst/>
                <a:latin typeface="Nunito" pitchFamily="2" charset="0"/>
              </a:rPr>
              <a:t>play</a:t>
            </a:r>
            <a:r>
              <a:rPr lang="fr-FR" sz="1400" dirty="0">
                <a:effectLst/>
                <a:latin typeface="Nunito" pitchFamily="2" charset="0"/>
              </a:rPr>
              <a:t>’’ d’une valeur ajoutée de :</a:t>
            </a:r>
          </a:p>
          <a:p>
            <a:pPr marL="628650" lvl="1" indent="-171450">
              <a:buFont typeface="Courier New" panose="02070309020205020404" pitchFamily="49" charset="0"/>
              <a:buChar char="o"/>
            </a:pPr>
            <a:r>
              <a:rPr lang="fr-FR" sz="1400" b="1" dirty="0">
                <a:latin typeface="Nunito" pitchFamily="2" charset="0"/>
                <a:cs typeface="Times New Roman" panose="02020603050405020304" pitchFamily="18" charset="0"/>
              </a:rPr>
              <a:t>1998$ </a:t>
            </a:r>
            <a:r>
              <a:rPr lang="fr-FR" sz="1400" dirty="0">
                <a:latin typeface="Nunito" pitchFamily="2" charset="0"/>
                <a:cs typeface="Times New Roman" panose="02020603050405020304" pitchFamily="18" charset="0"/>
              </a:rPr>
              <a:t>sur la série J-300 incluant l'application Smart Tub + la couverture </a:t>
            </a:r>
            <a:r>
              <a:rPr lang="fr-FR" sz="1400" dirty="0" err="1">
                <a:latin typeface="Nunito" pitchFamily="2" charset="0"/>
                <a:cs typeface="Times New Roman" panose="02020603050405020304" pitchFamily="18" charset="0"/>
              </a:rPr>
              <a:t>Prolast</a:t>
            </a:r>
            <a:r>
              <a:rPr lang="fr-FR" sz="1400" dirty="0">
                <a:latin typeface="Nunito" pitchFamily="2" charset="0"/>
                <a:cs typeface="Times New Roman" panose="02020603050405020304" pitchFamily="18" charset="0"/>
              </a:rPr>
              <a:t> </a:t>
            </a:r>
            <a:r>
              <a:rPr lang="fr-FR" sz="1400" dirty="0" err="1">
                <a:latin typeface="Nunito" pitchFamily="2" charset="0"/>
                <a:cs typeface="Times New Roman" panose="02020603050405020304" pitchFamily="18" charset="0"/>
              </a:rPr>
              <a:t>Extreme</a:t>
            </a:r>
            <a:r>
              <a:rPr lang="fr-FR" sz="1400" dirty="0">
                <a:latin typeface="Nunito" pitchFamily="2" charset="0"/>
                <a:cs typeface="Times New Roman" panose="02020603050405020304" pitchFamily="18" charset="0"/>
              </a:rPr>
              <a:t> + l'isolation Smart Seal</a:t>
            </a:r>
          </a:p>
          <a:p>
            <a:pPr marL="628650" lvl="1" indent="-171450">
              <a:buFont typeface="Courier New" panose="02070309020205020404" pitchFamily="49" charset="0"/>
              <a:buChar char="o"/>
            </a:pPr>
            <a:r>
              <a:rPr lang="fr-FR" sz="1400" b="1" dirty="0">
                <a:latin typeface="Nunito" pitchFamily="2" charset="0"/>
                <a:cs typeface="Times New Roman" panose="02020603050405020304" pitchFamily="18" charset="0"/>
              </a:rPr>
              <a:t>999$ </a:t>
            </a:r>
            <a:r>
              <a:rPr lang="fr-FR" sz="1400" dirty="0">
                <a:latin typeface="Nunito" pitchFamily="2" charset="0"/>
                <a:cs typeface="Times New Roman" panose="02020603050405020304" pitchFamily="18" charset="0"/>
              </a:rPr>
              <a:t>sur la série J-400 incluant la couverture </a:t>
            </a:r>
            <a:r>
              <a:rPr lang="fr-FR" sz="1400" dirty="0" err="1">
                <a:latin typeface="Nunito" pitchFamily="2" charset="0"/>
                <a:cs typeface="Times New Roman" panose="02020603050405020304" pitchFamily="18" charset="0"/>
              </a:rPr>
              <a:t>Prolast</a:t>
            </a:r>
            <a:r>
              <a:rPr lang="fr-FR" sz="1400" dirty="0">
                <a:latin typeface="Nunito" pitchFamily="2" charset="0"/>
                <a:cs typeface="Times New Roman" panose="02020603050405020304" pitchFamily="18" charset="0"/>
              </a:rPr>
              <a:t> </a:t>
            </a:r>
            <a:r>
              <a:rPr lang="fr-FR" sz="1400" dirty="0" err="1">
                <a:latin typeface="Nunito" pitchFamily="2" charset="0"/>
                <a:cs typeface="Times New Roman" panose="02020603050405020304" pitchFamily="18" charset="0"/>
              </a:rPr>
              <a:t>Extreme</a:t>
            </a:r>
            <a:r>
              <a:rPr lang="fr-FR" sz="1400" dirty="0">
                <a:latin typeface="Nunito" pitchFamily="2" charset="0"/>
                <a:cs typeface="Times New Roman" panose="02020603050405020304" pitchFamily="18" charset="0"/>
              </a:rPr>
              <a:t> + l'isolation Smart Seal</a:t>
            </a:r>
          </a:p>
          <a:p>
            <a:pPr marL="628650" lvl="1" indent="-171450">
              <a:buFont typeface="Courier New" panose="02070309020205020404" pitchFamily="49" charset="0"/>
              <a:buChar char="o"/>
            </a:pPr>
            <a:r>
              <a:rPr lang="fr-FR" sz="1400" b="1" dirty="0">
                <a:latin typeface="Nunito" pitchFamily="2" charset="0"/>
                <a:cs typeface="Times New Roman" panose="02020603050405020304" pitchFamily="18" charset="0"/>
              </a:rPr>
              <a:t>300$ </a:t>
            </a:r>
            <a:r>
              <a:rPr lang="fr-FR" sz="1400" dirty="0">
                <a:latin typeface="Nunito" pitchFamily="2" charset="0"/>
                <a:cs typeface="Times New Roman" panose="02020603050405020304" pitchFamily="18" charset="0"/>
              </a:rPr>
              <a:t>sur la série J-LX incluant la couverture </a:t>
            </a:r>
            <a:r>
              <a:rPr lang="fr-FR" sz="1400" dirty="0" err="1">
                <a:latin typeface="Nunito" pitchFamily="2" charset="0"/>
                <a:cs typeface="Times New Roman" panose="02020603050405020304" pitchFamily="18" charset="0"/>
              </a:rPr>
              <a:t>Prolast</a:t>
            </a:r>
            <a:r>
              <a:rPr lang="fr-FR" sz="1400" dirty="0">
                <a:latin typeface="Nunito" pitchFamily="2" charset="0"/>
                <a:cs typeface="Times New Roman" panose="02020603050405020304" pitchFamily="18" charset="0"/>
              </a:rPr>
              <a:t> </a:t>
            </a:r>
            <a:r>
              <a:rPr lang="fr-FR" sz="1400" dirty="0" err="1">
                <a:latin typeface="Nunito" pitchFamily="2" charset="0"/>
                <a:cs typeface="Times New Roman" panose="02020603050405020304" pitchFamily="18" charset="0"/>
              </a:rPr>
              <a:t>Extreme</a:t>
            </a:r>
            <a:endParaRPr lang="fr-FR" sz="1400" dirty="0">
              <a:latin typeface="Nunito" pitchFamily="2" charset="0"/>
              <a:cs typeface="Times New Roman" panose="02020603050405020304" pitchFamily="18" charset="0"/>
            </a:endParaRPr>
          </a:p>
          <a:p>
            <a:pPr marL="628650" lvl="1" indent="-171450">
              <a:buFont typeface="Courier New" panose="02070309020205020404" pitchFamily="49" charset="0"/>
              <a:buChar char="o"/>
            </a:pPr>
            <a:r>
              <a:rPr lang="fr-FR" sz="1400" dirty="0">
                <a:latin typeface="Nunito" pitchFamily="2" charset="0"/>
                <a:cs typeface="Times New Roman" panose="02020603050405020304" pitchFamily="18" charset="0"/>
              </a:rPr>
              <a:t>Trousse en option sur la série J-200 d'une valeur de 1299$ incluant l'application Smart Tub et la couverture </a:t>
            </a:r>
            <a:r>
              <a:rPr lang="fr-FR" sz="1400" dirty="0" err="1">
                <a:latin typeface="Nunito" pitchFamily="2" charset="0"/>
                <a:cs typeface="Times New Roman" panose="02020603050405020304" pitchFamily="18" charset="0"/>
              </a:rPr>
              <a:t>Prolast</a:t>
            </a:r>
            <a:r>
              <a:rPr lang="fr-FR" sz="1400" dirty="0">
                <a:latin typeface="Nunito" pitchFamily="2" charset="0"/>
                <a:cs typeface="Times New Roman" panose="02020603050405020304" pitchFamily="18" charset="0"/>
              </a:rPr>
              <a:t> </a:t>
            </a:r>
            <a:r>
              <a:rPr lang="fr-FR" sz="1400" dirty="0" err="1">
                <a:latin typeface="Nunito" pitchFamily="2" charset="0"/>
                <a:cs typeface="Times New Roman" panose="02020603050405020304" pitchFamily="18" charset="0"/>
              </a:rPr>
              <a:t>Extreme</a:t>
            </a:r>
            <a:endParaRPr lang="fr-FR" sz="1400" dirty="0">
              <a:latin typeface="Nunito" pitchFamily="2" charset="0"/>
              <a:cs typeface="Times New Roman" panose="02020603050405020304" pitchFamily="18" charset="0"/>
            </a:endParaRPr>
          </a:p>
          <a:p>
            <a:endParaRPr lang="fr-CA" sz="1400" dirty="0">
              <a:highlight>
                <a:srgbClr val="FFFF00"/>
              </a:highlight>
              <a:latin typeface="Nunito" pitchFamily="2" charset="0"/>
            </a:endParaRPr>
          </a:p>
          <a:p>
            <a:r>
              <a:rPr lang="fr-CA" sz="1400" b="1" dirty="0">
                <a:latin typeface="Nunito" pitchFamily="2" charset="0"/>
              </a:rPr>
              <a:t>PUBLICITÉ</a:t>
            </a:r>
            <a:r>
              <a:rPr lang="fr-CA" sz="1400" dirty="0">
                <a:latin typeface="Nunito" pitchFamily="2" charset="0"/>
              </a:rPr>
              <a:t>: La promotion jusqu’à 2998$ de rabais et avantages comprend 1000$ de rabais + 1998$ Trousse d’économie d’énergie sur la série 300. </a:t>
            </a:r>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2"/>
            </p:custDataLst>
          </p:nvPr>
        </p:nvSpPr>
        <p:spPr/>
        <p:txBody>
          <a:bodyPr/>
          <a:lstStyle/>
          <a:p>
            <a:fld id="{31F4C03E-007A-4FDF-9746-0F09F296E587}" type="slidenum">
              <a:rPr lang="fr-CA" smtClean="0"/>
              <a:t>2</a:t>
            </a:fld>
            <a:endParaRPr lang="fr-CA"/>
          </a:p>
        </p:txBody>
      </p:sp>
      <p:sp>
        <p:nvSpPr>
          <p:cNvPr id="9" name="Zone de texte 28">
            <a:extLst>
              <a:ext uri="{FF2B5EF4-FFF2-40B4-BE49-F238E27FC236}">
                <a16:creationId xmlns:a16="http://schemas.microsoft.com/office/drawing/2014/main" id="{BF7464D2-8A1C-6390-AFDD-26707DAEF7FD}"/>
              </a:ext>
            </a:extLst>
          </p:cNvPr>
          <p:cNvSpPr txBox="1">
            <a:spLocks/>
          </p:cNvSpPr>
          <p:nvPr>
            <p:custDataLst>
              <p:tags r:id="rId3"/>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1" name="Rectangle 10">
            <a:extLst>
              <a:ext uri="{FF2B5EF4-FFF2-40B4-BE49-F238E27FC236}">
                <a16:creationId xmlns:a16="http://schemas.microsoft.com/office/drawing/2014/main" id="{0190023B-B8AE-62B5-EBA4-FD4F7CFFF51A}"/>
              </a:ext>
            </a:extLst>
          </p:cNvPr>
          <p:cNvSpPr/>
          <p:nvPr>
            <p:custDataLst>
              <p:tags r:id="rId4"/>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SPAS</a:t>
            </a:r>
          </a:p>
        </p:txBody>
      </p:sp>
      <p:pic>
        <p:nvPicPr>
          <p:cNvPr id="15" name="Image 14" descr="Une image contenant Graphique, Police, émoticône, texte&#10;&#10;Le contenu généré par l’IA peut être incorrect.">
            <a:extLst>
              <a:ext uri="{FF2B5EF4-FFF2-40B4-BE49-F238E27FC236}">
                <a16:creationId xmlns:a16="http://schemas.microsoft.com/office/drawing/2014/main" id="{FBDB696A-4C0C-3F06-1951-1FFE6A5440D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
        <p:nvSpPr>
          <p:cNvPr id="16" name="ZoneTexte 15">
            <a:extLst>
              <a:ext uri="{FF2B5EF4-FFF2-40B4-BE49-F238E27FC236}">
                <a16:creationId xmlns:a16="http://schemas.microsoft.com/office/drawing/2014/main" id="{EC90878E-C259-7E50-05ED-F152041D84BD}"/>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spTree>
    <p:extLst>
      <p:ext uri="{BB962C8B-B14F-4D97-AF65-F5344CB8AC3E}">
        <p14:creationId xmlns:p14="http://schemas.microsoft.com/office/powerpoint/2010/main" val="1324597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custDataLst>
              <p:tags r:id="rId1"/>
            </p:custDataLst>
          </p:nvPr>
        </p:nvSpPr>
        <p:spPr>
          <a:xfrm>
            <a:off x="260646" y="2267744"/>
            <a:ext cx="6408713" cy="4801314"/>
          </a:xfrm>
          <a:prstGeom prst="rect">
            <a:avLst/>
          </a:prstGeom>
          <a:noFill/>
          <a:ln>
            <a:solidFill>
              <a:schemeClr val="tx1"/>
            </a:solidFill>
          </a:ln>
        </p:spPr>
        <p:txBody>
          <a:bodyPr wrap="square">
            <a:spAutoFit/>
          </a:bodyPr>
          <a:lstStyle/>
          <a:p>
            <a:pPr lvl="1"/>
            <a:endParaRPr lang="fr-CA" sz="1200" dirty="0">
              <a:latin typeface="Nunito" pitchFamily="2" charset="0"/>
            </a:endParaRPr>
          </a:p>
          <a:p>
            <a:r>
              <a:rPr lang="fr-CA" sz="1400" b="1" dirty="0">
                <a:latin typeface="Nunito" pitchFamily="2" charset="0"/>
              </a:rPr>
              <a:t>SOLSTICE </a:t>
            </a:r>
          </a:p>
          <a:p>
            <a:pPr marL="342900" indent="-342900">
              <a:buFont typeface="Symbol" panose="05050102010706020507" pitchFamily="18" charset="2"/>
              <a:buChar char=""/>
            </a:pPr>
            <a:r>
              <a:rPr lang="fr-FR" sz="1400" dirty="0">
                <a:latin typeface="Nunito" pitchFamily="2" charset="0"/>
              </a:rPr>
              <a:t>Rabais de 1000$ sur tous les SOLSTICE</a:t>
            </a:r>
          </a:p>
          <a:p>
            <a:pPr marL="342900" indent="-342900">
              <a:buFont typeface="Symbol" panose="05050102010706020507" pitchFamily="18" charset="2"/>
              <a:buChar char=""/>
            </a:pPr>
            <a:r>
              <a:rPr lang="fr-FR" sz="1400" b="1" dirty="0">
                <a:latin typeface="Nunito" pitchFamily="2" charset="0"/>
              </a:rPr>
              <a:t>Financement : </a:t>
            </a:r>
            <a:r>
              <a:rPr lang="fr-FR" sz="1400" dirty="0">
                <a:latin typeface="Nunito" pitchFamily="2" charset="0"/>
              </a:rPr>
              <a:t>48 mois à 5.99% (code 36485).</a:t>
            </a:r>
          </a:p>
          <a:p>
            <a:pPr marL="800100" lvl="1" indent="-342900">
              <a:buFont typeface="Wingdings" panose="05000000000000000000" pitchFamily="2" charset="2"/>
              <a:buChar char="Ø"/>
            </a:pPr>
            <a:r>
              <a:rPr lang="fr-FR" sz="1400" dirty="0">
                <a:latin typeface="Nunito" pitchFamily="2" charset="0"/>
              </a:rPr>
              <a:t>Rabais de 500$ si le client ne prend pas le financement.</a:t>
            </a:r>
          </a:p>
          <a:p>
            <a:pPr marL="342900" lvl="0" indent="-342900">
              <a:buFont typeface="Symbol" panose="05050102010706020507" pitchFamily="18" charset="2"/>
              <a:buChar char=""/>
            </a:pPr>
            <a:r>
              <a:rPr lang="fr-CA" sz="1400" b="1" dirty="0">
                <a:latin typeface="Nunito" pitchFamily="2" charset="0"/>
              </a:rPr>
              <a:t>PROMO: OBTENEZ 2 SERVIETTES SOLSTICE À L’ACHAT D’UN SPA </a:t>
            </a:r>
            <a:r>
              <a:rPr lang="fr-CA" sz="1400" dirty="0">
                <a:latin typeface="Nunito" pitchFamily="2" charset="0"/>
              </a:rPr>
              <a:t>(</a:t>
            </a:r>
            <a:r>
              <a:rPr lang="fr-CA" sz="1400" i="1" dirty="0">
                <a:latin typeface="Nunito" pitchFamily="2" charset="0"/>
              </a:rPr>
              <a:t>PTR 173988)</a:t>
            </a:r>
            <a:r>
              <a:rPr lang="fr-CA" sz="1400" dirty="0">
                <a:latin typeface="Nunito" pitchFamily="2" charset="0"/>
              </a:rPr>
              <a:t>. </a:t>
            </a:r>
          </a:p>
          <a:p>
            <a:pPr marL="342900" lvl="0" indent="-342900">
              <a:buFont typeface="Symbol" panose="05050102010706020507" pitchFamily="18" charset="2"/>
              <a:buChar char=""/>
            </a:pPr>
            <a:r>
              <a:rPr lang="fr-CA" sz="1400" dirty="0">
                <a:latin typeface="Nunito" pitchFamily="2" charset="0"/>
              </a:rPr>
              <a:t>Le levier, la marche, le GFCI sont </a:t>
            </a:r>
            <a:r>
              <a:rPr lang="fr-CA" sz="1400" b="1" dirty="0">
                <a:latin typeface="Nunito" pitchFamily="2" charset="0"/>
              </a:rPr>
              <a:t>INCLUS</a:t>
            </a:r>
            <a:r>
              <a:rPr lang="fr-CA" sz="1400" dirty="0">
                <a:latin typeface="Nunito" pitchFamily="2" charset="0"/>
              </a:rPr>
              <a:t>.</a:t>
            </a:r>
          </a:p>
          <a:p>
            <a:pPr marL="342900" lvl="0" indent="-342900">
              <a:buFont typeface="Symbol" panose="05050102010706020507" pitchFamily="18" charset="2"/>
              <a:buChar char=""/>
            </a:pPr>
            <a:r>
              <a:rPr lang="fr-CA" sz="1400" dirty="0">
                <a:latin typeface="Nunito" pitchFamily="2" charset="0"/>
              </a:rPr>
              <a:t>La livraison </a:t>
            </a:r>
            <a:r>
              <a:rPr lang="fr-CA" sz="1400" b="1" dirty="0">
                <a:latin typeface="Nunito" pitchFamily="2" charset="0"/>
              </a:rPr>
              <a:t>N’EST PAS INCLUSE</a:t>
            </a:r>
          </a:p>
          <a:p>
            <a:pPr lvl="0"/>
            <a:endParaRPr lang="fr-CA" sz="1400" b="1" dirty="0">
              <a:latin typeface="Nunito" pitchFamily="2" charset="0"/>
            </a:endParaRPr>
          </a:p>
          <a:p>
            <a:endParaRPr lang="fr-CA" sz="1400" dirty="0">
              <a:highlight>
                <a:srgbClr val="FFFF00"/>
              </a:highlight>
              <a:latin typeface="Nunito" pitchFamily="2" charset="0"/>
            </a:endParaRPr>
          </a:p>
          <a:p>
            <a:endParaRPr lang="fr-CA" sz="1400" dirty="0">
              <a:latin typeface="Nunito" pitchFamily="2" charset="0"/>
            </a:endParaRPr>
          </a:p>
          <a:p>
            <a:r>
              <a:rPr lang="fr-CA" sz="1400" b="1" dirty="0">
                <a:latin typeface="Nunito" pitchFamily="2" charset="0"/>
              </a:rPr>
              <a:t>INNOVASPA </a:t>
            </a:r>
          </a:p>
          <a:p>
            <a:pPr marL="285750" indent="-285750">
              <a:buFont typeface="Arial" panose="020B0604020202020204" pitchFamily="34" charset="0"/>
              <a:buChar char="•"/>
            </a:pPr>
            <a:r>
              <a:rPr lang="fr-CA" sz="1400" dirty="0">
                <a:latin typeface="Nunito" pitchFamily="2" charset="0"/>
              </a:rPr>
              <a:t>Concours Gagnez votre spa </a:t>
            </a:r>
            <a:r>
              <a:rPr lang="fr-CA" sz="1400" dirty="0" err="1">
                <a:latin typeface="Nunito" pitchFamily="2" charset="0"/>
              </a:rPr>
              <a:t>Moonsoon</a:t>
            </a:r>
            <a:r>
              <a:rPr lang="fr-CA" sz="1400" dirty="0">
                <a:latin typeface="Nunito" pitchFamily="2" charset="0"/>
              </a:rPr>
              <a:t>. Détail au clubpiscine.ca/concours</a:t>
            </a:r>
          </a:p>
          <a:p>
            <a:pPr marL="285750" indent="-285750">
              <a:buFont typeface="Arial" panose="020B0604020202020204" pitchFamily="34" charset="0"/>
              <a:buChar char="•"/>
            </a:pPr>
            <a:r>
              <a:rPr lang="fr-CA" sz="1400" dirty="0">
                <a:latin typeface="Nunito" pitchFamily="2" charset="0"/>
              </a:rPr>
              <a:t>Spa Blizzard édition limitée en promotion à 6999$</a:t>
            </a:r>
          </a:p>
          <a:p>
            <a:pPr marL="285750" indent="-285750">
              <a:buFont typeface="Arial" panose="020B0604020202020204" pitchFamily="34" charset="0"/>
              <a:buChar char="•"/>
            </a:pPr>
            <a:r>
              <a:rPr lang="fr-CA" sz="1400" dirty="0">
                <a:latin typeface="Nunito" pitchFamily="2" charset="0"/>
              </a:rPr>
              <a:t>Aucun rabais sur les autres modèles</a:t>
            </a:r>
          </a:p>
          <a:p>
            <a:pPr marL="285750" indent="-285750">
              <a:buFont typeface="Arial" panose="020B0604020202020204" pitchFamily="34" charset="0"/>
              <a:buChar char="•"/>
            </a:pPr>
            <a:r>
              <a:rPr lang="fr-CA" sz="1400" dirty="0">
                <a:latin typeface="Nunito" pitchFamily="2" charset="0"/>
              </a:rPr>
              <a:t>Le levier, la marche et le chimique sont vendus séparément. </a:t>
            </a:r>
          </a:p>
          <a:p>
            <a:pPr marL="285750" indent="-285750">
              <a:buFont typeface="Arial" panose="020B0604020202020204" pitchFamily="34" charset="0"/>
              <a:buChar char="•"/>
            </a:pPr>
            <a:r>
              <a:rPr lang="fr-CA" sz="1400" dirty="0">
                <a:latin typeface="Nunito" pitchFamily="2" charset="0"/>
              </a:rPr>
              <a:t>La livraison n’est pas incluse. </a:t>
            </a:r>
          </a:p>
          <a:p>
            <a:pPr marL="285750" indent="-285750">
              <a:buFont typeface="Arial" panose="020B0604020202020204" pitchFamily="34" charset="0"/>
              <a:buChar char="•"/>
            </a:pPr>
            <a:r>
              <a:rPr lang="fr-FR" sz="1400" b="1" dirty="0">
                <a:latin typeface="Nunito" pitchFamily="2" charset="0"/>
              </a:rPr>
              <a:t>Financement: </a:t>
            </a:r>
            <a:r>
              <a:rPr lang="fr-FR" sz="1400" dirty="0">
                <a:latin typeface="Nunito" pitchFamily="2" charset="0"/>
              </a:rPr>
              <a:t>Il n’y a pas de promotion de financement mais vous pouvez offrir l’un des plans réguliers qui se trouvent à la dernière page des instructions de vente.</a:t>
            </a:r>
          </a:p>
          <a:p>
            <a:endParaRPr lang="fr-CA" sz="1400" dirty="0">
              <a:latin typeface="Nunito" pitchFamily="2" charset="0"/>
            </a:endParaRPr>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2"/>
            </p:custDataLst>
          </p:nvPr>
        </p:nvSpPr>
        <p:spPr/>
        <p:txBody>
          <a:bodyPr/>
          <a:lstStyle/>
          <a:p>
            <a:fld id="{31F4C03E-007A-4FDF-9746-0F09F296E587}" type="slidenum">
              <a:rPr lang="fr-CA" smtClean="0"/>
              <a:t>3</a:t>
            </a:fld>
            <a:endParaRPr lang="fr-CA"/>
          </a:p>
        </p:txBody>
      </p:sp>
      <p:pic>
        <p:nvPicPr>
          <p:cNvPr id="3" name="Image 2" descr="Une image contenant Graphique, Police, émoticône, texte&#10;&#10;Le contenu généré par l’IA peut être incorrect.">
            <a:extLst>
              <a:ext uri="{FF2B5EF4-FFF2-40B4-BE49-F238E27FC236}">
                <a16:creationId xmlns:a16="http://schemas.microsoft.com/office/drawing/2014/main" id="{7C6CA8B6-F6D3-0B7F-1920-ACB8FA79104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
        <p:nvSpPr>
          <p:cNvPr id="9" name="Zone de texte 28">
            <a:extLst>
              <a:ext uri="{FF2B5EF4-FFF2-40B4-BE49-F238E27FC236}">
                <a16:creationId xmlns:a16="http://schemas.microsoft.com/office/drawing/2014/main" id="{DD06B021-6AF8-E12B-F76A-1801672E7A2E}"/>
              </a:ext>
            </a:extLst>
          </p:cNvPr>
          <p:cNvSpPr txBox="1">
            <a:spLocks/>
          </p:cNvSpPr>
          <p:nvPr>
            <p:custDataLst>
              <p:tags r:id="rId3"/>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0" name="Rectangle 9">
            <a:extLst>
              <a:ext uri="{FF2B5EF4-FFF2-40B4-BE49-F238E27FC236}">
                <a16:creationId xmlns:a16="http://schemas.microsoft.com/office/drawing/2014/main" id="{6FD7BAEE-A4DA-F4F1-9BDE-F27C81344C9B}"/>
              </a:ext>
            </a:extLst>
          </p:cNvPr>
          <p:cNvSpPr/>
          <p:nvPr>
            <p:custDataLst>
              <p:tags r:id="rId4"/>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SPAS</a:t>
            </a:r>
          </a:p>
        </p:txBody>
      </p:sp>
      <p:sp>
        <p:nvSpPr>
          <p:cNvPr id="11" name="ZoneTexte 10">
            <a:extLst>
              <a:ext uri="{FF2B5EF4-FFF2-40B4-BE49-F238E27FC236}">
                <a16:creationId xmlns:a16="http://schemas.microsoft.com/office/drawing/2014/main" id="{76855BF8-9912-892D-C2CA-F1623A1A65DF}"/>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spTree>
    <p:extLst>
      <p:ext uri="{BB962C8B-B14F-4D97-AF65-F5344CB8AC3E}">
        <p14:creationId xmlns:p14="http://schemas.microsoft.com/office/powerpoint/2010/main" val="3180937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custDataLst>
              <p:tags r:id="rId1"/>
            </p:custDataLst>
          </p:nvPr>
        </p:nvSpPr>
        <p:spPr>
          <a:xfrm>
            <a:off x="260646" y="2267744"/>
            <a:ext cx="6408713" cy="1077218"/>
          </a:xfrm>
          <a:prstGeom prst="rect">
            <a:avLst/>
          </a:prstGeom>
          <a:noFill/>
          <a:ln>
            <a:solidFill>
              <a:schemeClr val="tx1"/>
            </a:solidFill>
          </a:ln>
        </p:spPr>
        <p:txBody>
          <a:bodyPr wrap="square">
            <a:spAutoFit/>
          </a:bodyPr>
          <a:lstStyle/>
          <a:p>
            <a:r>
              <a:rPr lang="fr-CA" sz="1600" b="1" dirty="0">
                <a:latin typeface="Nunito" pitchFamily="2" charset="0"/>
              </a:rPr>
              <a:t>SPA DE NAGE JACUZZI  </a:t>
            </a:r>
          </a:p>
          <a:p>
            <a:pPr marL="285750" indent="-285750">
              <a:buFont typeface="Arial" panose="020B0604020202020204" pitchFamily="34" charset="0"/>
              <a:buChar char="•"/>
            </a:pPr>
            <a:r>
              <a:rPr lang="fr-CA" sz="1600" b="1" dirty="0">
                <a:latin typeface="Nunito" pitchFamily="2" charset="0"/>
              </a:rPr>
              <a:t>1000$ de rabais </a:t>
            </a:r>
            <a:r>
              <a:rPr lang="fr-CA" sz="1600" dirty="0">
                <a:latin typeface="Nunito" pitchFamily="2" charset="0"/>
              </a:rPr>
              <a:t>sur tous les spas de nage.</a:t>
            </a:r>
          </a:p>
          <a:p>
            <a:pPr marL="285750" indent="-285750">
              <a:buFont typeface="Arial" panose="020B0604020202020204" pitchFamily="34" charset="0"/>
              <a:buChar char="•"/>
            </a:pPr>
            <a:r>
              <a:rPr lang="fr-CA" sz="1600" dirty="0">
                <a:latin typeface="Nunito" pitchFamily="2" charset="0"/>
              </a:rPr>
              <a:t>La livraison et frais de grue </a:t>
            </a:r>
            <a:r>
              <a:rPr lang="fr-CA" sz="1600" b="1" dirty="0">
                <a:latin typeface="Nunito" pitchFamily="2" charset="0"/>
              </a:rPr>
              <a:t>NE SONT PAS INCLUS.</a:t>
            </a:r>
          </a:p>
          <a:p>
            <a:endParaRPr lang="fr-CA" sz="1600" b="1" dirty="0"/>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2"/>
            </p:custDataLst>
          </p:nvPr>
        </p:nvSpPr>
        <p:spPr/>
        <p:txBody>
          <a:bodyPr/>
          <a:lstStyle/>
          <a:p>
            <a:fld id="{31F4C03E-007A-4FDF-9746-0F09F296E587}" type="slidenum">
              <a:rPr lang="fr-CA" smtClean="0"/>
              <a:t>4</a:t>
            </a:fld>
            <a:endParaRPr lang="fr-CA"/>
          </a:p>
        </p:txBody>
      </p:sp>
      <p:sp>
        <p:nvSpPr>
          <p:cNvPr id="4" name="Rectangle 3">
            <a:extLst>
              <a:ext uri="{FF2B5EF4-FFF2-40B4-BE49-F238E27FC236}">
                <a16:creationId xmlns:a16="http://schemas.microsoft.com/office/drawing/2014/main" id="{3C88D168-C6BD-83A0-A7A2-5C74FEE645C8}"/>
              </a:ext>
            </a:extLst>
          </p:cNvPr>
          <p:cNvSpPr/>
          <p:nvPr>
            <p:custDataLst>
              <p:tags r:id="rId3"/>
            </p:custDataLst>
          </p:nvPr>
        </p:nvSpPr>
        <p:spPr>
          <a:xfrm>
            <a:off x="231334" y="4607880"/>
            <a:ext cx="6408713" cy="1077218"/>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sz="1600" b="1" dirty="0">
                <a:latin typeface="Nunito" pitchFamily="2" charset="0"/>
              </a:rPr>
              <a:t>Pure Cube</a:t>
            </a:r>
            <a:r>
              <a:rPr lang="fr-CA" sz="1600" dirty="0">
                <a:latin typeface="Nunito" pitchFamily="2" charset="0"/>
              </a:rPr>
              <a:t>: Les rabais se poursuivent. Comme il y a des prix MAP, ces rabais sont valides en magasins seulement et non en ligne.</a:t>
            </a:r>
            <a:endParaRPr lang="fr-CA" sz="2000" dirty="0">
              <a:latin typeface="Nunito" pitchFamily="2" charset="0"/>
            </a:endParaRPr>
          </a:p>
          <a:p>
            <a:endParaRPr lang="fr-CA" sz="1600" b="1" dirty="0"/>
          </a:p>
        </p:txBody>
      </p:sp>
      <p:pic>
        <p:nvPicPr>
          <p:cNvPr id="7" name="Image 6" descr="Une image contenant Graphique, Police, émoticône, texte&#10;&#10;Le contenu généré par l’IA peut être incorrect.">
            <a:extLst>
              <a:ext uri="{FF2B5EF4-FFF2-40B4-BE49-F238E27FC236}">
                <a16:creationId xmlns:a16="http://schemas.microsoft.com/office/drawing/2014/main" id="{7F116E73-58FD-C6F8-E221-1B211D4230B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
        <p:nvSpPr>
          <p:cNvPr id="15" name="Zone de texte 28">
            <a:extLst>
              <a:ext uri="{FF2B5EF4-FFF2-40B4-BE49-F238E27FC236}">
                <a16:creationId xmlns:a16="http://schemas.microsoft.com/office/drawing/2014/main" id="{803D3DD9-0B1A-2A12-6DE0-70C14288669F}"/>
              </a:ext>
            </a:extLst>
          </p:cNvPr>
          <p:cNvSpPr txBox="1">
            <a:spLocks/>
          </p:cNvSpPr>
          <p:nvPr>
            <p:custDataLst>
              <p:tags r:id="rId4"/>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6" name="Rectangle 15">
            <a:extLst>
              <a:ext uri="{FF2B5EF4-FFF2-40B4-BE49-F238E27FC236}">
                <a16:creationId xmlns:a16="http://schemas.microsoft.com/office/drawing/2014/main" id="{80B0C2A7-721D-11B3-CB7C-19ACD8453854}"/>
              </a:ext>
            </a:extLst>
          </p:cNvPr>
          <p:cNvSpPr/>
          <p:nvPr>
            <p:custDataLst>
              <p:tags r:id="rId5"/>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SPAS DE NAGE</a:t>
            </a:r>
          </a:p>
        </p:txBody>
      </p:sp>
      <p:sp>
        <p:nvSpPr>
          <p:cNvPr id="17" name="ZoneTexte 16">
            <a:extLst>
              <a:ext uri="{FF2B5EF4-FFF2-40B4-BE49-F238E27FC236}">
                <a16:creationId xmlns:a16="http://schemas.microsoft.com/office/drawing/2014/main" id="{F52C64BA-8CAE-8C04-5537-DA47EC75BA46}"/>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sp>
        <p:nvSpPr>
          <p:cNvPr id="18" name="Rectangle 17">
            <a:extLst>
              <a:ext uri="{FF2B5EF4-FFF2-40B4-BE49-F238E27FC236}">
                <a16:creationId xmlns:a16="http://schemas.microsoft.com/office/drawing/2014/main" id="{46D80F65-8900-D6B8-DB06-977F8F092471}"/>
              </a:ext>
            </a:extLst>
          </p:cNvPr>
          <p:cNvSpPr/>
          <p:nvPr>
            <p:custDataLst>
              <p:tags r:id="rId6"/>
            </p:custDataLst>
          </p:nvPr>
        </p:nvSpPr>
        <p:spPr>
          <a:xfrm>
            <a:off x="260645" y="4067944"/>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SAUNAS</a:t>
            </a:r>
          </a:p>
        </p:txBody>
      </p:sp>
    </p:spTree>
    <p:extLst>
      <p:ext uri="{BB962C8B-B14F-4D97-AF65-F5344CB8AC3E}">
        <p14:creationId xmlns:p14="http://schemas.microsoft.com/office/powerpoint/2010/main" val="2478665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7774A3C-AC2A-4D50-94B2-BA30C81610A1}"/>
              </a:ext>
            </a:extLst>
          </p:cNvPr>
          <p:cNvSpPr>
            <a:spLocks noGrp="1"/>
          </p:cNvSpPr>
          <p:nvPr>
            <p:ph type="sldNum" sz="quarter" idx="12"/>
            <p:custDataLst>
              <p:tags r:id="rId1"/>
            </p:custDataLst>
          </p:nvPr>
        </p:nvSpPr>
        <p:spPr/>
        <p:txBody>
          <a:bodyPr/>
          <a:lstStyle/>
          <a:p>
            <a:fld id="{31F4C03E-007A-4FDF-9746-0F09F296E587}" type="slidenum">
              <a:rPr lang="fr-CA" smtClean="0"/>
              <a:t>5</a:t>
            </a:fld>
            <a:endParaRPr lang="fr-CA"/>
          </a:p>
        </p:txBody>
      </p:sp>
      <p:sp>
        <p:nvSpPr>
          <p:cNvPr id="10" name="Rectangle 9">
            <a:extLst>
              <a:ext uri="{FF2B5EF4-FFF2-40B4-BE49-F238E27FC236}">
                <a16:creationId xmlns:a16="http://schemas.microsoft.com/office/drawing/2014/main" id="{43BD5E6B-810F-498E-B14D-305B2F9FD921}"/>
              </a:ext>
            </a:extLst>
          </p:cNvPr>
          <p:cNvSpPr/>
          <p:nvPr>
            <p:custDataLst>
              <p:tags r:id="rId2"/>
            </p:custDataLst>
          </p:nvPr>
        </p:nvSpPr>
        <p:spPr>
          <a:xfrm>
            <a:off x="260647" y="2232318"/>
            <a:ext cx="6408713" cy="1754326"/>
          </a:xfrm>
          <a:prstGeom prst="rect">
            <a:avLst/>
          </a:prstGeom>
          <a:noFill/>
          <a:ln>
            <a:solidFill>
              <a:schemeClr val="tx1"/>
            </a:solidFill>
          </a:ln>
        </p:spPr>
        <p:txBody>
          <a:bodyPr wrap="square">
            <a:spAutoFit/>
          </a:bodyPr>
          <a:lstStyle/>
          <a:p>
            <a:r>
              <a:rPr lang="fr-CA" sz="1200" b="1" dirty="0">
                <a:latin typeface="Nunito" pitchFamily="2" charset="0"/>
                <a:sym typeface="Wingdings" panose="05000000000000000000" pitchFamily="2" charset="2"/>
              </a:rPr>
              <a:t>LATHAM ACIER et IMPERIAL POOL</a:t>
            </a:r>
          </a:p>
          <a:p>
            <a:pPr marL="342900" lvl="0" indent="-342900">
              <a:buFont typeface="Symbol" panose="05050102010706020507" pitchFamily="18" charset="2"/>
              <a:buChar char=""/>
            </a:pPr>
            <a:r>
              <a:rPr lang="fr-FR" sz="1200" b="1" dirty="0">
                <a:latin typeface="Nunito" pitchFamily="2" charset="0"/>
                <a:ea typeface="Calibri" panose="020F0502020204030204" pitchFamily="34" charset="0"/>
                <a:cs typeface="Times New Roman" panose="02020603050405020304" pitchFamily="18" charset="0"/>
              </a:rPr>
              <a:t>PROMO</a:t>
            </a:r>
            <a:r>
              <a:rPr lang="fr-FR" sz="1200" dirty="0">
                <a:latin typeface="Nunito" pitchFamily="2" charset="0"/>
                <a:ea typeface="Calibri" panose="020F0502020204030204" pitchFamily="34" charset="0"/>
                <a:cs typeface="Times New Roman" panose="02020603050405020304" pitchFamily="18" charset="0"/>
              </a:rPr>
              <a:t>: Jusqu’à 7000$ de rabais sur les piscines en acier. </a:t>
            </a:r>
          </a:p>
          <a:p>
            <a:pPr marL="342900" lvl="0" indent="-342900">
              <a:buFont typeface="Symbol" panose="05050102010706020507" pitchFamily="18" charset="2"/>
              <a:buChar char=""/>
            </a:pPr>
            <a:r>
              <a:rPr lang="fr-CA" sz="1200" dirty="0">
                <a:latin typeface="Nunito" pitchFamily="2" charset="0"/>
                <a:ea typeface="Calibri" panose="020F0502020204030204" pitchFamily="34" charset="0"/>
                <a:cs typeface="Times New Roman" panose="02020603050405020304" pitchFamily="18" charset="0"/>
              </a:rPr>
              <a:t>Voir Annexes CREUSÉE pour le détail des rabais.</a:t>
            </a:r>
          </a:p>
          <a:p>
            <a:endParaRPr lang="fr-CA" sz="1200" dirty="0">
              <a:latin typeface="Nunito" pitchFamily="2" charset="0"/>
            </a:endParaRPr>
          </a:p>
          <a:p>
            <a:endParaRPr lang="fr-CA" sz="1200" b="1" dirty="0">
              <a:latin typeface="Nunito" pitchFamily="2" charset="0"/>
            </a:endParaRPr>
          </a:p>
          <a:p>
            <a:r>
              <a:rPr lang="fr-CA" sz="1200" b="1" dirty="0">
                <a:latin typeface="Nunito" pitchFamily="2" charset="0"/>
              </a:rPr>
              <a:t>GRATUIT à l’achat d’une piscine:</a:t>
            </a:r>
          </a:p>
          <a:p>
            <a:pPr marL="285750" indent="-285750">
              <a:buFontTx/>
              <a:buChar char="-"/>
            </a:pPr>
            <a:r>
              <a:rPr lang="fr-CA" sz="1200" dirty="0">
                <a:latin typeface="Nunito" pitchFamily="2" charset="0"/>
              </a:rPr>
              <a:t>Bracelet SURVEILLANT DÉSIGNÉ de la Société de Sauvetage</a:t>
            </a:r>
          </a:p>
          <a:p>
            <a:pPr marL="285750" indent="-285750">
              <a:buFontTx/>
              <a:buChar char="-"/>
            </a:pPr>
            <a:r>
              <a:rPr lang="fr-CA" sz="1200" dirty="0">
                <a:latin typeface="Nunito" pitchFamily="2" charset="0"/>
              </a:rPr>
              <a:t>2 serviettes Club Piscine</a:t>
            </a:r>
          </a:p>
          <a:p>
            <a:pPr marL="285750" indent="-285750">
              <a:buFontTx/>
              <a:buChar char="-"/>
            </a:pPr>
            <a:endParaRPr lang="fr-CA" sz="1200" dirty="0">
              <a:latin typeface="Nunito" pitchFamily="2" charset="0"/>
            </a:endParaRPr>
          </a:p>
        </p:txBody>
      </p:sp>
      <p:sp>
        <p:nvSpPr>
          <p:cNvPr id="4" name="Rectangle 3">
            <a:extLst>
              <a:ext uri="{FF2B5EF4-FFF2-40B4-BE49-F238E27FC236}">
                <a16:creationId xmlns:a16="http://schemas.microsoft.com/office/drawing/2014/main" id="{8C7BCA58-4012-A7FA-44D3-BA017B8DA660}"/>
              </a:ext>
            </a:extLst>
          </p:cNvPr>
          <p:cNvSpPr/>
          <p:nvPr>
            <p:custDataLst>
              <p:tags r:id="rId3"/>
            </p:custDataLst>
          </p:nvPr>
        </p:nvSpPr>
        <p:spPr>
          <a:xfrm>
            <a:off x="260647" y="4983137"/>
            <a:ext cx="6408713" cy="3600986"/>
          </a:xfrm>
          <a:prstGeom prst="rect">
            <a:avLst/>
          </a:prstGeom>
          <a:noFill/>
          <a:ln>
            <a:solidFill>
              <a:schemeClr val="tx1"/>
            </a:solidFill>
          </a:ln>
        </p:spPr>
        <p:txBody>
          <a:bodyPr wrap="square">
            <a:spAutoFit/>
          </a:bodyPr>
          <a:lstStyle/>
          <a:p>
            <a:r>
              <a:rPr lang="fr-CA" sz="1200" b="1" dirty="0">
                <a:latin typeface="Nunito" pitchFamily="2" charset="0"/>
                <a:sym typeface="Wingdings" panose="05000000000000000000" pitchFamily="2" charset="2"/>
              </a:rPr>
              <a:t>MOVA</a:t>
            </a:r>
            <a:endParaRPr lang="fr-CA" sz="1200" dirty="0">
              <a:latin typeface="Nunito" pitchFamily="2" charset="0"/>
            </a:endParaRPr>
          </a:p>
          <a:p>
            <a:pPr marL="285750" indent="-285750">
              <a:buFont typeface="Arial" panose="020B0604020202020204" pitchFamily="34" charset="0"/>
              <a:buChar char="•"/>
            </a:pPr>
            <a:r>
              <a:rPr lang="fr-CA" sz="1200" b="1" dirty="0">
                <a:latin typeface="Nunito" pitchFamily="2" charset="0"/>
              </a:rPr>
              <a:t>Rabais de jusqu’à 4500$ </a:t>
            </a:r>
            <a:r>
              <a:rPr lang="fr-CA" sz="1200" dirty="0">
                <a:latin typeface="Nunito" pitchFamily="2" charset="0"/>
              </a:rPr>
              <a:t>sur certains modèles MOVA équipées et installées (rabais de 2500$ si piscine seule).</a:t>
            </a:r>
          </a:p>
          <a:p>
            <a:pPr marL="285750" indent="-285750">
              <a:buFont typeface="Arial" panose="020B0604020202020204" pitchFamily="34" charset="0"/>
              <a:buChar char="•"/>
            </a:pPr>
            <a:r>
              <a:rPr lang="fr-CA" sz="1200" b="1" dirty="0">
                <a:latin typeface="Nunito" pitchFamily="2" charset="0"/>
              </a:rPr>
              <a:t>COMBO </a:t>
            </a:r>
            <a:r>
              <a:rPr lang="fr-CA" sz="1200" b="1" dirty="0" err="1">
                <a:latin typeface="Nunito" pitchFamily="2" charset="0"/>
              </a:rPr>
              <a:t>Chlorinateur+Thermopome</a:t>
            </a:r>
            <a:r>
              <a:rPr lang="fr-CA" sz="1200" b="1" dirty="0">
                <a:latin typeface="Nunito" pitchFamily="2" charset="0"/>
              </a:rPr>
              <a:t> offert à 50% de rabais: </a:t>
            </a:r>
            <a:r>
              <a:rPr lang="fr-CA" sz="1200" dirty="0">
                <a:latin typeface="Nunito" pitchFamily="2" charset="0"/>
              </a:rPr>
              <a:t>Comprend le combo Thermopompe Solstice 50k BTU et le </a:t>
            </a:r>
            <a:r>
              <a:rPr lang="fr-CA" sz="1200" dirty="0" err="1">
                <a:latin typeface="Nunito" pitchFamily="2" charset="0"/>
              </a:rPr>
              <a:t>chlorinateur</a:t>
            </a:r>
            <a:r>
              <a:rPr lang="fr-CA" sz="1200" dirty="0">
                <a:latin typeface="Nunito" pitchFamily="2" charset="0"/>
              </a:rPr>
              <a:t> au sel MOOV </a:t>
            </a:r>
            <a:r>
              <a:rPr lang="fr-CA" sz="1200" dirty="0" err="1">
                <a:latin typeface="Nunito" pitchFamily="2" charset="0"/>
              </a:rPr>
              <a:t>minisalt</a:t>
            </a:r>
            <a:r>
              <a:rPr lang="fr-CA" sz="1200" dirty="0">
                <a:latin typeface="Nunito" pitchFamily="2" charset="0"/>
              </a:rPr>
              <a:t> 50k L (ou équivalent). </a:t>
            </a:r>
          </a:p>
          <a:p>
            <a:pPr marL="285750" indent="-285750">
              <a:buFont typeface="Arial" panose="020B0604020202020204" pitchFamily="34" charset="0"/>
              <a:buChar char="•"/>
            </a:pPr>
            <a:r>
              <a:rPr lang="fr-CA" sz="1200" dirty="0">
                <a:latin typeface="Nunito" pitchFamily="2" charset="0"/>
              </a:rPr>
              <a:t>Aucune promotion de financement.</a:t>
            </a:r>
          </a:p>
          <a:p>
            <a:pPr marL="285750" indent="-285750">
              <a:buFont typeface="Arial" panose="020B0604020202020204" pitchFamily="34" charset="0"/>
              <a:buChar char="•"/>
            </a:pPr>
            <a:r>
              <a:rPr lang="fr-CA" sz="1200" dirty="0">
                <a:latin typeface="Nunito" pitchFamily="2" charset="0"/>
              </a:rPr>
              <a:t>Note:  Le frais d’extra au détail pour une couleur est de 5000$</a:t>
            </a:r>
          </a:p>
          <a:p>
            <a:endParaRPr lang="fr-CA" sz="1200" b="1" dirty="0">
              <a:latin typeface="Nunito" pitchFamily="2" charset="0"/>
              <a:sym typeface="Wingdings" panose="05000000000000000000" pitchFamily="2" charset="2"/>
            </a:endParaRPr>
          </a:p>
          <a:p>
            <a:r>
              <a:rPr lang="fr-CA" sz="1200" b="1" dirty="0">
                <a:latin typeface="Nunito" pitchFamily="2" charset="0"/>
                <a:sym typeface="Wingdings" panose="05000000000000000000" pitchFamily="2" charset="2"/>
              </a:rPr>
              <a:t>AQUARINO</a:t>
            </a:r>
            <a:endParaRPr lang="fr-CA" sz="1200" dirty="0">
              <a:latin typeface="Nunito" pitchFamily="2" charset="0"/>
            </a:endParaRPr>
          </a:p>
          <a:p>
            <a:pPr marL="285750" indent="-285750">
              <a:buFont typeface="Arial" panose="020B0604020202020204" pitchFamily="34" charset="0"/>
              <a:buChar char="•"/>
            </a:pPr>
            <a:r>
              <a:rPr lang="fr-CA" sz="1200" b="1" dirty="0">
                <a:latin typeface="Nunito" pitchFamily="2" charset="0"/>
              </a:rPr>
              <a:t>Rabais jusqu’à 7500$ </a:t>
            </a:r>
            <a:r>
              <a:rPr lang="fr-CA" sz="1200" dirty="0">
                <a:latin typeface="Nunito" pitchFamily="2" charset="0"/>
              </a:rPr>
              <a:t>sur certaines piscines AQUARINO équipées et installées (rabais de 3500$ si piscine seule).</a:t>
            </a:r>
            <a:endParaRPr lang="fr-CA" sz="1200" b="1" dirty="0">
              <a:latin typeface="Nunito" pitchFamily="2" charset="0"/>
            </a:endParaRPr>
          </a:p>
          <a:p>
            <a:pPr marL="285750" indent="-285750">
              <a:buFont typeface="Arial" panose="020B0604020202020204" pitchFamily="34" charset="0"/>
              <a:buChar char="•"/>
            </a:pPr>
            <a:r>
              <a:rPr lang="fr-CA" sz="1200" b="1" dirty="0">
                <a:latin typeface="Nunito" pitchFamily="2" charset="0"/>
              </a:rPr>
              <a:t>COMBO </a:t>
            </a:r>
            <a:r>
              <a:rPr lang="fr-CA" sz="1200" b="1" dirty="0" err="1">
                <a:latin typeface="Nunito" pitchFamily="2" charset="0"/>
              </a:rPr>
              <a:t>Chlorinateur+Thermopome</a:t>
            </a:r>
            <a:r>
              <a:rPr lang="fr-CA" sz="1200" b="1" dirty="0">
                <a:latin typeface="Nunito" pitchFamily="2" charset="0"/>
              </a:rPr>
              <a:t> offert à 50% de rabais: </a:t>
            </a:r>
            <a:r>
              <a:rPr lang="fr-CA" sz="1200" dirty="0">
                <a:latin typeface="Nunito" pitchFamily="2" charset="0"/>
              </a:rPr>
              <a:t>Comprend le combo Thermopompe Solstice 50k BTU et le </a:t>
            </a:r>
            <a:r>
              <a:rPr lang="fr-CA" sz="1200" dirty="0" err="1">
                <a:latin typeface="Nunito" pitchFamily="2" charset="0"/>
              </a:rPr>
              <a:t>chlorinateur</a:t>
            </a:r>
            <a:r>
              <a:rPr lang="fr-CA" sz="1200" dirty="0">
                <a:latin typeface="Nunito" pitchFamily="2" charset="0"/>
              </a:rPr>
              <a:t> au sel MOOV </a:t>
            </a:r>
            <a:r>
              <a:rPr lang="fr-CA" sz="1200" dirty="0" err="1">
                <a:latin typeface="Nunito" pitchFamily="2" charset="0"/>
              </a:rPr>
              <a:t>minisalt</a:t>
            </a:r>
            <a:r>
              <a:rPr lang="fr-CA" sz="1200" dirty="0">
                <a:latin typeface="Nunito" pitchFamily="2" charset="0"/>
              </a:rPr>
              <a:t> 50k L (ou équivalent). Modèle TANZA exclu de la promotion.</a:t>
            </a:r>
          </a:p>
          <a:p>
            <a:pPr marL="285750" indent="-285750">
              <a:buFont typeface="Arial" panose="020B0604020202020204" pitchFamily="34" charset="0"/>
              <a:buChar char="•"/>
            </a:pPr>
            <a:endParaRPr lang="fr-CA" sz="1200" dirty="0">
              <a:latin typeface="Nunito" pitchFamily="2" charset="0"/>
            </a:endParaRPr>
          </a:p>
          <a:p>
            <a:r>
              <a:rPr lang="fr-CA" sz="1200" b="1" dirty="0">
                <a:latin typeface="Nunito" pitchFamily="2" charset="0"/>
              </a:rPr>
              <a:t>GRATUIT à l’achat d’une piscine:</a:t>
            </a:r>
          </a:p>
          <a:p>
            <a:pPr marL="285750" indent="-285750">
              <a:buFontTx/>
              <a:buChar char="-"/>
            </a:pPr>
            <a:r>
              <a:rPr lang="fr-CA" sz="1200" dirty="0">
                <a:latin typeface="Nunito" pitchFamily="2" charset="0"/>
              </a:rPr>
              <a:t>Bracelet SURVEILLANT DÉSIGNÉ de la Société de Sauvetage</a:t>
            </a:r>
          </a:p>
          <a:p>
            <a:pPr marL="285750" indent="-285750">
              <a:buFontTx/>
              <a:buChar char="-"/>
            </a:pPr>
            <a:r>
              <a:rPr lang="fr-CA" sz="1200" dirty="0">
                <a:latin typeface="Nunito" pitchFamily="2" charset="0"/>
              </a:rPr>
              <a:t>2 serviettes Club Piscine</a:t>
            </a:r>
          </a:p>
        </p:txBody>
      </p:sp>
      <p:pic>
        <p:nvPicPr>
          <p:cNvPr id="5" name="Image 4" descr="Une image contenant Graphique, Police, émoticône, texte&#10;&#10;Le contenu généré par l’IA peut être incorrect.">
            <a:extLst>
              <a:ext uri="{FF2B5EF4-FFF2-40B4-BE49-F238E27FC236}">
                <a16:creationId xmlns:a16="http://schemas.microsoft.com/office/drawing/2014/main" id="{7F9DE325-0305-1050-A35E-EDF95C503DD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
        <p:nvSpPr>
          <p:cNvPr id="12" name="Rectangle 11">
            <a:extLst>
              <a:ext uri="{FF2B5EF4-FFF2-40B4-BE49-F238E27FC236}">
                <a16:creationId xmlns:a16="http://schemas.microsoft.com/office/drawing/2014/main" id="{79F8DB24-94C9-3783-C097-D47CC67D9AB3}"/>
              </a:ext>
            </a:extLst>
          </p:cNvPr>
          <p:cNvSpPr/>
          <p:nvPr>
            <p:custDataLst>
              <p:tags r:id="rId4"/>
            </p:custDataLst>
          </p:nvPr>
        </p:nvSpPr>
        <p:spPr>
          <a:xfrm>
            <a:off x="260647" y="1692521"/>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PISCINE CREUSÉE</a:t>
            </a:r>
          </a:p>
        </p:txBody>
      </p:sp>
      <p:sp>
        <p:nvSpPr>
          <p:cNvPr id="13" name="Zone de texte 28">
            <a:extLst>
              <a:ext uri="{FF2B5EF4-FFF2-40B4-BE49-F238E27FC236}">
                <a16:creationId xmlns:a16="http://schemas.microsoft.com/office/drawing/2014/main" id="{207F974E-CDE1-B3D2-4AF4-D970DF8EF676}"/>
              </a:ext>
            </a:extLst>
          </p:cNvPr>
          <p:cNvSpPr txBox="1">
            <a:spLocks/>
          </p:cNvSpPr>
          <p:nvPr>
            <p:custDataLst>
              <p:tags r:id="rId5"/>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4" name="ZoneTexte 13">
            <a:extLst>
              <a:ext uri="{FF2B5EF4-FFF2-40B4-BE49-F238E27FC236}">
                <a16:creationId xmlns:a16="http://schemas.microsoft.com/office/drawing/2014/main" id="{79B8EF34-1CF2-9BEE-3BB0-D103FE85E517}"/>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sp>
        <p:nvSpPr>
          <p:cNvPr id="15" name="Rectangle 14">
            <a:extLst>
              <a:ext uri="{FF2B5EF4-FFF2-40B4-BE49-F238E27FC236}">
                <a16:creationId xmlns:a16="http://schemas.microsoft.com/office/drawing/2014/main" id="{CB289DE9-E0BA-D962-9F41-6A66F25ACECF}"/>
              </a:ext>
            </a:extLst>
          </p:cNvPr>
          <p:cNvSpPr/>
          <p:nvPr>
            <p:custDataLst>
              <p:tags r:id="rId6"/>
            </p:custDataLst>
          </p:nvPr>
        </p:nvSpPr>
        <p:spPr>
          <a:xfrm>
            <a:off x="260647" y="4427984"/>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FIBRE</a:t>
            </a:r>
          </a:p>
        </p:txBody>
      </p:sp>
    </p:spTree>
    <p:extLst>
      <p:ext uri="{BB962C8B-B14F-4D97-AF65-F5344CB8AC3E}">
        <p14:creationId xmlns:p14="http://schemas.microsoft.com/office/powerpoint/2010/main" val="2562470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433DA19-C6A4-4697-B85F-7F129DA9B7C0}"/>
              </a:ext>
            </a:extLst>
          </p:cNvPr>
          <p:cNvSpPr>
            <a:spLocks noGrp="1"/>
          </p:cNvSpPr>
          <p:nvPr>
            <p:ph type="sldNum" sz="quarter" idx="12"/>
            <p:custDataLst>
              <p:tags r:id="rId1"/>
            </p:custDataLst>
          </p:nvPr>
        </p:nvSpPr>
        <p:spPr/>
        <p:txBody>
          <a:bodyPr/>
          <a:lstStyle/>
          <a:p>
            <a:fld id="{31F4C03E-007A-4FDF-9746-0F09F296E587}" type="slidenum">
              <a:rPr lang="fr-CA" smtClean="0"/>
              <a:t>6</a:t>
            </a:fld>
            <a:endParaRPr lang="fr-CA"/>
          </a:p>
        </p:txBody>
      </p:sp>
      <p:sp>
        <p:nvSpPr>
          <p:cNvPr id="11" name="Rectangle 10">
            <a:extLst>
              <a:ext uri="{FF2B5EF4-FFF2-40B4-BE49-F238E27FC236}">
                <a16:creationId xmlns:a16="http://schemas.microsoft.com/office/drawing/2014/main" id="{C878D544-23DE-4DBE-ABBE-33607EA8AFE5}"/>
              </a:ext>
            </a:extLst>
          </p:cNvPr>
          <p:cNvSpPr/>
          <p:nvPr>
            <p:custDataLst>
              <p:tags r:id="rId2"/>
            </p:custDataLst>
          </p:nvPr>
        </p:nvSpPr>
        <p:spPr>
          <a:xfrm>
            <a:off x="260646" y="2233479"/>
            <a:ext cx="6408713" cy="2616101"/>
          </a:xfrm>
          <a:prstGeom prst="rect">
            <a:avLst/>
          </a:prstGeom>
          <a:noFill/>
          <a:ln>
            <a:solidFill>
              <a:schemeClr val="tx1"/>
            </a:solidFill>
          </a:ln>
        </p:spPr>
        <p:txBody>
          <a:bodyPr wrap="square">
            <a:spAutoFit/>
          </a:bodyPr>
          <a:lstStyle/>
          <a:p>
            <a:r>
              <a:rPr lang="fr-CA" sz="1600" b="1" dirty="0">
                <a:latin typeface="Nunito" pitchFamily="2" charset="0"/>
                <a:sym typeface="Wingdings" panose="05000000000000000000" pitchFamily="2" charset="2"/>
              </a:rPr>
              <a:t>CARVIN  &amp; TRENDIUM (VOGUE) </a:t>
            </a:r>
            <a:endParaRPr lang="fr-CA" sz="1600" dirty="0">
              <a:latin typeface="Nunito" pitchFamily="2" charset="0"/>
              <a:sym typeface="Wingdings" panose="05000000000000000000" pitchFamily="2" charset="2"/>
            </a:endParaRPr>
          </a:p>
          <a:p>
            <a:pPr marL="285750" indent="-285750">
              <a:buFont typeface="Arial" panose="020B0604020202020204" pitchFamily="34" charset="0"/>
              <a:buChar char="•"/>
            </a:pPr>
            <a:r>
              <a:rPr lang="fr-CA" sz="1200" b="1" dirty="0">
                <a:latin typeface="Nunito" pitchFamily="2" charset="0"/>
              </a:rPr>
              <a:t>RABAIS DE 1200$ </a:t>
            </a:r>
            <a:r>
              <a:rPr lang="fr-CA" sz="1200" dirty="0">
                <a:latin typeface="Nunito" pitchFamily="2" charset="0"/>
              </a:rPr>
              <a:t>sur toutes les piscines hors terre Seules, Équipées et Équipées &amp; Installées. </a:t>
            </a:r>
          </a:p>
          <a:p>
            <a:pPr marL="285750" indent="-285750">
              <a:buFont typeface="Arial" panose="020B0604020202020204" pitchFamily="34" charset="0"/>
              <a:buChar char="•"/>
            </a:pPr>
            <a:r>
              <a:rPr lang="fr-CA" sz="1200" b="1" dirty="0">
                <a:latin typeface="Nunito" pitchFamily="2" charset="0"/>
              </a:rPr>
              <a:t>RABAIS CHAUFFÉE:</a:t>
            </a:r>
          </a:p>
          <a:p>
            <a:pPr marL="742950" lvl="1" indent="-285750">
              <a:buFont typeface="Arial" panose="020B0604020202020204" pitchFamily="34" charset="0"/>
              <a:buChar char="•"/>
            </a:pPr>
            <a:r>
              <a:rPr lang="fr-CA" sz="1200" b="1" dirty="0">
                <a:latin typeface="Nunito" pitchFamily="2" charset="0"/>
              </a:rPr>
              <a:t>Rabais de 300$</a:t>
            </a:r>
            <a:r>
              <a:rPr lang="fr-CA" sz="1200" dirty="0">
                <a:latin typeface="Nunito" pitchFamily="2" charset="0"/>
              </a:rPr>
              <a:t> sur prix régulier d’une thermopompe SOLSTICE, TTI ou Nirvana. L’installation de la Thermopompe et le By-pass ne </a:t>
            </a:r>
            <a:r>
              <a:rPr lang="fr-CA" sz="1200" b="1" dirty="0">
                <a:latin typeface="Nunito" pitchFamily="2" charset="0"/>
              </a:rPr>
              <a:t>sont pas inclus.</a:t>
            </a:r>
          </a:p>
          <a:p>
            <a:pPr marL="342900" indent="-342900">
              <a:buFont typeface="Symbol" panose="05050102010706020507" pitchFamily="18" charset="2"/>
              <a:buChar char=""/>
            </a:pPr>
            <a:r>
              <a:rPr lang="fr-FR" sz="1400" b="1" dirty="0">
                <a:latin typeface="Nunito" pitchFamily="2" charset="0"/>
              </a:rPr>
              <a:t>Financement : </a:t>
            </a:r>
            <a:r>
              <a:rPr lang="fr-FR" sz="1400" dirty="0">
                <a:latin typeface="Nunito" pitchFamily="2" charset="0"/>
              </a:rPr>
              <a:t>48 mois à 5.99% (code 36485).</a:t>
            </a:r>
          </a:p>
          <a:p>
            <a:pPr marL="800100" lvl="1" indent="-342900">
              <a:buFont typeface="Wingdings" panose="05000000000000000000" pitchFamily="2" charset="2"/>
              <a:buChar char="Ø"/>
            </a:pPr>
            <a:r>
              <a:rPr lang="fr-FR" sz="1400" dirty="0">
                <a:latin typeface="Nunito" pitchFamily="2" charset="0"/>
              </a:rPr>
              <a:t>Rabais de 500$ si le client ne prend pas le financement.</a:t>
            </a:r>
          </a:p>
          <a:p>
            <a:pPr lvl="1"/>
            <a:endParaRPr lang="fr-CA" sz="1200" b="1" dirty="0">
              <a:latin typeface="Nunito" pitchFamily="2" charset="0"/>
            </a:endParaRPr>
          </a:p>
          <a:p>
            <a:endParaRPr lang="fr-CA" sz="1200" b="1" dirty="0">
              <a:latin typeface="Nunito" pitchFamily="2" charset="0"/>
            </a:endParaRPr>
          </a:p>
          <a:p>
            <a:r>
              <a:rPr lang="fr-CA" sz="1200" b="1" dirty="0">
                <a:latin typeface="Nunito" pitchFamily="2" charset="0"/>
              </a:rPr>
              <a:t>GRATUIT à l’achat d’une piscine:</a:t>
            </a:r>
          </a:p>
          <a:p>
            <a:pPr marL="285750" indent="-285750">
              <a:buFontTx/>
              <a:buChar char="-"/>
            </a:pPr>
            <a:r>
              <a:rPr lang="fr-CA" sz="1200" dirty="0">
                <a:latin typeface="Nunito" pitchFamily="2" charset="0"/>
              </a:rPr>
              <a:t>Bracelet SURVEILLANT DÉSIGNÉ de la Société de Sauvetage</a:t>
            </a:r>
          </a:p>
          <a:p>
            <a:pPr marL="285750" indent="-285750">
              <a:buFontTx/>
              <a:buChar char="-"/>
            </a:pPr>
            <a:r>
              <a:rPr lang="fr-CA" sz="1200" dirty="0">
                <a:latin typeface="Nunito" pitchFamily="2" charset="0"/>
              </a:rPr>
              <a:t>2 serviettes Club Piscine</a:t>
            </a:r>
            <a:endParaRPr lang="fr-CA" sz="1600" dirty="0">
              <a:latin typeface="Nunito" pitchFamily="2" charset="0"/>
            </a:endParaRPr>
          </a:p>
        </p:txBody>
      </p:sp>
      <p:pic>
        <p:nvPicPr>
          <p:cNvPr id="3" name="Image 2" descr="Une image contenant Graphique, Police, émoticône, texte&#10;&#10;Le contenu généré par l’IA peut être incorrect.">
            <a:extLst>
              <a:ext uri="{FF2B5EF4-FFF2-40B4-BE49-F238E27FC236}">
                <a16:creationId xmlns:a16="http://schemas.microsoft.com/office/drawing/2014/main" id="{1BC1BC2A-9BCB-D60B-BEF6-5F447431DE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
        <p:nvSpPr>
          <p:cNvPr id="8" name="Zone de texte 28">
            <a:extLst>
              <a:ext uri="{FF2B5EF4-FFF2-40B4-BE49-F238E27FC236}">
                <a16:creationId xmlns:a16="http://schemas.microsoft.com/office/drawing/2014/main" id="{A18FB2CC-34EB-41CF-B693-31551C652A8D}"/>
              </a:ext>
            </a:extLst>
          </p:cNvPr>
          <p:cNvSpPr txBox="1">
            <a:spLocks/>
          </p:cNvSpPr>
          <p:nvPr>
            <p:custDataLst>
              <p:tags r:id="rId3"/>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0" name="Rectangle 9">
            <a:extLst>
              <a:ext uri="{FF2B5EF4-FFF2-40B4-BE49-F238E27FC236}">
                <a16:creationId xmlns:a16="http://schemas.microsoft.com/office/drawing/2014/main" id="{A97E8781-0BEE-9A81-2F83-51A7DA7432A6}"/>
              </a:ext>
            </a:extLst>
          </p:cNvPr>
          <p:cNvSpPr/>
          <p:nvPr>
            <p:custDataLst>
              <p:tags r:id="rId4"/>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HORS TERRE</a:t>
            </a:r>
          </a:p>
        </p:txBody>
      </p:sp>
      <p:sp>
        <p:nvSpPr>
          <p:cNvPr id="12" name="ZoneTexte 11">
            <a:extLst>
              <a:ext uri="{FF2B5EF4-FFF2-40B4-BE49-F238E27FC236}">
                <a16:creationId xmlns:a16="http://schemas.microsoft.com/office/drawing/2014/main" id="{471AE4CF-D514-F8DF-1114-475CE61A90C3}"/>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sp>
        <p:nvSpPr>
          <p:cNvPr id="13" name="Rectangle 12">
            <a:extLst>
              <a:ext uri="{FF2B5EF4-FFF2-40B4-BE49-F238E27FC236}">
                <a16:creationId xmlns:a16="http://schemas.microsoft.com/office/drawing/2014/main" id="{08DB68E0-6050-2D62-4CF0-827C096C22FC}"/>
              </a:ext>
            </a:extLst>
          </p:cNvPr>
          <p:cNvSpPr/>
          <p:nvPr>
            <p:custDataLst>
              <p:tags r:id="rId5"/>
            </p:custDataLst>
          </p:nvPr>
        </p:nvSpPr>
        <p:spPr>
          <a:xfrm>
            <a:off x="260648" y="5523200"/>
            <a:ext cx="6408713" cy="1785104"/>
          </a:xfrm>
          <a:prstGeom prst="rect">
            <a:avLst/>
          </a:prstGeom>
          <a:noFill/>
          <a:ln>
            <a:solidFill>
              <a:schemeClr val="tx1"/>
            </a:solidFill>
          </a:ln>
        </p:spPr>
        <p:txBody>
          <a:bodyPr wrap="square">
            <a:spAutoFit/>
          </a:bodyPr>
          <a:lstStyle/>
          <a:p>
            <a:r>
              <a:rPr lang="fr-CA" sz="1400" b="1" dirty="0">
                <a:latin typeface="Nunito" pitchFamily="2" charset="0"/>
                <a:sym typeface="Wingdings" panose="05000000000000000000" pitchFamily="2" charset="2"/>
              </a:rPr>
              <a:t>AQUABOIS </a:t>
            </a:r>
            <a:endParaRPr lang="fr-CA" sz="1400" dirty="0">
              <a:latin typeface="Nunito" pitchFamily="2" charset="0"/>
              <a:sym typeface="Wingdings" panose="05000000000000000000" pitchFamily="2" charset="2"/>
            </a:endParaRPr>
          </a:p>
          <a:p>
            <a:pPr marL="285750" indent="-285750">
              <a:buFont typeface="Arial" panose="020B0604020202020204" pitchFamily="34" charset="0"/>
              <a:buChar char="•"/>
            </a:pPr>
            <a:r>
              <a:rPr lang="fr-CA" sz="1200" b="1" dirty="0">
                <a:latin typeface="Nunito" pitchFamily="2" charset="0"/>
              </a:rPr>
              <a:t>RABAIS DE 750$ </a:t>
            </a:r>
            <a:r>
              <a:rPr lang="fr-CA" sz="1200" dirty="0">
                <a:latin typeface="Nunito" pitchFamily="2" charset="0"/>
              </a:rPr>
              <a:t>sur le prix régulier de toutes les piscines de bois hors sol ou semi-creusées  </a:t>
            </a:r>
          </a:p>
          <a:p>
            <a:pPr marL="742950" lvl="1" indent="-285750">
              <a:buFont typeface="Arial" panose="020B0604020202020204" pitchFamily="34" charset="0"/>
              <a:buChar char="•"/>
            </a:pPr>
            <a:r>
              <a:rPr lang="fr-CA" sz="1200" dirty="0">
                <a:latin typeface="Nunito" pitchFamily="2" charset="0"/>
              </a:rPr>
              <a:t>Exception: La </a:t>
            </a:r>
            <a:r>
              <a:rPr lang="fr-CA" sz="1200" dirty="0" err="1">
                <a:latin typeface="Nunito" pitchFamily="2" charset="0"/>
              </a:rPr>
              <a:t>Tundra</a:t>
            </a:r>
            <a:r>
              <a:rPr lang="fr-CA" sz="1200" dirty="0">
                <a:latin typeface="Nunito" pitchFamily="2" charset="0"/>
              </a:rPr>
              <a:t> hors sol a 1250$ de rabais.</a:t>
            </a:r>
          </a:p>
          <a:p>
            <a:pPr marL="285750" indent="-285750">
              <a:buFont typeface="Arial" panose="020B0604020202020204" pitchFamily="34" charset="0"/>
              <a:buChar char="•"/>
            </a:pPr>
            <a:r>
              <a:rPr lang="fr-CA" sz="1200" b="1" dirty="0">
                <a:latin typeface="Nunito" pitchFamily="2" charset="0"/>
              </a:rPr>
              <a:t>RABAIS CHAUFFÉE:</a:t>
            </a:r>
          </a:p>
          <a:p>
            <a:pPr marL="742950" lvl="1" indent="-285750">
              <a:buFont typeface="Arial" panose="020B0604020202020204" pitchFamily="34" charset="0"/>
              <a:buChar char="•"/>
            </a:pPr>
            <a:r>
              <a:rPr lang="fr-CA" sz="1200" b="1" dirty="0">
                <a:latin typeface="Nunito" pitchFamily="2" charset="0"/>
              </a:rPr>
              <a:t>Rabais de 300$</a:t>
            </a:r>
            <a:r>
              <a:rPr lang="fr-CA" sz="1200" dirty="0">
                <a:latin typeface="Nunito" pitchFamily="2" charset="0"/>
              </a:rPr>
              <a:t> sur prix régulier d’une thermopompe SOLSTICE de </a:t>
            </a:r>
          </a:p>
          <a:p>
            <a:pPr marL="742950" lvl="1" indent="-285750">
              <a:buFont typeface="Arial" panose="020B0604020202020204" pitchFamily="34" charset="0"/>
              <a:buChar char="•"/>
            </a:pPr>
            <a:r>
              <a:rPr lang="fr-CA" sz="1200" dirty="0">
                <a:latin typeface="Nunito" pitchFamily="2" charset="0"/>
              </a:rPr>
              <a:t>L’installation de la Thermopompe et le By-pass ne </a:t>
            </a:r>
            <a:r>
              <a:rPr lang="fr-CA" sz="1200" b="1" dirty="0">
                <a:latin typeface="Nunito" pitchFamily="2" charset="0"/>
              </a:rPr>
              <a:t>sont pas inclus.</a:t>
            </a:r>
            <a:endParaRPr lang="fr-CA" sz="1200" dirty="0">
              <a:latin typeface="Nunito" pitchFamily="2" charset="0"/>
            </a:endParaRPr>
          </a:p>
          <a:p>
            <a:pPr marL="285750" indent="-285750">
              <a:buFont typeface="Arial" panose="020B0604020202020204" pitchFamily="34" charset="0"/>
              <a:buChar char="•"/>
            </a:pPr>
            <a:r>
              <a:rPr lang="fr-CA" sz="1200" dirty="0">
                <a:latin typeface="Nunito" pitchFamily="2" charset="0"/>
              </a:rPr>
              <a:t>La teinture est incluse sur toutes les piscines</a:t>
            </a:r>
          </a:p>
          <a:p>
            <a:pPr marL="285750" indent="-285750">
              <a:buFont typeface="Arial" panose="020B0604020202020204" pitchFamily="34" charset="0"/>
              <a:buChar char="•"/>
            </a:pPr>
            <a:r>
              <a:rPr lang="fr-CA" sz="1200" dirty="0">
                <a:latin typeface="Nunito" pitchFamily="2" charset="0"/>
              </a:rPr>
              <a:t>Aucune promotion de financement. Vous référez aux plans de financement réguliers.</a:t>
            </a:r>
            <a:endParaRPr lang="fr-CA" sz="1600" dirty="0"/>
          </a:p>
        </p:txBody>
      </p:sp>
      <p:sp>
        <p:nvSpPr>
          <p:cNvPr id="14" name="Rectangle 13">
            <a:extLst>
              <a:ext uri="{FF2B5EF4-FFF2-40B4-BE49-F238E27FC236}">
                <a16:creationId xmlns:a16="http://schemas.microsoft.com/office/drawing/2014/main" id="{1D32EE72-7192-6E45-BD4C-7FDB69B43BF4}"/>
              </a:ext>
            </a:extLst>
          </p:cNvPr>
          <p:cNvSpPr/>
          <p:nvPr>
            <p:custDataLst>
              <p:tags r:id="rId6"/>
            </p:custDataLst>
          </p:nvPr>
        </p:nvSpPr>
        <p:spPr>
          <a:xfrm>
            <a:off x="260648" y="5003467"/>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BOIS</a:t>
            </a:r>
          </a:p>
        </p:txBody>
      </p:sp>
    </p:spTree>
    <p:extLst>
      <p:ext uri="{BB962C8B-B14F-4D97-AF65-F5344CB8AC3E}">
        <p14:creationId xmlns:p14="http://schemas.microsoft.com/office/powerpoint/2010/main" val="419775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custDataLst>
              <p:tags r:id="rId1"/>
            </p:custDataLst>
          </p:nvPr>
        </p:nvSpPr>
        <p:spPr>
          <a:xfrm>
            <a:off x="260647" y="2233479"/>
            <a:ext cx="6408713" cy="1015663"/>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sz="1200" b="1" dirty="0">
                <a:latin typeface="Nunito" pitchFamily="2" charset="0"/>
              </a:rPr>
              <a:t>SOLSTICE: </a:t>
            </a:r>
            <a:r>
              <a:rPr lang="fr-CA" sz="1200" dirty="0">
                <a:latin typeface="Nunito" pitchFamily="2" charset="0"/>
              </a:rPr>
              <a:t>Rabais de 300$ sur le prix RÉGULIER de toutes les Thermopompes SOLSTICE.</a:t>
            </a:r>
          </a:p>
          <a:p>
            <a:pPr marL="742950" lvl="1" indent="-285750">
              <a:buFont typeface="Wingdings" panose="05000000000000000000" pitchFamily="2" charset="2"/>
              <a:buChar char="Ø"/>
            </a:pPr>
            <a:r>
              <a:rPr lang="fr-CA" sz="1200" b="1" dirty="0">
                <a:latin typeface="Nunito" pitchFamily="2" charset="0"/>
              </a:rPr>
              <a:t>NOUVEAUTÉ</a:t>
            </a:r>
            <a:r>
              <a:rPr lang="fr-CA" sz="1200" dirty="0">
                <a:latin typeface="Nunito" pitchFamily="2" charset="0"/>
              </a:rPr>
              <a:t>: Thermopompe Solstice HVP50 fabriqué au Québec en promotion à 1399.99$.</a:t>
            </a:r>
          </a:p>
          <a:p>
            <a:pPr marL="285750" indent="-285750">
              <a:buFont typeface="Arial" panose="020B0604020202020204" pitchFamily="34" charset="0"/>
              <a:buChar char="•"/>
            </a:pPr>
            <a:r>
              <a:rPr lang="fr-CA" sz="1200" b="1" dirty="0">
                <a:latin typeface="Nunito" pitchFamily="2" charset="0"/>
              </a:rPr>
              <a:t>TTI : </a:t>
            </a:r>
            <a:r>
              <a:rPr lang="fr-CA" sz="1200" dirty="0">
                <a:latin typeface="Nunito" pitchFamily="2" charset="0"/>
              </a:rPr>
              <a:t>Rabais de 200$ sur tous les modèles TTI ECOLO.</a:t>
            </a:r>
          </a:p>
        </p:txBody>
      </p:sp>
      <p:sp>
        <p:nvSpPr>
          <p:cNvPr id="2" name="Espace réservé du numéro de diapositive 1">
            <a:extLst>
              <a:ext uri="{FF2B5EF4-FFF2-40B4-BE49-F238E27FC236}">
                <a16:creationId xmlns:a16="http://schemas.microsoft.com/office/drawing/2014/main" id="{A9BEC494-D4C8-48DB-B968-4FEB2152C3AA}"/>
              </a:ext>
            </a:extLst>
          </p:cNvPr>
          <p:cNvSpPr>
            <a:spLocks noGrp="1"/>
          </p:cNvSpPr>
          <p:nvPr>
            <p:ph type="sldNum" sz="quarter" idx="12"/>
            <p:custDataLst>
              <p:tags r:id="rId2"/>
            </p:custDataLst>
          </p:nvPr>
        </p:nvSpPr>
        <p:spPr/>
        <p:txBody>
          <a:bodyPr/>
          <a:lstStyle/>
          <a:p>
            <a:fld id="{31F4C03E-007A-4FDF-9746-0F09F296E587}" type="slidenum">
              <a:rPr lang="fr-CA" smtClean="0"/>
              <a:t>7</a:t>
            </a:fld>
            <a:endParaRPr lang="fr-CA"/>
          </a:p>
        </p:txBody>
      </p:sp>
      <p:sp>
        <p:nvSpPr>
          <p:cNvPr id="3" name="Rectangle 2">
            <a:extLst>
              <a:ext uri="{FF2B5EF4-FFF2-40B4-BE49-F238E27FC236}">
                <a16:creationId xmlns:a16="http://schemas.microsoft.com/office/drawing/2014/main" id="{FB5624A4-969B-1056-5A11-C3594EF3D292}"/>
              </a:ext>
            </a:extLst>
          </p:cNvPr>
          <p:cNvSpPr/>
          <p:nvPr>
            <p:custDataLst>
              <p:tags r:id="rId3"/>
            </p:custDataLst>
          </p:nvPr>
        </p:nvSpPr>
        <p:spPr>
          <a:xfrm>
            <a:off x="275719" y="3880371"/>
            <a:ext cx="6408713" cy="3539430"/>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sz="1400" b="1" dirty="0">
                <a:latin typeface="Nunito" pitchFamily="2" charset="0"/>
              </a:rPr>
              <a:t>POLARIS et SPLASH</a:t>
            </a:r>
            <a:r>
              <a:rPr lang="fr-CA" sz="1400" dirty="0">
                <a:latin typeface="Nunito" pitchFamily="2" charset="0"/>
              </a:rPr>
              <a:t>: Rabais se poursuit sur la pompe et filtreur. Voir Annexes ACC HORS TERRE.</a:t>
            </a:r>
          </a:p>
          <a:p>
            <a:pPr marL="285750" indent="-285750">
              <a:buFont typeface="Arial" panose="020B0604020202020204" pitchFamily="34" charset="0"/>
              <a:buChar char="•"/>
            </a:pPr>
            <a:r>
              <a:rPr lang="fr-CA" sz="1400" b="1" dirty="0">
                <a:latin typeface="Nunito" pitchFamily="2" charset="0"/>
              </a:rPr>
              <a:t>BESTWAY: </a:t>
            </a:r>
            <a:r>
              <a:rPr lang="fr-CA" sz="1400" dirty="0">
                <a:latin typeface="Nunito" pitchFamily="2" charset="0"/>
              </a:rPr>
              <a:t>15% de rabais sur les piscines gonflable + spa gonflable sur le Hollywood (180148) et 10% Miami (179088 ).</a:t>
            </a:r>
          </a:p>
          <a:p>
            <a:pPr marL="285750" indent="-285750">
              <a:buFont typeface="Arial" panose="020B0604020202020204" pitchFamily="34" charset="0"/>
              <a:buChar char="•"/>
            </a:pPr>
            <a:r>
              <a:rPr lang="fr-CA" sz="1400" b="1" dirty="0">
                <a:latin typeface="Nunito" pitchFamily="2" charset="0"/>
              </a:rPr>
              <a:t>1</a:t>
            </a:r>
            <a:r>
              <a:rPr lang="fr-FR" sz="1400" b="1" dirty="0">
                <a:latin typeface="Nunito" pitchFamily="2" charset="0"/>
              </a:rPr>
              <a:t>5% de rabais sur les jeux et gonflables (exclut aide à la nage et sport) - </a:t>
            </a:r>
            <a:r>
              <a:rPr lang="fr-FR" sz="1400" dirty="0">
                <a:latin typeface="Nunito" pitchFamily="2" charset="0"/>
              </a:rPr>
              <a:t>18 juin au 7 juillet</a:t>
            </a:r>
            <a:endParaRPr lang="en-CA" sz="1400" b="1" dirty="0">
              <a:latin typeface="Nunito" pitchFamily="2" charset="0"/>
            </a:endParaRPr>
          </a:p>
          <a:p>
            <a:pPr marL="285750" indent="-285750">
              <a:buFont typeface="Arial" panose="020B0604020202020204" pitchFamily="34" charset="0"/>
              <a:buChar char="•"/>
            </a:pPr>
            <a:r>
              <a:rPr lang="en-CA" sz="1400" b="1" dirty="0">
                <a:latin typeface="Nunito" pitchFamily="2" charset="0"/>
              </a:rPr>
              <a:t>MAYTRONICS: </a:t>
            </a:r>
            <a:r>
              <a:rPr lang="en-CA" sz="1400" dirty="0" err="1">
                <a:latin typeface="Nunito" pitchFamily="2" charset="0"/>
              </a:rPr>
              <a:t>Rabais</a:t>
            </a:r>
            <a:r>
              <a:rPr lang="en-CA" sz="1400" dirty="0">
                <a:latin typeface="Nunito" pitchFamily="2" charset="0"/>
              </a:rPr>
              <a:t> postal pour le client pour les robots </a:t>
            </a:r>
            <a:r>
              <a:rPr lang="en-CA" sz="1400" dirty="0" err="1">
                <a:latin typeface="Nunito" pitchFamily="2" charset="0"/>
              </a:rPr>
              <a:t>nettoyeurs</a:t>
            </a:r>
            <a:r>
              <a:rPr lang="en-CA" sz="1400" dirty="0">
                <a:latin typeface="Nunito" pitchFamily="2" charset="0"/>
              </a:rPr>
              <a:t> (</a:t>
            </a:r>
            <a:r>
              <a:rPr lang="en-CA" sz="1400" dirty="0" err="1">
                <a:latin typeface="Nunito" pitchFamily="2" charset="0"/>
              </a:rPr>
              <a:t>voir</a:t>
            </a:r>
            <a:r>
              <a:rPr lang="en-CA" sz="1400" dirty="0">
                <a:latin typeface="Nunito" pitchFamily="2" charset="0"/>
              </a:rPr>
              <a:t> affiche </a:t>
            </a:r>
            <a:r>
              <a:rPr lang="en-CA" sz="1400" b="1" dirty="0">
                <a:latin typeface="Nunito" pitchFamily="2" charset="0"/>
              </a:rPr>
              <a:t>à </a:t>
            </a:r>
            <a:r>
              <a:rPr lang="en-CA" sz="1400" b="1" dirty="0" err="1">
                <a:latin typeface="Nunito" pitchFamily="2" charset="0"/>
              </a:rPr>
              <a:t>imprimer</a:t>
            </a:r>
            <a:r>
              <a:rPr lang="en-CA" sz="1400" b="1" dirty="0">
                <a:latin typeface="Nunito" pitchFamily="2" charset="0"/>
              </a:rPr>
              <a:t> </a:t>
            </a:r>
            <a:r>
              <a:rPr lang="en-CA" sz="1400" dirty="0">
                <a:latin typeface="Nunito" pitchFamily="2" charset="0"/>
              </a:rPr>
              <a:t>sur le </a:t>
            </a:r>
            <a:r>
              <a:rPr lang="en-CA" sz="1400" dirty="0" err="1">
                <a:latin typeface="Nunito" pitchFamily="2" charset="0"/>
              </a:rPr>
              <a:t>Sharepoint</a:t>
            </a:r>
            <a:r>
              <a:rPr lang="en-CA" sz="1400" dirty="0">
                <a:latin typeface="Nunito" pitchFamily="2" charset="0"/>
              </a:rPr>
              <a:t>). Les </a:t>
            </a:r>
            <a:r>
              <a:rPr lang="en-CA" sz="1400" dirty="0" err="1">
                <a:latin typeface="Nunito" pitchFamily="2" charset="0"/>
              </a:rPr>
              <a:t>rabais</a:t>
            </a:r>
            <a:r>
              <a:rPr lang="en-CA" sz="1400" dirty="0">
                <a:latin typeface="Nunito" pitchFamily="2" charset="0"/>
              </a:rPr>
              <a:t> </a:t>
            </a:r>
            <a:r>
              <a:rPr lang="en-CA" sz="1400" dirty="0" err="1">
                <a:latin typeface="Nunito" pitchFamily="2" charset="0"/>
              </a:rPr>
              <a:t>demeurent</a:t>
            </a:r>
            <a:r>
              <a:rPr lang="en-CA" sz="1400" dirty="0">
                <a:latin typeface="Nunito" pitchFamily="2" charset="0"/>
              </a:rPr>
              <a:t> les </a:t>
            </a:r>
            <a:r>
              <a:rPr lang="en-CA" sz="1400" dirty="0" err="1">
                <a:latin typeface="Nunito" pitchFamily="2" charset="0"/>
              </a:rPr>
              <a:t>mêmes</a:t>
            </a:r>
            <a:r>
              <a:rPr lang="en-CA" sz="1400" dirty="0">
                <a:latin typeface="Nunito" pitchFamily="2" charset="0"/>
              </a:rPr>
              <a:t> toute </a:t>
            </a:r>
            <a:r>
              <a:rPr lang="en-CA" sz="1400" dirty="0" err="1">
                <a:latin typeface="Nunito" pitchFamily="2" charset="0"/>
              </a:rPr>
              <a:t>l’année</a:t>
            </a:r>
            <a:r>
              <a:rPr lang="en-CA" sz="1400" dirty="0">
                <a:latin typeface="Nunito" pitchFamily="2" charset="0"/>
              </a:rPr>
              <a:t> </a:t>
            </a:r>
            <a:r>
              <a:rPr lang="en-CA" sz="1400" dirty="0" err="1">
                <a:latin typeface="Nunito" pitchFamily="2" charset="0"/>
              </a:rPr>
              <a:t>mais</a:t>
            </a:r>
            <a:r>
              <a:rPr lang="en-CA" sz="1400" dirty="0">
                <a:latin typeface="Nunito" pitchFamily="2" charset="0"/>
              </a:rPr>
              <a:t> le code promo change pour le client. Une nouvelle affiche sera </a:t>
            </a:r>
            <a:r>
              <a:rPr lang="en-CA" sz="1400" dirty="0" err="1">
                <a:latin typeface="Nunito" pitchFamily="2" charset="0"/>
              </a:rPr>
              <a:t>deposée</a:t>
            </a:r>
            <a:r>
              <a:rPr lang="en-CA" sz="1400" dirty="0">
                <a:latin typeface="Nunito" pitchFamily="2" charset="0"/>
              </a:rPr>
              <a:t> </a:t>
            </a:r>
            <a:r>
              <a:rPr lang="en-CA" sz="1400" dirty="0" err="1">
                <a:latin typeface="Nunito" pitchFamily="2" charset="0"/>
              </a:rPr>
              <a:t>chaque</a:t>
            </a:r>
            <a:r>
              <a:rPr lang="en-CA" sz="1400" dirty="0">
                <a:latin typeface="Nunito" pitchFamily="2" charset="0"/>
              </a:rPr>
              <a:t> </a:t>
            </a:r>
            <a:r>
              <a:rPr lang="en-CA" sz="1400" dirty="0" err="1">
                <a:latin typeface="Nunito" pitchFamily="2" charset="0"/>
              </a:rPr>
              <a:t>mois</a:t>
            </a:r>
            <a:r>
              <a:rPr lang="en-CA" sz="1400" dirty="0">
                <a:latin typeface="Nunito" pitchFamily="2" charset="0"/>
              </a:rPr>
              <a:t>. </a:t>
            </a:r>
            <a:r>
              <a:rPr lang="en-CA" sz="1400" b="1" dirty="0">
                <a:latin typeface="Nunito" pitchFamily="2" charset="0"/>
              </a:rPr>
              <a:t>Promotion </a:t>
            </a:r>
            <a:r>
              <a:rPr lang="en-CA" sz="1400" b="1" dirty="0" err="1">
                <a:latin typeface="Nunito" pitchFamily="2" charset="0"/>
              </a:rPr>
              <a:t>en</a:t>
            </a:r>
            <a:r>
              <a:rPr lang="en-CA" sz="1400" b="1" dirty="0">
                <a:latin typeface="Nunito" pitchFamily="2" charset="0"/>
              </a:rPr>
              <a:t> </a:t>
            </a:r>
            <a:r>
              <a:rPr lang="en-CA" sz="1400" b="1" dirty="0" err="1">
                <a:latin typeface="Nunito" pitchFamily="2" charset="0"/>
              </a:rPr>
              <a:t>magasin</a:t>
            </a:r>
            <a:r>
              <a:rPr lang="en-CA" sz="1400" b="1" dirty="0">
                <a:latin typeface="Nunito" pitchFamily="2" charset="0"/>
              </a:rPr>
              <a:t> </a:t>
            </a:r>
            <a:r>
              <a:rPr lang="en-CA" sz="1400" b="1" dirty="0" err="1">
                <a:latin typeface="Nunito" pitchFamily="2" charset="0"/>
              </a:rPr>
              <a:t>seulement</a:t>
            </a:r>
            <a:r>
              <a:rPr lang="en-CA" sz="1400" dirty="0">
                <a:latin typeface="Nunito" pitchFamily="2" charset="0"/>
              </a:rPr>
              <a:t>. </a:t>
            </a:r>
          </a:p>
          <a:p>
            <a:pPr marL="285750" indent="-285750">
              <a:buFont typeface="Arial" panose="020B0604020202020204" pitchFamily="34" charset="0"/>
              <a:buChar char="•"/>
            </a:pPr>
            <a:r>
              <a:rPr lang="en-CA" sz="1400" b="1" dirty="0">
                <a:latin typeface="Nunito" pitchFamily="2" charset="0"/>
              </a:rPr>
              <a:t>ICO</a:t>
            </a:r>
            <a:r>
              <a:rPr lang="en-CA" sz="1400" dirty="0">
                <a:latin typeface="Nunito" pitchFamily="2" charset="0"/>
              </a:rPr>
              <a:t>: En promotion à 499.99$ (1</a:t>
            </a:r>
            <a:r>
              <a:rPr lang="fr-CA" sz="1400" dirty="0">
                <a:latin typeface="Nunito" pitchFamily="2" charset="0"/>
              </a:rPr>
              <a:t>76504  et 182478) </a:t>
            </a:r>
            <a:endParaRPr lang="en-CA" sz="1400" dirty="0">
              <a:latin typeface="Nunito" pitchFamily="2" charset="0"/>
            </a:endParaRPr>
          </a:p>
          <a:p>
            <a:pPr marL="285750" indent="-285750">
              <a:buFont typeface="Arial" panose="020B0604020202020204" pitchFamily="34" charset="0"/>
              <a:buChar char="•"/>
            </a:pPr>
            <a:endParaRPr lang="en-CA" sz="1400" dirty="0">
              <a:latin typeface="Nunito" pitchFamily="2" charset="0"/>
            </a:endParaRPr>
          </a:p>
          <a:p>
            <a:pPr marL="285750" indent="-285750">
              <a:buFont typeface="Arial" panose="020B0604020202020204" pitchFamily="34" charset="0"/>
              <a:buChar char="•"/>
            </a:pPr>
            <a:endParaRPr lang="en-CA" sz="1400" dirty="0">
              <a:latin typeface="Nunito" pitchFamily="2" charset="0"/>
            </a:endParaRPr>
          </a:p>
          <a:p>
            <a:pPr marL="285750" indent="-285750">
              <a:buFont typeface="Arial" panose="020B0604020202020204" pitchFamily="34" charset="0"/>
              <a:buChar char="•"/>
            </a:pPr>
            <a:endParaRPr lang="en-CA" sz="1400" dirty="0">
              <a:latin typeface="Nunito" pitchFamily="2" charset="0"/>
            </a:endParaRPr>
          </a:p>
          <a:p>
            <a:pPr marL="285750" indent="-285750">
              <a:buFont typeface="Arial" panose="020B0604020202020204" pitchFamily="34" charset="0"/>
              <a:buChar char="•"/>
            </a:pPr>
            <a:endParaRPr lang="en-CA" sz="1400" dirty="0">
              <a:latin typeface="Nunito" pitchFamily="2" charset="0"/>
            </a:endParaRPr>
          </a:p>
        </p:txBody>
      </p:sp>
      <p:sp>
        <p:nvSpPr>
          <p:cNvPr id="9" name="Rectangle 8">
            <a:extLst>
              <a:ext uri="{FF2B5EF4-FFF2-40B4-BE49-F238E27FC236}">
                <a16:creationId xmlns:a16="http://schemas.microsoft.com/office/drawing/2014/main" id="{481760E0-A153-8420-8A21-63003B6588C8}"/>
              </a:ext>
            </a:extLst>
          </p:cNvPr>
          <p:cNvSpPr/>
          <p:nvPr>
            <p:custDataLst>
              <p:tags r:id="rId4"/>
            </p:custDataLst>
          </p:nvPr>
        </p:nvSpPr>
        <p:spPr>
          <a:xfrm>
            <a:off x="297807" y="8097451"/>
            <a:ext cx="6408713" cy="579005"/>
          </a:xfrm>
          <a:prstGeom prst="rect">
            <a:avLst/>
          </a:prstGeom>
          <a:noFill/>
          <a:ln>
            <a:solidFill>
              <a:schemeClr val="tx1"/>
            </a:solidFill>
          </a:ln>
        </p:spPr>
        <p:txBody>
          <a:bodyPr wrap="square">
            <a:spAutoFit/>
          </a:bodyPr>
          <a:lstStyle/>
          <a:p>
            <a:pPr marL="285750" indent="-285750">
              <a:lnSpc>
                <a:spcPct val="150000"/>
              </a:lnSpc>
              <a:buFont typeface="Arial" panose="020B0604020202020204" pitchFamily="34" charset="0"/>
              <a:buChar char="•"/>
            </a:pPr>
            <a:r>
              <a:rPr lang="fr-CA" sz="1100" b="1" dirty="0">
                <a:latin typeface="Nunito" pitchFamily="2" charset="0"/>
              </a:rPr>
              <a:t>CHLORE CP:  </a:t>
            </a:r>
            <a:r>
              <a:rPr lang="fr-CA" sz="1100" dirty="0">
                <a:latin typeface="Nunito" pitchFamily="2" charset="0"/>
              </a:rPr>
              <a:t>Fin de la promo de la serviette gratuite mais le chlore reste en promotion au même prix.</a:t>
            </a:r>
          </a:p>
        </p:txBody>
      </p:sp>
      <p:sp>
        <p:nvSpPr>
          <p:cNvPr id="15" name="Rectangle 14">
            <a:extLst>
              <a:ext uri="{FF2B5EF4-FFF2-40B4-BE49-F238E27FC236}">
                <a16:creationId xmlns:a16="http://schemas.microsoft.com/office/drawing/2014/main" id="{D3B4B115-CDE3-3FA8-DFF6-9AEC5F50A0EB}"/>
              </a:ext>
            </a:extLst>
          </p:cNvPr>
          <p:cNvSpPr/>
          <p:nvPr>
            <p:custDataLst>
              <p:tags r:id="rId5"/>
            </p:custDataLst>
          </p:nvPr>
        </p:nvSpPr>
        <p:spPr>
          <a:xfrm>
            <a:off x="260647" y="1692521"/>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THERMOPOMPES</a:t>
            </a:r>
          </a:p>
        </p:txBody>
      </p:sp>
      <p:sp>
        <p:nvSpPr>
          <p:cNvPr id="16" name="Zone de texte 28">
            <a:extLst>
              <a:ext uri="{FF2B5EF4-FFF2-40B4-BE49-F238E27FC236}">
                <a16:creationId xmlns:a16="http://schemas.microsoft.com/office/drawing/2014/main" id="{B5902CBF-27FA-CBD1-D98B-09085064DC06}"/>
              </a:ext>
            </a:extLst>
          </p:cNvPr>
          <p:cNvSpPr txBox="1">
            <a:spLocks/>
          </p:cNvSpPr>
          <p:nvPr>
            <p:custDataLst>
              <p:tags r:id="rId6"/>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7" name="ZoneTexte 16">
            <a:extLst>
              <a:ext uri="{FF2B5EF4-FFF2-40B4-BE49-F238E27FC236}">
                <a16:creationId xmlns:a16="http://schemas.microsoft.com/office/drawing/2014/main" id="{8E13C3C7-498F-2868-F3E7-23E8CD387CD5}"/>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sp>
        <p:nvSpPr>
          <p:cNvPr id="18" name="Rectangle 17">
            <a:extLst>
              <a:ext uri="{FF2B5EF4-FFF2-40B4-BE49-F238E27FC236}">
                <a16:creationId xmlns:a16="http://schemas.microsoft.com/office/drawing/2014/main" id="{2F37B070-540C-54E1-A4A0-1A8D25F2F9C1}"/>
              </a:ext>
            </a:extLst>
          </p:cNvPr>
          <p:cNvSpPr/>
          <p:nvPr>
            <p:custDataLst>
              <p:tags r:id="rId7"/>
            </p:custDataLst>
          </p:nvPr>
        </p:nvSpPr>
        <p:spPr>
          <a:xfrm>
            <a:off x="260648" y="3348705"/>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ACCESSOIRES PISCINES ET SPAS 2025</a:t>
            </a:r>
          </a:p>
        </p:txBody>
      </p:sp>
      <p:sp>
        <p:nvSpPr>
          <p:cNvPr id="19" name="Rectangle 18">
            <a:extLst>
              <a:ext uri="{FF2B5EF4-FFF2-40B4-BE49-F238E27FC236}">
                <a16:creationId xmlns:a16="http://schemas.microsoft.com/office/drawing/2014/main" id="{D044A4F1-67C6-4528-BA78-0C668B1C8B8F}"/>
              </a:ext>
            </a:extLst>
          </p:cNvPr>
          <p:cNvSpPr/>
          <p:nvPr>
            <p:custDataLst>
              <p:tags r:id="rId8"/>
            </p:custDataLst>
          </p:nvPr>
        </p:nvSpPr>
        <p:spPr>
          <a:xfrm>
            <a:off x="286575" y="7597177"/>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CHIMIQUE et AUTRES</a:t>
            </a:r>
          </a:p>
        </p:txBody>
      </p:sp>
    </p:spTree>
    <p:extLst>
      <p:ext uri="{BB962C8B-B14F-4D97-AF65-F5344CB8AC3E}">
        <p14:creationId xmlns:p14="http://schemas.microsoft.com/office/powerpoint/2010/main" val="1857360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custDataLst>
              <p:tags r:id="rId1"/>
            </p:custDataLst>
          </p:nvPr>
        </p:nvSpPr>
        <p:spPr>
          <a:xfrm>
            <a:off x="260647" y="2223026"/>
            <a:ext cx="6408713" cy="2246769"/>
          </a:xfrm>
          <a:prstGeom prst="rect">
            <a:avLst/>
          </a:prstGeom>
          <a:noFill/>
          <a:ln>
            <a:solidFill>
              <a:schemeClr val="tx1"/>
            </a:solidFill>
          </a:ln>
        </p:spPr>
        <p:txBody>
          <a:bodyPr wrap="square">
            <a:spAutoFit/>
          </a:bodyPr>
          <a:lstStyle/>
          <a:p>
            <a:r>
              <a:rPr lang="fr-CA" sz="1400" b="1" dirty="0">
                <a:latin typeface="Nunito" pitchFamily="2" charset="0"/>
              </a:rPr>
              <a:t>MEUBLES </a:t>
            </a:r>
          </a:p>
          <a:p>
            <a:pPr marL="285750" indent="-285750">
              <a:buFont typeface="Arial" panose="020B0604020202020204" pitchFamily="34" charset="0"/>
              <a:buChar char="•"/>
            </a:pPr>
            <a:r>
              <a:rPr lang="fr-CA" sz="1400" b="1" dirty="0">
                <a:latin typeface="Nunito" pitchFamily="2" charset="0"/>
              </a:rPr>
              <a:t>JUSQU’À 40% de rabais sur les meubles sélectionnés. </a:t>
            </a:r>
            <a:r>
              <a:rPr lang="fr-CA" sz="1400" dirty="0">
                <a:latin typeface="Nunito" pitchFamily="2" charset="0"/>
              </a:rPr>
              <a:t>Voir annexes pour les prix.</a:t>
            </a:r>
            <a:endParaRPr lang="fr-FR" sz="1400" dirty="0">
              <a:latin typeface="Nunito" pitchFamily="2" charset="0"/>
            </a:endParaRPr>
          </a:p>
          <a:p>
            <a:pPr marL="285750" indent="-285750">
              <a:buFont typeface="Arial" panose="020B0604020202020204" pitchFamily="34" charset="0"/>
              <a:buChar char="•"/>
            </a:pPr>
            <a:r>
              <a:rPr lang="fr-FR" sz="1400" b="1" dirty="0">
                <a:latin typeface="Nunito" pitchFamily="2" charset="0"/>
              </a:rPr>
              <a:t>Financement : </a:t>
            </a:r>
            <a:r>
              <a:rPr lang="fr-FR" sz="1400" dirty="0">
                <a:latin typeface="Nunito" pitchFamily="2" charset="0"/>
              </a:rPr>
              <a:t>24 mois sans intérêt (code 13240).</a:t>
            </a:r>
          </a:p>
          <a:p>
            <a:pPr marL="285750" indent="-285750">
              <a:buFont typeface="Arial" panose="020B0604020202020204" pitchFamily="34" charset="0"/>
              <a:buChar char="•"/>
            </a:pPr>
            <a:r>
              <a:rPr lang="fr-FR" sz="1400" b="1" dirty="0">
                <a:latin typeface="Nunito" pitchFamily="2" charset="0"/>
              </a:rPr>
              <a:t>LIQUIDATION</a:t>
            </a:r>
            <a:r>
              <a:rPr lang="fr-FR" sz="1400" dirty="0">
                <a:latin typeface="Nunito" pitchFamily="2" charset="0"/>
              </a:rPr>
              <a:t>: on vous invite également à mettre de l’avant vos démos de plancher ou vieilles collections à des prix agressifs.</a:t>
            </a:r>
          </a:p>
          <a:p>
            <a:pPr marL="285750" indent="-285750">
              <a:buFont typeface="Arial" panose="020B0604020202020204" pitchFamily="34" charset="0"/>
              <a:buChar char="•"/>
            </a:pPr>
            <a:r>
              <a:rPr lang="fr-CA" sz="1400" b="1" dirty="0">
                <a:latin typeface="Nunito" pitchFamily="2" charset="0"/>
              </a:rPr>
              <a:t>EXCLUSION: Les imbattables (EDLP), CR plastic et </a:t>
            </a:r>
            <a:r>
              <a:rPr lang="fr-CA" sz="1400" b="1" dirty="0" err="1">
                <a:latin typeface="Nunito" pitchFamily="2" charset="0"/>
              </a:rPr>
              <a:t>Treasure</a:t>
            </a:r>
            <a:r>
              <a:rPr lang="fr-CA" sz="1400" b="1" dirty="0">
                <a:latin typeface="Nunito" pitchFamily="2" charset="0"/>
              </a:rPr>
              <a:t> Garden </a:t>
            </a:r>
            <a:r>
              <a:rPr lang="fr-CA" sz="1400" dirty="0">
                <a:latin typeface="Nunito" pitchFamily="2" charset="0"/>
              </a:rPr>
              <a:t>sont</a:t>
            </a:r>
            <a:r>
              <a:rPr lang="fr-CA" sz="1400" b="1" dirty="0">
                <a:latin typeface="Nunito" pitchFamily="2" charset="0"/>
              </a:rPr>
              <a:t> </a:t>
            </a:r>
            <a:r>
              <a:rPr lang="fr-CA" sz="1400" dirty="0">
                <a:latin typeface="Nunito" pitchFamily="2" charset="0"/>
              </a:rPr>
              <a:t>toujours exclus des promotions.</a:t>
            </a:r>
          </a:p>
          <a:p>
            <a:pPr marL="285750" indent="-285750">
              <a:buFont typeface="Arial" panose="020B0604020202020204" pitchFamily="34" charset="0"/>
              <a:buChar char="•"/>
            </a:pPr>
            <a:endParaRPr lang="fr-CA" sz="1400" dirty="0">
              <a:highlight>
                <a:srgbClr val="FFFF00"/>
              </a:highlight>
              <a:latin typeface="Nunito" pitchFamily="2"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fr-CA" sz="1400" dirty="0">
              <a:latin typeface="Nunito" pitchFamily="2" charset="0"/>
            </a:endParaRPr>
          </a:p>
        </p:txBody>
      </p:sp>
      <p:sp>
        <p:nvSpPr>
          <p:cNvPr id="2" name="Espace réservé du numéro de diapositive 1">
            <a:extLst>
              <a:ext uri="{FF2B5EF4-FFF2-40B4-BE49-F238E27FC236}">
                <a16:creationId xmlns:a16="http://schemas.microsoft.com/office/drawing/2014/main" id="{34C2A165-92F7-43C0-889A-0CB1C2D0B657}"/>
              </a:ext>
            </a:extLst>
          </p:cNvPr>
          <p:cNvSpPr>
            <a:spLocks noGrp="1"/>
          </p:cNvSpPr>
          <p:nvPr>
            <p:ph type="sldNum" sz="quarter" idx="12"/>
            <p:custDataLst>
              <p:tags r:id="rId2"/>
            </p:custDataLst>
          </p:nvPr>
        </p:nvSpPr>
        <p:spPr/>
        <p:txBody>
          <a:bodyPr/>
          <a:lstStyle/>
          <a:p>
            <a:fld id="{31F4C03E-007A-4FDF-9746-0F09F296E587}" type="slidenum">
              <a:rPr lang="fr-CA" smtClean="0"/>
              <a:t>8</a:t>
            </a:fld>
            <a:endParaRPr lang="fr-CA"/>
          </a:p>
        </p:txBody>
      </p:sp>
      <p:sp>
        <p:nvSpPr>
          <p:cNvPr id="14" name="Rectangle 13">
            <a:extLst>
              <a:ext uri="{FF2B5EF4-FFF2-40B4-BE49-F238E27FC236}">
                <a16:creationId xmlns:a16="http://schemas.microsoft.com/office/drawing/2014/main" id="{3FCDE7EB-7AB5-218C-2913-A99998CCDDAC}"/>
              </a:ext>
            </a:extLst>
          </p:cNvPr>
          <p:cNvSpPr/>
          <p:nvPr>
            <p:custDataLst>
              <p:tags r:id="rId3"/>
            </p:custDataLst>
          </p:nvPr>
        </p:nvSpPr>
        <p:spPr>
          <a:xfrm>
            <a:off x="260647" y="6187822"/>
            <a:ext cx="6372710" cy="692497"/>
          </a:xfrm>
          <a:prstGeom prst="rect">
            <a:avLst/>
          </a:prstGeom>
          <a:noFill/>
          <a:ln>
            <a:solidFill>
              <a:schemeClr val="tx1"/>
            </a:solidFill>
          </a:ln>
        </p:spPr>
        <p:txBody>
          <a:bodyPr wrap="square">
            <a:spAutoFit/>
          </a:bodyPr>
          <a:lstStyle/>
          <a:p>
            <a:pPr marL="342900" lvl="0" indent="-342900">
              <a:buFont typeface="Arial" panose="020B0604020202020204" pitchFamily="34" charset="0"/>
              <a:buChar char="•"/>
            </a:pPr>
            <a:r>
              <a:rPr lang="fr-CA" sz="1400" dirty="0">
                <a:latin typeface="Nunito" pitchFamily="2" charset="0"/>
              </a:rPr>
              <a:t>Jusqu’à 1000$ de rabais. Voir rabais en cours dans l’Annexe.</a:t>
            </a:r>
          </a:p>
          <a:p>
            <a:pPr lvl="1"/>
            <a:endParaRPr lang="fr-CA" sz="1400" dirty="0">
              <a:latin typeface="Nunito" pitchFamily="2" charset="0"/>
            </a:endParaRPr>
          </a:p>
          <a:p>
            <a:pPr lvl="1"/>
            <a:endParaRPr lang="fr-CA" sz="1100" b="1" dirty="0">
              <a:latin typeface="Nunito" pitchFamily="2" charset="0"/>
            </a:endParaRPr>
          </a:p>
        </p:txBody>
      </p:sp>
      <p:pic>
        <p:nvPicPr>
          <p:cNvPr id="4" name="Image 3" descr="Une image contenant Graphique, Police, émoticône, texte&#10;&#10;Le contenu généré par l’IA peut être incorrect.">
            <a:extLst>
              <a:ext uri="{FF2B5EF4-FFF2-40B4-BE49-F238E27FC236}">
                <a16:creationId xmlns:a16="http://schemas.microsoft.com/office/drawing/2014/main" id="{620E8829-9DC2-D3D4-EA48-AB5FDCED929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
        <p:nvSpPr>
          <p:cNvPr id="13" name="Zone de texte 28">
            <a:extLst>
              <a:ext uri="{FF2B5EF4-FFF2-40B4-BE49-F238E27FC236}">
                <a16:creationId xmlns:a16="http://schemas.microsoft.com/office/drawing/2014/main" id="{07EEBC24-3491-8F2D-25BF-360F93269222}"/>
              </a:ext>
            </a:extLst>
          </p:cNvPr>
          <p:cNvSpPr txBox="1">
            <a:spLocks/>
          </p:cNvSpPr>
          <p:nvPr>
            <p:custDataLst>
              <p:tags r:id="rId4"/>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5" name="Rectangle 14">
            <a:extLst>
              <a:ext uri="{FF2B5EF4-FFF2-40B4-BE49-F238E27FC236}">
                <a16:creationId xmlns:a16="http://schemas.microsoft.com/office/drawing/2014/main" id="{D0234DBF-13A6-9C41-C200-4478E6C117B0}"/>
              </a:ext>
            </a:extLst>
          </p:cNvPr>
          <p:cNvSpPr/>
          <p:nvPr>
            <p:custDataLst>
              <p:tags r:id="rId5"/>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MEUBLES ET PARASOLS</a:t>
            </a:r>
          </a:p>
        </p:txBody>
      </p:sp>
      <p:sp>
        <p:nvSpPr>
          <p:cNvPr id="16" name="ZoneTexte 15">
            <a:extLst>
              <a:ext uri="{FF2B5EF4-FFF2-40B4-BE49-F238E27FC236}">
                <a16:creationId xmlns:a16="http://schemas.microsoft.com/office/drawing/2014/main" id="{ABDFD338-3E98-30C2-7ED8-786F487F1F66}"/>
              </a:ext>
            </a:extLst>
          </p:cNvPr>
          <p:cNvSpPr txBox="1"/>
          <p:nvPr/>
        </p:nvSpPr>
        <p:spPr>
          <a:xfrm>
            <a:off x="1232754" y="1139855"/>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sp>
        <p:nvSpPr>
          <p:cNvPr id="17" name="Rectangle 16">
            <a:extLst>
              <a:ext uri="{FF2B5EF4-FFF2-40B4-BE49-F238E27FC236}">
                <a16:creationId xmlns:a16="http://schemas.microsoft.com/office/drawing/2014/main" id="{B21209DE-3E0C-E8D3-0FED-7F3EDBC87A22}"/>
              </a:ext>
            </a:extLst>
          </p:cNvPr>
          <p:cNvSpPr/>
          <p:nvPr>
            <p:custDataLst>
              <p:tags r:id="rId6"/>
            </p:custDataLst>
          </p:nvPr>
        </p:nvSpPr>
        <p:spPr>
          <a:xfrm>
            <a:off x="260646" y="5650266"/>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GAZEBOS</a:t>
            </a:r>
          </a:p>
        </p:txBody>
      </p:sp>
    </p:spTree>
    <p:extLst>
      <p:ext uri="{BB962C8B-B14F-4D97-AF65-F5344CB8AC3E}">
        <p14:creationId xmlns:p14="http://schemas.microsoft.com/office/powerpoint/2010/main" val="212511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custDataLst>
              <p:tags r:id="rId1"/>
            </p:custDataLst>
          </p:nvPr>
        </p:nvSpPr>
        <p:spPr>
          <a:xfrm>
            <a:off x="260647" y="2195736"/>
            <a:ext cx="6408713" cy="3046988"/>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endParaRPr lang="fr-CA" sz="1600" b="1" dirty="0">
              <a:latin typeface="Nunito" pitchFamily="2" charset="0"/>
            </a:endParaRPr>
          </a:p>
          <a:p>
            <a:pPr marL="285750" indent="-285750">
              <a:buFont typeface="Arial" panose="020B0604020202020204" pitchFamily="34" charset="0"/>
              <a:buChar char="•"/>
            </a:pPr>
            <a:r>
              <a:rPr lang="fr-CA" sz="1600" b="1" dirty="0">
                <a:latin typeface="Nunito" pitchFamily="2" charset="0"/>
              </a:rPr>
              <a:t>PROMO BROIL KING valide du 17 juin au 16 juillet</a:t>
            </a:r>
          </a:p>
          <a:p>
            <a:pPr marL="742950" lvl="1" indent="-285750">
              <a:buFont typeface="Wingdings" panose="05000000000000000000" pitchFamily="2" charset="2"/>
              <a:buChar char="Ø"/>
            </a:pPr>
            <a:r>
              <a:rPr lang="fr-FR" sz="1600" dirty="0">
                <a:latin typeface="Nunito" pitchFamily="2" charset="0"/>
              </a:rPr>
              <a:t>Obtenez une housse </a:t>
            </a:r>
            <a:r>
              <a:rPr lang="fr-FR" sz="1600" dirty="0" err="1">
                <a:latin typeface="Nunito" pitchFamily="2" charset="0"/>
              </a:rPr>
              <a:t>Broil</a:t>
            </a:r>
            <a:r>
              <a:rPr lang="fr-FR" sz="1600" dirty="0">
                <a:latin typeface="Nunito" pitchFamily="2" charset="0"/>
              </a:rPr>
              <a:t> King Select gratuite à l’achat de tout barbecue au gaz de la série Signet, Monarch, Crown ou à granules.</a:t>
            </a:r>
            <a:endParaRPr lang="fr-CA" sz="1600" dirty="0">
              <a:latin typeface="Nunito" pitchFamily="2" charset="0"/>
            </a:endParaRPr>
          </a:p>
          <a:p>
            <a:pPr marL="285750" indent="-285750">
              <a:buFont typeface="Arial" panose="020B0604020202020204" pitchFamily="34" charset="0"/>
              <a:buChar char="•"/>
            </a:pPr>
            <a:r>
              <a:rPr lang="fr-CA" sz="1600" b="1" dirty="0">
                <a:latin typeface="Nunito" pitchFamily="2" charset="0"/>
              </a:rPr>
              <a:t>PROMO NAPOLEON valide du 14 mai au 9 juillet. </a:t>
            </a:r>
            <a:r>
              <a:rPr lang="fr-CA" sz="1600" dirty="0">
                <a:latin typeface="Nunito" pitchFamily="2" charset="0"/>
              </a:rPr>
              <a:t>Affiche à venir.</a:t>
            </a:r>
          </a:p>
          <a:p>
            <a:pPr marL="742950" lvl="1" indent="-285750">
              <a:buFont typeface="Wingdings" panose="05000000000000000000" pitchFamily="2" charset="2"/>
              <a:buChar char="Ø"/>
            </a:pPr>
            <a:r>
              <a:rPr lang="fr-CA" sz="1600" dirty="0">
                <a:latin typeface="Nunito" pitchFamily="2" charset="0"/>
              </a:rPr>
              <a:t>100$ de rabais dur le Freestyle</a:t>
            </a:r>
          </a:p>
          <a:p>
            <a:pPr marL="742950" lvl="1" indent="-285750">
              <a:buFont typeface="Wingdings" panose="05000000000000000000" pitchFamily="2" charset="2"/>
              <a:buChar char="Ø"/>
            </a:pPr>
            <a:r>
              <a:rPr lang="fr-CA" sz="1600" dirty="0">
                <a:latin typeface="Nunito" pitchFamily="2" charset="0"/>
              </a:rPr>
              <a:t>Accessoire gratuit à l’achat d’un BBQ sélectionné.</a:t>
            </a:r>
          </a:p>
          <a:p>
            <a:pPr marL="742950" lvl="1" indent="-285750">
              <a:buFont typeface="Arial" panose="020B0604020202020204" pitchFamily="34" charset="0"/>
              <a:buChar char="•"/>
            </a:pPr>
            <a:endParaRPr lang="fr-CA" sz="1600" dirty="0">
              <a:latin typeface="Nunito" pitchFamily="2" charset="0"/>
            </a:endParaRPr>
          </a:p>
          <a:p>
            <a:pPr marL="285750" indent="-285750">
              <a:buFont typeface="Arial" panose="020B0604020202020204" pitchFamily="34" charset="0"/>
              <a:buChar char="•"/>
            </a:pPr>
            <a:r>
              <a:rPr lang="fr-CA" sz="1600" b="1" dirty="0">
                <a:latin typeface="Nunito" pitchFamily="2" charset="0"/>
              </a:rPr>
              <a:t>KAMADO LG: </a:t>
            </a:r>
            <a:r>
              <a:rPr lang="fr-FR" sz="1600" dirty="0">
                <a:latin typeface="Nunito" pitchFamily="2" charset="0"/>
              </a:rPr>
              <a:t>En promo à 1399.99$ </a:t>
            </a:r>
          </a:p>
          <a:p>
            <a:pPr marL="285750" indent="-285750">
              <a:buFont typeface="Arial" panose="020B0604020202020204" pitchFamily="34" charset="0"/>
              <a:buChar char="•"/>
            </a:pPr>
            <a:r>
              <a:rPr lang="fr-CA" sz="1600" b="1" dirty="0">
                <a:latin typeface="Nunito" pitchFamily="2" charset="0"/>
              </a:rPr>
              <a:t>FOYER: </a:t>
            </a:r>
            <a:r>
              <a:rPr lang="fr-CA" sz="1600" dirty="0">
                <a:latin typeface="Nunito" pitchFamily="2" charset="0"/>
              </a:rPr>
              <a:t>Rabais en cours. Voir Annexes.</a:t>
            </a:r>
          </a:p>
        </p:txBody>
      </p:sp>
      <p:sp>
        <p:nvSpPr>
          <p:cNvPr id="2" name="Espace réservé du numéro de diapositive 1">
            <a:extLst>
              <a:ext uri="{FF2B5EF4-FFF2-40B4-BE49-F238E27FC236}">
                <a16:creationId xmlns:a16="http://schemas.microsoft.com/office/drawing/2014/main" id="{BB2DBC70-3186-48CE-819F-361D4296B670}"/>
              </a:ext>
            </a:extLst>
          </p:cNvPr>
          <p:cNvSpPr>
            <a:spLocks noGrp="1"/>
          </p:cNvSpPr>
          <p:nvPr>
            <p:ph type="sldNum" sz="quarter" idx="12"/>
            <p:custDataLst>
              <p:tags r:id="rId2"/>
            </p:custDataLst>
          </p:nvPr>
        </p:nvSpPr>
        <p:spPr/>
        <p:txBody>
          <a:bodyPr/>
          <a:lstStyle/>
          <a:p>
            <a:fld id="{31F4C03E-007A-4FDF-9746-0F09F296E587}" type="slidenum">
              <a:rPr lang="fr-CA" smtClean="0"/>
              <a:t>9</a:t>
            </a:fld>
            <a:endParaRPr lang="fr-CA"/>
          </a:p>
        </p:txBody>
      </p:sp>
      <p:pic>
        <p:nvPicPr>
          <p:cNvPr id="4" name="Image 3" descr="Une image contenant Graphique, Police, émoticône, texte&#10;&#10;Le contenu généré par l’IA peut être incorrect.">
            <a:extLst>
              <a:ext uri="{FF2B5EF4-FFF2-40B4-BE49-F238E27FC236}">
                <a16:creationId xmlns:a16="http://schemas.microsoft.com/office/drawing/2014/main" id="{6A14F4BD-2395-E12B-B62F-0DB73684AD0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
        <p:nvSpPr>
          <p:cNvPr id="10" name="Zone de texte 28">
            <a:extLst>
              <a:ext uri="{FF2B5EF4-FFF2-40B4-BE49-F238E27FC236}">
                <a16:creationId xmlns:a16="http://schemas.microsoft.com/office/drawing/2014/main" id="{8C4CC44E-B3E2-FBE5-ECEC-76835D374A16}"/>
              </a:ext>
            </a:extLst>
          </p:cNvPr>
          <p:cNvSpPr txBox="1">
            <a:spLocks/>
          </p:cNvSpPr>
          <p:nvPr>
            <p:custDataLst>
              <p:tags r:id="rId3"/>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1" name="Rectangle 10">
            <a:extLst>
              <a:ext uri="{FF2B5EF4-FFF2-40B4-BE49-F238E27FC236}">
                <a16:creationId xmlns:a16="http://schemas.microsoft.com/office/drawing/2014/main" id="{7C16C8E2-CB0B-54B5-EC51-C98B5E5D3834}"/>
              </a:ext>
            </a:extLst>
          </p:cNvPr>
          <p:cNvSpPr/>
          <p:nvPr>
            <p:custDataLst>
              <p:tags r:id="rId4"/>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BBQ et FOYER</a:t>
            </a:r>
          </a:p>
        </p:txBody>
      </p:sp>
      <p:sp>
        <p:nvSpPr>
          <p:cNvPr id="12" name="ZoneTexte 11">
            <a:extLst>
              <a:ext uri="{FF2B5EF4-FFF2-40B4-BE49-F238E27FC236}">
                <a16:creationId xmlns:a16="http://schemas.microsoft.com/office/drawing/2014/main" id="{5F5DB1DE-87AD-3650-0C01-6A8DB30EC7DE}"/>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sp>
        <p:nvSpPr>
          <p:cNvPr id="3" name="Rectangle 2">
            <a:extLst>
              <a:ext uri="{FF2B5EF4-FFF2-40B4-BE49-F238E27FC236}">
                <a16:creationId xmlns:a16="http://schemas.microsoft.com/office/drawing/2014/main" id="{5A2E98BB-9009-DF24-A94E-E723BDD87E28}"/>
              </a:ext>
            </a:extLst>
          </p:cNvPr>
          <p:cNvSpPr/>
          <p:nvPr>
            <p:custDataLst>
              <p:tags r:id="rId5"/>
            </p:custDataLst>
          </p:nvPr>
        </p:nvSpPr>
        <p:spPr>
          <a:xfrm>
            <a:off x="264486" y="7812360"/>
            <a:ext cx="6408713" cy="584775"/>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sz="1600" dirty="0">
                <a:latin typeface="Nunito" pitchFamily="2" charset="0"/>
              </a:rPr>
              <a:t>Aucun changement. Voir annexes pour les nouveaux rabais en cours. </a:t>
            </a:r>
            <a:endParaRPr lang="fr-CA" sz="1600" dirty="0">
              <a:latin typeface="Calibri Light" panose="020F03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99135805-4BAC-ECDD-5998-3EF13EB4E485}"/>
              </a:ext>
            </a:extLst>
          </p:cNvPr>
          <p:cNvSpPr/>
          <p:nvPr>
            <p:custDataLst>
              <p:tags r:id="rId6"/>
            </p:custDataLst>
          </p:nvPr>
        </p:nvSpPr>
        <p:spPr>
          <a:xfrm>
            <a:off x="264486" y="7312053"/>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FITNESS</a:t>
            </a:r>
          </a:p>
        </p:txBody>
      </p:sp>
      <p:sp>
        <p:nvSpPr>
          <p:cNvPr id="6" name="Rectangle 5">
            <a:extLst>
              <a:ext uri="{FF2B5EF4-FFF2-40B4-BE49-F238E27FC236}">
                <a16:creationId xmlns:a16="http://schemas.microsoft.com/office/drawing/2014/main" id="{FA6D1C5A-2F6E-7925-ADF0-941F37012D39}"/>
              </a:ext>
            </a:extLst>
          </p:cNvPr>
          <p:cNvSpPr/>
          <p:nvPr>
            <p:custDataLst>
              <p:tags r:id="rId7"/>
            </p:custDataLst>
          </p:nvPr>
        </p:nvSpPr>
        <p:spPr>
          <a:xfrm>
            <a:off x="254183" y="6084168"/>
            <a:ext cx="6408713" cy="1077218"/>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sz="1600" b="1" dirty="0">
                <a:latin typeface="Nunito" pitchFamily="2" charset="0"/>
              </a:rPr>
              <a:t>FIBERWOOD</a:t>
            </a:r>
            <a:r>
              <a:rPr lang="fr-CA" sz="1600" dirty="0">
                <a:latin typeface="Nunito" pitchFamily="2" charset="0"/>
              </a:rPr>
              <a:t>: Jusqu’à 1500$ de rabais sur les cabanons Fiberwood. Valide jusqu’au 16 juillet 2025. Voir Annexes.</a:t>
            </a:r>
          </a:p>
          <a:p>
            <a:pPr marL="285750" indent="-285750">
              <a:buFont typeface="Arial" panose="020B0604020202020204" pitchFamily="34" charset="0"/>
              <a:buChar char="•"/>
            </a:pPr>
            <a:r>
              <a:rPr lang="fr-CA" sz="1600" b="1" dirty="0">
                <a:latin typeface="Nunito" pitchFamily="2" charset="0"/>
              </a:rPr>
              <a:t>LEADVISION</a:t>
            </a:r>
            <a:r>
              <a:rPr lang="fr-CA" sz="1600" dirty="0">
                <a:latin typeface="Nunito" pitchFamily="2" charset="0"/>
              </a:rPr>
              <a:t>: À l’achat d’un gazebos, obtenez 15% de rabais sur les tuiles en composites </a:t>
            </a:r>
            <a:r>
              <a:rPr lang="fr-CA" sz="1600" dirty="0" err="1">
                <a:latin typeface="Nunito" pitchFamily="2" charset="0"/>
              </a:rPr>
              <a:t>LeadVision</a:t>
            </a:r>
            <a:r>
              <a:rPr lang="fr-CA" sz="1600" dirty="0">
                <a:latin typeface="Nunito" pitchFamily="2" charset="0"/>
              </a:rPr>
              <a:t>.</a:t>
            </a:r>
            <a:endParaRPr lang="fr-CA" sz="1600" dirty="0">
              <a:latin typeface="Calibri Light" panose="020F03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EFA45505-249B-76D9-F452-1D907D961CB8}"/>
              </a:ext>
            </a:extLst>
          </p:cNvPr>
          <p:cNvSpPr/>
          <p:nvPr>
            <p:custDataLst>
              <p:tags r:id="rId8"/>
            </p:custDataLst>
          </p:nvPr>
        </p:nvSpPr>
        <p:spPr>
          <a:xfrm>
            <a:off x="254183" y="5580112"/>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AMÉNAGEMENT</a:t>
            </a:r>
          </a:p>
        </p:txBody>
      </p:sp>
    </p:spTree>
    <p:extLst>
      <p:ext uri="{BB962C8B-B14F-4D97-AF65-F5344CB8AC3E}">
        <p14:creationId xmlns:p14="http://schemas.microsoft.com/office/powerpoint/2010/main" val="534054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custDataLst>
              <p:tags r:id="rId1"/>
            </p:custDataLst>
          </p:nvPr>
        </p:nvSpPr>
        <p:spPr>
          <a:xfrm>
            <a:off x="260647" y="2261929"/>
            <a:ext cx="6408713" cy="5755422"/>
          </a:xfrm>
          <a:prstGeom prst="rect">
            <a:avLst/>
          </a:prstGeom>
          <a:noFill/>
          <a:ln>
            <a:solidFill>
              <a:schemeClr val="tx1"/>
            </a:solidFill>
          </a:ln>
        </p:spPr>
        <p:txBody>
          <a:bodyPr wrap="square">
            <a:spAutoFit/>
          </a:bodyPr>
          <a:lstStyle/>
          <a:p>
            <a:r>
              <a:rPr lang="fr-CA" sz="1400" b="1" dirty="0">
                <a:latin typeface="Nunito" pitchFamily="2" charset="0"/>
              </a:rPr>
              <a:t>FAIRSTONE </a:t>
            </a:r>
          </a:p>
          <a:p>
            <a:r>
              <a:rPr lang="fr-CA" sz="1400" b="1" dirty="0">
                <a:latin typeface="Nunito" pitchFamily="2" charset="0"/>
              </a:rPr>
              <a:t>Promotion juillet</a:t>
            </a:r>
          </a:p>
          <a:p>
            <a:pPr marL="285750" indent="-285750">
              <a:buFont typeface="Arial" panose="020B0604020202020204" pitchFamily="34" charset="0"/>
              <a:buChar char="•"/>
            </a:pPr>
            <a:r>
              <a:rPr lang="fr-CA" sz="1400" b="1" dirty="0">
                <a:latin typeface="Nunito" pitchFamily="2" charset="0"/>
              </a:rPr>
              <a:t>SPA et HORS TERRE: </a:t>
            </a:r>
            <a:r>
              <a:rPr lang="fr-FR" sz="1400" b="1" dirty="0">
                <a:latin typeface="Nunito" pitchFamily="2" charset="0"/>
              </a:rPr>
              <a:t> </a:t>
            </a:r>
            <a:r>
              <a:rPr lang="fr-FR" sz="1400" dirty="0">
                <a:latin typeface="Nunito" pitchFamily="2" charset="0"/>
              </a:rPr>
              <a:t>48 mois à 5.99% (code 36485).</a:t>
            </a:r>
          </a:p>
          <a:p>
            <a:endParaRPr lang="fr-CA" sz="1400" b="1" dirty="0">
              <a:latin typeface="Nunito" pitchFamily="2" charset="0"/>
            </a:endParaRPr>
          </a:p>
          <a:p>
            <a:endParaRPr lang="fr-CA" sz="1200" b="1" dirty="0">
              <a:latin typeface="Nunito" pitchFamily="2" charset="0"/>
            </a:endParaRPr>
          </a:p>
          <a:p>
            <a:r>
              <a:rPr lang="fr-CA" sz="1200" b="1" dirty="0">
                <a:latin typeface="Nunito" pitchFamily="2" charset="0"/>
              </a:rPr>
              <a:t>Plans de financement réguliers</a:t>
            </a:r>
          </a:p>
          <a:p>
            <a:r>
              <a:rPr lang="fr-CA" sz="1200" dirty="0">
                <a:latin typeface="Nunito" pitchFamily="2" charset="0"/>
              </a:rPr>
              <a:t>Il est possible d’offrir l’un de ces plans </a:t>
            </a:r>
            <a:r>
              <a:rPr lang="fr-CA" sz="1200" u="sng" dirty="0">
                <a:latin typeface="Nunito" pitchFamily="2" charset="0"/>
              </a:rPr>
              <a:t>en tout temps et sur toutes les catégories* </a:t>
            </a:r>
            <a:r>
              <a:rPr lang="fr-CA" sz="1200" dirty="0">
                <a:latin typeface="Nunito" pitchFamily="2" charset="0"/>
              </a:rPr>
              <a:t>à l’achat de 500$ et+ . Voir votre gestionnaire pour plus de détail. </a:t>
            </a:r>
          </a:p>
          <a:p>
            <a:pPr marL="285750" indent="-285750">
              <a:buFont typeface="Arial" panose="020B0604020202020204" pitchFamily="34" charset="0"/>
              <a:buChar char="•"/>
            </a:pPr>
            <a:endParaRPr lang="fr-CA" sz="1400" dirty="0">
              <a:latin typeface="Nunito" pitchFamily="2" charset="0"/>
            </a:endParaRPr>
          </a:p>
          <a:p>
            <a:endParaRPr lang="fr-CA" sz="1400" dirty="0">
              <a:latin typeface="Nunito" pitchFamily="2" charset="0"/>
              <a:ea typeface="Calibri" panose="020F0502020204030204" pitchFamily="34" charset="0"/>
            </a:endParaRPr>
          </a:p>
          <a:p>
            <a:endParaRPr lang="fr-CA" sz="1400" dirty="0">
              <a:effectLst/>
              <a:latin typeface="Nunito" pitchFamily="2" charset="0"/>
              <a:ea typeface="Calibri" panose="020F0502020204030204" pitchFamily="34" charset="0"/>
            </a:endParaRPr>
          </a:p>
          <a:p>
            <a:endParaRPr lang="fr-CA" sz="1400" dirty="0">
              <a:latin typeface="Nunito" pitchFamily="2" charset="0"/>
              <a:ea typeface="Calibri" panose="020F0502020204030204" pitchFamily="34" charset="0"/>
            </a:endParaRPr>
          </a:p>
          <a:p>
            <a:endParaRPr lang="fr-CA" sz="1400" dirty="0">
              <a:effectLst/>
              <a:latin typeface="Nunito" pitchFamily="2" charset="0"/>
              <a:ea typeface="Calibri" panose="020F0502020204030204" pitchFamily="34" charset="0"/>
            </a:endParaRPr>
          </a:p>
          <a:p>
            <a:endParaRPr lang="fr-CA" sz="1400" dirty="0">
              <a:latin typeface="Nunito" pitchFamily="2" charset="0"/>
              <a:ea typeface="Calibri" panose="020F0502020204030204" pitchFamily="34" charset="0"/>
            </a:endParaRPr>
          </a:p>
          <a:p>
            <a:endParaRPr lang="fr-CA" sz="1400" dirty="0">
              <a:latin typeface="Nunito" pitchFamily="2" charset="0"/>
              <a:ea typeface="Calibri" panose="020F0502020204030204" pitchFamily="34" charset="0"/>
            </a:endParaRPr>
          </a:p>
          <a:p>
            <a:endParaRPr lang="fr-CA" sz="1400" dirty="0">
              <a:latin typeface="Nunito" pitchFamily="2" charset="0"/>
              <a:ea typeface="Calibri" panose="020F0502020204030204" pitchFamily="34" charset="0"/>
            </a:endParaRPr>
          </a:p>
          <a:p>
            <a:endParaRPr lang="fr-CA" sz="1400" dirty="0">
              <a:latin typeface="Nunito" pitchFamily="2" charset="0"/>
              <a:ea typeface="Calibri" panose="020F0502020204030204" pitchFamily="34" charset="0"/>
            </a:endParaRPr>
          </a:p>
          <a:p>
            <a:endParaRPr lang="fr-CA" sz="1400" dirty="0">
              <a:latin typeface="Nunito" pitchFamily="2" charset="0"/>
              <a:ea typeface="Calibri" panose="020F0502020204030204" pitchFamily="34" charset="0"/>
            </a:endParaRPr>
          </a:p>
          <a:p>
            <a:r>
              <a:rPr lang="fr-CA" sz="1200" dirty="0">
                <a:effectLst/>
                <a:latin typeface="Nunito" pitchFamily="2" charset="0"/>
                <a:ea typeface="Calibri" panose="020F0502020204030204" pitchFamily="34" charset="0"/>
              </a:rPr>
              <a:t>*Maximum de 30 000$ selon l’approbation du crédit du client. Voir </a:t>
            </a:r>
            <a:r>
              <a:rPr lang="fr-CA" sz="1200" dirty="0">
                <a:latin typeface="Nunito" pitchFamily="2" charset="0"/>
                <a:ea typeface="Calibri" panose="020F0502020204030204" pitchFamily="34" charset="0"/>
              </a:rPr>
              <a:t>conditions et p</a:t>
            </a:r>
            <a:r>
              <a:rPr lang="fr-CA" sz="1200" dirty="0">
                <a:effectLst/>
                <a:latin typeface="Nunito" pitchFamily="2" charset="0"/>
                <a:ea typeface="Calibri" panose="020F0502020204030204" pitchFamily="34" charset="0"/>
              </a:rPr>
              <a:t>lans aussi offerts en ligne: </a:t>
            </a:r>
            <a:r>
              <a:rPr lang="fr-CA" sz="1200" dirty="0">
                <a:effectLst/>
                <a:latin typeface="Nunito" pitchFamily="2" charset="0"/>
                <a:ea typeface="Calibri" panose="020F0502020204030204" pitchFamily="34" charset="0"/>
                <a:hlinkClick r:id="rId6"/>
              </a:rPr>
              <a:t>https://www.clubpiscine.ca/fr/financement</a:t>
            </a:r>
            <a:endParaRPr lang="fr-CA" sz="1200" dirty="0">
              <a:effectLst/>
              <a:latin typeface="Nunito" pitchFamily="2" charset="0"/>
              <a:ea typeface="Calibri" panose="020F0502020204030204" pitchFamily="34" charset="0"/>
            </a:endParaRPr>
          </a:p>
          <a:p>
            <a:endParaRPr lang="fr-CA" sz="1400" dirty="0">
              <a:effectLst/>
              <a:latin typeface="Nunito" pitchFamily="2" charset="0"/>
              <a:ea typeface="Calibri" panose="020F0502020204030204" pitchFamily="34" charset="0"/>
            </a:endParaRPr>
          </a:p>
          <a:p>
            <a:r>
              <a:rPr lang="fr-CA" sz="1400" b="1" dirty="0">
                <a:latin typeface="Nunito" pitchFamily="2" charset="0"/>
              </a:rPr>
              <a:t>FINANCE IT</a:t>
            </a:r>
          </a:p>
          <a:p>
            <a:pPr marL="285750" indent="-285750">
              <a:buFont typeface="Arial" panose="020B0604020202020204" pitchFamily="34" charset="0"/>
              <a:buChar char="•"/>
            </a:pPr>
            <a:r>
              <a:rPr lang="fr-CA" sz="1200" b="1" dirty="0">
                <a:latin typeface="Nunito" pitchFamily="2" charset="0"/>
              </a:rPr>
              <a:t>PISCINE CREUSÉE &amp; FIBRE : </a:t>
            </a:r>
            <a:r>
              <a:rPr lang="fr-CA" sz="1200" dirty="0">
                <a:latin typeface="Nunito" pitchFamily="2" charset="0"/>
              </a:rPr>
              <a:t>Aucun financement inclus dans la promotion du mois mais il est suggéré d’utiliser le Financement </a:t>
            </a:r>
            <a:r>
              <a:rPr lang="fr-CA" sz="1200" b="1" dirty="0">
                <a:latin typeface="Nunito" pitchFamily="2" charset="0"/>
              </a:rPr>
              <a:t>FINANCE IT </a:t>
            </a:r>
            <a:r>
              <a:rPr lang="fr-CA" sz="1200" dirty="0">
                <a:latin typeface="Nunito" pitchFamily="2" charset="0"/>
              </a:rPr>
              <a:t>car le plafond de financement n’est pas limité à 30K$. Suggestion : Promo 6 mois sans paiement.</a:t>
            </a:r>
          </a:p>
          <a:p>
            <a:pPr marL="742950" lvl="1" indent="-285750">
              <a:buFont typeface="Arial" panose="020B0604020202020204" pitchFamily="34" charset="0"/>
              <a:buChar char="•"/>
            </a:pPr>
            <a:r>
              <a:rPr lang="fr-CA" sz="1200" dirty="0">
                <a:latin typeface="Nunito" pitchFamily="2" charset="0"/>
              </a:rPr>
              <a:t>Prêt ouvert </a:t>
            </a:r>
          </a:p>
          <a:p>
            <a:pPr marL="742950" lvl="1" indent="-285750">
              <a:buFont typeface="Arial" panose="020B0604020202020204" pitchFamily="34" charset="0"/>
              <a:buChar char="•"/>
            </a:pPr>
            <a:r>
              <a:rPr lang="fr-CA" sz="1200" dirty="0">
                <a:latin typeface="Nunito" pitchFamily="2" charset="0"/>
              </a:rPr>
              <a:t>Financement sur terme @ 12.99% pour le consommateur.</a:t>
            </a:r>
          </a:p>
          <a:p>
            <a:pPr marL="742950" lvl="1" indent="-285750">
              <a:buFont typeface="Arial" panose="020B0604020202020204" pitchFamily="34" charset="0"/>
              <a:buChar char="•"/>
            </a:pPr>
            <a:r>
              <a:rPr lang="fr-CA" sz="1200" dirty="0">
                <a:latin typeface="Nunito" pitchFamily="2" charset="0"/>
              </a:rPr>
              <a:t>Le 6 mois débute à la livraison/installation.</a:t>
            </a:r>
            <a:endParaRPr lang="fr-CA" sz="1400" b="1" dirty="0">
              <a:latin typeface="Nunito" pitchFamily="2" charset="0"/>
            </a:endParaRPr>
          </a:p>
        </p:txBody>
      </p:sp>
      <p:sp>
        <p:nvSpPr>
          <p:cNvPr id="2" name="Espace réservé du numéro de diapositive 1">
            <a:extLst>
              <a:ext uri="{FF2B5EF4-FFF2-40B4-BE49-F238E27FC236}">
                <a16:creationId xmlns:a16="http://schemas.microsoft.com/office/drawing/2014/main" id="{A52F2973-F05A-4798-9E29-20BCA9224E82}"/>
              </a:ext>
            </a:extLst>
          </p:cNvPr>
          <p:cNvSpPr>
            <a:spLocks noGrp="1"/>
          </p:cNvSpPr>
          <p:nvPr>
            <p:ph type="sldNum" sz="quarter" idx="12"/>
            <p:custDataLst>
              <p:tags r:id="rId2"/>
            </p:custDataLst>
          </p:nvPr>
        </p:nvSpPr>
        <p:spPr/>
        <p:txBody>
          <a:bodyPr/>
          <a:lstStyle/>
          <a:p>
            <a:fld id="{31F4C03E-007A-4FDF-9746-0F09F296E587}" type="slidenum">
              <a:rPr lang="fr-CA" smtClean="0"/>
              <a:t>10</a:t>
            </a:fld>
            <a:endParaRPr lang="fr-CA" dirty="0"/>
          </a:p>
        </p:txBody>
      </p:sp>
      <p:pic>
        <p:nvPicPr>
          <p:cNvPr id="11" name="Image 10">
            <a:extLst>
              <a:ext uri="{FF2B5EF4-FFF2-40B4-BE49-F238E27FC236}">
                <a16:creationId xmlns:a16="http://schemas.microsoft.com/office/drawing/2014/main" id="{CD2FA01D-61E9-0D86-8EE9-8402F412E3D6}"/>
              </a:ext>
            </a:extLst>
          </p:cNvPr>
          <p:cNvPicPr>
            <a:picLocks noChangeAspect="1"/>
          </p:cNvPicPr>
          <p:nvPr/>
        </p:nvPicPr>
        <p:blipFill>
          <a:blip r:embed="rId7"/>
          <a:stretch>
            <a:fillRect/>
          </a:stretch>
        </p:blipFill>
        <p:spPr>
          <a:xfrm>
            <a:off x="3344006" y="4211960"/>
            <a:ext cx="3115136" cy="1097455"/>
          </a:xfrm>
          <a:prstGeom prst="rect">
            <a:avLst/>
          </a:prstGeom>
        </p:spPr>
      </p:pic>
      <p:pic>
        <p:nvPicPr>
          <p:cNvPr id="3" name="Image 2" descr="Une image contenant Graphique, Police, émoticône, texte&#10;&#10;Le contenu généré par l’IA peut être incorrect.">
            <a:extLst>
              <a:ext uri="{FF2B5EF4-FFF2-40B4-BE49-F238E27FC236}">
                <a16:creationId xmlns:a16="http://schemas.microsoft.com/office/drawing/2014/main" id="{707E4CC5-9C01-2FD9-BE61-0C133BDE5E4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
        <p:nvSpPr>
          <p:cNvPr id="17" name="Rectangle 16">
            <a:extLst>
              <a:ext uri="{FF2B5EF4-FFF2-40B4-BE49-F238E27FC236}">
                <a16:creationId xmlns:a16="http://schemas.microsoft.com/office/drawing/2014/main" id="{DA65FB58-477F-301C-29F9-9474F7D06CDD}"/>
              </a:ext>
            </a:extLst>
          </p:cNvPr>
          <p:cNvSpPr/>
          <p:nvPr>
            <p:custDataLst>
              <p:tags r:id="rId3"/>
            </p:custDataLst>
          </p:nvPr>
        </p:nvSpPr>
        <p:spPr>
          <a:xfrm>
            <a:off x="260647" y="1692521"/>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FINANCEMENT</a:t>
            </a:r>
          </a:p>
        </p:txBody>
      </p:sp>
      <p:sp>
        <p:nvSpPr>
          <p:cNvPr id="18" name="Zone de texte 28">
            <a:extLst>
              <a:ext uri="{FF2B5EF4-FFF2-40B4-BE49-F238E27FC236}">
                <a16:creationId xmlns:a16="http://schemas.microsoft.com/office/drawing/2014/main" id="{07B3D34E-E7F4-CF77-C250-4E92C29B6C38}"/>
              </a:ext>
            </a:extLst>
          </p:cNvPr>
          <p:cNvSpPr txBox="1">
            <a:spLocks/>
          </p:cNvSpPr>
          <p:nvPr>
            <p:custDataLst>
              <p:tags r:id="rId4"/>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9" name="ZoneTexte 18">
            <a:extLst>
              <a:ext uri="{FF2B5EF4-FFF2-40B4-BE49-F238E27FC236}">
                <a16:creationId xmlns:a16="http://schemas.microsoft.com/office/drawing/2014/main" id="{4F3ECDB9-7358-B3D5-33DD-01E04A1910F5}"/>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pic>
        <p:nvPicPr>
          <p:cNvPr id="21" name="Image 20">
            <a:extLst>
              <a:ext uri="{FF2B5EF4-FFF2-40B4-BE49-F238E27FC236}">
                <a16:creationId xmlns:a16="http://schemas.microsoft.com/office/drawing/2014/main" id="{0069E2AA-A66C-9BA6-98B6-6D33AFAC8945}"/>
              </a:ext>
            </a:extLst>
          </p:cNvPr>
          <p:cNvPicPr>
            <a:picLocks noChangeAspect="1"/>
          </p:cNvPicPr>
          <p:nvPr/>
        </p:nvPicPr>
        <p:blipFill>
          <a:blip r:embed="rId9"/>
          <a:stretch>
            <a:fillRect/>
          </a:stretch>
        </p:blipFill>
        <p:spPr>
          <a:xfrm>
            <a:off x="308182" y="3980452"/>
            <a:ext cx="3057604" cy="1560472"/>
          </a:xfrm>
          <a:prstGeom prst="rect">
            <a:avLst/>
          </a:prstGeom>
        </p:spPr>
      </p:pic>
    </p:spTree>
    <p:extLst>
      <p:ext uri="{BB962C8B-B14F-4D97-AF65-F5344CB8AC3E}">
        <p14:creationId xmlns:p14="http://schemas.microsoft.com/office/powerpoint/2010/main" val="693567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365B9-9196-5186-A420-DC724036328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1CB1EC5-A2FD-003E-2477-631220A235CB}"/>
              </a:ext>
            </a:extLst>
          </p:cNvPr>
          <p:cNvSpPr/>
          <p:nvPr>
            <p:custDataLst>
              <p:tags r:id="rId1"/>
            </p:custDataLst>
          </p:nvPr>
        </p:nvSpPr>
        <p:spPr>
          <a:xfrm>
            <a:off x="260647" y="2261929"/>
            <a:ext cx="6408713" cy="6848029"/>
          </a:xfrm>
          <a:prstGeom prst="rect">
            <a:avLst/>
          </a:prstGeom>
          <a:noFill/>
          <a:ln>
            <a:solidFill>
              <a:schemeClr val="tx1"/>
            </a:solidFill>
          </a:ln>
        </p:spPr>
        <p:txBody>
          <a:bodyPr wrap="square">
            <a:spAutoFit/>
          </a:bodyPr>
          <a:lstStyle/>
          <a:p>
            <a:r>
              <a:rPr lang="fr-CA" sz="1200" b="1" dirty="0">
                <a:highlight>
                  <a:srgbClr val="7FCDE9"/>
                </a:highlight>
                <a:latin typeface="Nunito" pitchFamily="2" charset="0"/>
              </a:rPr>
              <a:t>FESTIVAL ESTIVAL</a:t>
            </a:r>
          </a:p>
          <a:p>
            <a:r>
              <a:rPr lang="fr-CA" sz="1200" dirty="0">
                <a:latin typeface="Nunito" pitchFamily="2" charset="0"/>
              </a:rPr>
              <a:t>C’est le Festival Estival pendant tout le mois de juillet cette année! Ne manquez pas le weekend qui lance les festivités les </a:t>
            </a:r>
            <a:r>
              <a:rPr lang="fr-CA" sz="1200" b="1" dirty="0">
                <a:latin typeface="Nunito" pitchFamily="2" charset="0"/>
              </a:rPr>
              <a:t>4-5-6 juillet avec présence radio sur toutes les stations! </a:t>
            </a:r>
            <a:r>
              <a:rPr lang="fr-CA" sz="1200" dirty="0">
                <a:latin typeface="Nunito" pitchFamily="2" charset="0"/>
              </a:rPr>
              <a:t>Les promotions seront en vigueur pendant tout le mois de juillet. Veuillez vous référer au document TOUT SAVOIR SUR LE FESTIVAL ESTIVAL déposé sur le </a:t>
            </a:r>
            <a:r>
              <a:rPr lang="fr-CA" sz="1200" dirty="0" err="1">
                <a:latin typeface="Nunito" pitchFamily="2" charset="0"/>
              </a:rPr>
              <a:t>Sharepoint</a:t>
            </a:r>
            <a:r>
              <a:rPr lang="fr-CA" sz="1200" dirty="0">
                <a:latin typeface="Nunito" pitchFamily="2" charset="0"/>
              </a:rPr>
              <a:t> pour tous les détails. </a:t>
            </a:r>
          </a:p>
          <a:p>
            <a:endParaRPr lang="fr-CA" sz="1200" dirty="0">
              <a:latin typeface="Nunito" pitchFamily="2" charset="0"/>
            </a:endParaRPr>
          </a:p>
          <a:p>
            <a:r>
              <a:rPr lang="fr-CA" sz="1200" b="1" dirty="0">
                <a:highlight>
                  <a:srgbClr val="7FCDE9"/>
                </a:highlight>
                <a:latin typeface="Nunito" pitchFamily="2" charset="0"/>
              </a:rPr>
              <a:t>CONCOURS FAIRSTONE</a:t>
            </a:r>
          </a:p>
          <a:p>
            <a:r>
              <a:rPr lang="fr-CA" sz="1200" dirty="0">
                <a:latin typeface="Nunito" pitchFamily="2" charset="0"/>
              </a:rPr>
              <a:t>Pendant tout le mois de juillet, invitez vos clients à participer au concours Fairstone pour </a:t>
            </a:r>
            <a:r>
              <a:rPr lang="fr-CA" sz="1200" b="1" dirty="0">
                <a:latin typeface="Nunito" pitchFamily="2" charset="0"/>
              </a:rPr>
              <a:t>gagner 5000$! </a:t>
            </a:r>
            <a:r>
              <a:rPr lang="fr-CA" sz="1200" dirty="0">
                <a:latin typeface="Nunito" pitchFamily="2" charset="0"/>
              </a:rPr>
              <a:t>Comment participer? Faites un achat dans l’un des 40 magasins Club Piscine  à l’aide de votre carte privative Club Piscine et soyez automatiquement inscrits au concours. De plus, les magasins Club Piscine qui connaitront la plus grosse croissance de financement Fairstone en juillet, se verront remettre des prix! Tous les détails auprès de votre gestionnaire.</a:t>
            </a:r>
          </a:p>
          <a:p>
            <a:endParaRPr lang="fr-CA" sz="1200" dirty="0">
              <a:latin typeface="Nunito" pitchFamily="2" charset="0"/>
            </a:endParaRPr>
          </a:p>
          <a:p>
            <a:endParaRPr lang="fr-CA" sz="1200" dirty="0">
              <a:latin typeface="Nunito" pitchFamily="2" charset="0"/>
            </a:endParaRPr>
          </a:p>
          <a:p>
            <a:endParaRPr lang="fr-CA" sz="1200" dirty="0">
              <a:latin typeface="Nunito" pitchFamily="2" charset="0"/>
            </a:endParaRPr>
          </a:p>
          <a:p>
            <a:endParaRPr lang="fr-CA" sz="1200" dirty="0">
              <a:latin typeface="Nunito" pitchFamily="2" charset="0"/>
            </a:endParaRPr>
          </a:p>
          <a:p>
            <a:endParaRPr lang="fr-CA" sz="1200" b="1" dirty="0">
              <a:highlight>
                <a:srgbClr val="FFFF00"/>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endParaRPr lang="fr-CA" sz="1200" b="1" dirty="0">
              <a:highlight>
                <a:srgbClr val="7FCDE9"/>
              </a:highlight>
              <a:latin typeface="Nunito" pitchFamily="2" charset="0"/>
            </a:endParaRPr>
          </a:p>
          <a:p>
            <a:r>
              <a:rPr lang="fr-CA" sz="1200" b="1" dirty="0">
                <a:highlight>
                  <a:srgbClr val="7FCDE9"/>
                </a:highlight>
                <a:latin typeface="Nunito" pitchFamily="2" charset="0"/>
              </a:rPr>
              <a:t>CLUB PISCINE X KASEME</a:t>
            </a:r>
          </a:p>
          <a:p>
            <a:pPr>
              <a:buNone/>
            </a:pPr>
            <a:r>
              <a:rPr lang="fr-FR" sz="1400" dirty="0"/>
              <a:t>Découvrez notre collection exclusive de </a:t>
            </a:r>
            <a:r>
              <a:rPr lang="fr-FR" sz="1400" b="1" dirty="0"/>
              <a:t>9 étuis colorés</a:t>
            </a:r>
            <a:r>
              <a:rPr lang="fr-FR" sz="1400" dirty="0"/>
              <a:t> qui célèbrent le meilleur de l’été ! Utilisez le code </a:t>
            </a:r>
            <a:r>
              <a:rPr lang="fr-FR" sz="1400" b="1" dirty="0"/>
              <a:t>CLUB20</a:t>
            </a:r>
            <a:r>
              <a:rPr lang="fr-FR" sz="1400" dirty="0"/>
              <a:t> au panier pour obtenir </a:t>
            </a:r>
            <a:r>
              <a:rPr lang="fr-FR" sz="1400" b="1" dirty="0"/>
              <a:t>20 % de rabais</a:t>
            </a:r>
            <a:r>
              <a:rPr lang="fr-FR" sz="1400" dirty="0"/>
              <a:t> sur toute la boutique KASEME. De plus, </a:t>
            </a:r>
            <a:r>
              <a:rPr lang="fr-FR" sz="1400" b="1" dirty="0"/>
              <a:t>5 $ par étui Club Piscine vendu</a:t>
            </a:r>
            <a:r>
              <a:rPr lang="fr-FR" sz="1400" dirty="0"/>
              <a:t> seront remis à </a:t>
            </a:r>
            <a:r>
              <a:rPr lang="fr-FR" sz="1400" b="1" dirty="0"/>
              <a:t>Enfant Soleil</a:t>
            </a:r>
            <a:r>
              <a:rPr lang="fr-FR" sz="1400" dirty="0"/>
              <a:t>. 💛  </a:t>
            </a:r>
            <a:r>
              <a:rPr lang="fr-CA" sz="1100" dirty="0">
                <a:latin typeface="Nunito" pitchFamily="2" charset="0"/>
              </a:rPr>
              <a:t>Lien: </a:t>
            </a:r>
            <a:r>
              <a:rPr lang="fr-CA" sz="1100" dirty="0">
                <a:latin typeface="Nunito" pitchFamily="2" charset="0"/>
                <a:hlinkClick r:id="rId5"/>
              </a:rPr>
              <a:t>https://www.kasemedesign.ca/fr/collections/club-piscine</a:t>
            </a:r>
            <a:endParaRPr lang="fr-CA" sz="1100" dirty="0">
              <a:latin typeface="Nunito" pitchFamily="2" charset="0"/>
            </a:endParaRPr>
          </a:p>
          <a:p>
            <a:endParaRPr lang="fr-CA" sz="1100" b="1" dirty="0">
              <a:latin typeface="Nunito" pitchFamily="2" charset="0"/>
            </a:endParaRPr>
          </a:p>
        </p:txBody>
      </p:sp>
      <p:sp>
        <p:nvSpPr>
          <p:cNvPr id="17" name="Rectangle 16">
            <a:extLst>
              <a:ext uri="{FF2B5EF4-FFF2-40B4-BE49-F238E27FC236}">
                <a16:creationId xmlns:a16="http://schemas.microsoft.com/office/drawing/2014/main" id="{E2C06594-EEB8-8872-9F65-C5A866034422}"/>
              </a:ext>
            </a:extLst>
          </p:cNvPr>
          <p:cNvSpPr/>
          <p:nvPr>
            <p:custDataLst>
              <p:tags r:id="rId2"/>
            </p:custDataLst>
          </p:nvPr>
        </p:nvSpPr>
        <p:spPr>
          <a:xfrm>
            <a:off x="260647" y="1692521"/>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NOUVELLES DU MARKETING!</a:t>
            </a:r>
          </a:p>
        </p:txBody>
      </p:sp>
      <p:sp>
        <p:nvSpPr>
          <p:cNvPr id="18" name="Zone de texte 28">
            <a:extLst>
              <a:ext uri="{FF2B5EF4-FFF2-40B4-BE49-F238E27FC236}">
                <a16:creationId xmlns:a16="http://schemas.microsoft.com/office/drawing/2014/main" id="{AE22E7C4-1F48-2858-8980-37A78E5BDC3A}"/>
              </a:ext>
            </a:extLst>
          </p:cNvPr>
          <p:cNvSpPr txBox="1">
            <a:spLocks/>
          </p:cNvSpPr>
          <p:nvPr>
            <p:custDataLst>
              <p:tags r:id="rId3"/>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Instructions de vente</a:t>
            </a:r>
            <a:endParaRPr lang="fr-CA" sz="2800" b="1" dirty="0">
              <a:solidFill>
                <a:srgbClr val="1447AB"/>
              </a:solidFill>
              <a:latin typeface="Nunito" pitchFamily="2" charset="0"/>
            </a:endParaRPr>
          </a:p>
        </p:txBody>
      </p:sp>
      <p:sp>
        <p:nvSpPr>
          <p:cNvPr id="19" name="ZoneTexte 18">
            <a:extLst>
              <a:ext uri="{FF2B5EF4-FFF2-40B4-BE49-F238E27FC236}">
                <a16:creationId xmlns:a16="http://schemas.microsoft.com/office/drawing/2014/main" id="{82BEFDB0-1EC6-6275-8251-CED65AA7DB61}"/>
              </a:ext>
            </a:extLst>
          </p:cNvPr>
          <p:cNvSpPr txBox="1"/>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2 juillet au 5 août 2025</a:t>
            </a:r>
          </a:p>
        </p:txBody>
      </p:sp>
      <p:pic>
        <p:nvPicPr>
          <p:cNvPr id="3" name="Image 2">
            <a:extLst>
              <a:ext uri="{FF2B5EF4-FFF2-40B4-BE49-F238E27FC236}">
                <a16:creationId xmlns:a16="http://schemas.microsoft.com/office/drawing/2014/main" id="{B6B777AC-EA0D-3420-1AB7-DBFA464ADF7E}"/>
              </a:ext>
            </a:extLst>
          </p:cNvPr>
          <p:cNvPicPr>
            <a:picLocks noChangeAspect="1"/>
          </p:cNvPicPr>
          <p:nvPr/>
        </p:nvPicPr>
        <p:blipFill>
          <a:blip r:embed="rId6"/>
          <a:stretch>
            <a:fillRect/>
          </a:stretch>
        </p:blipFill>
        <p:spPr>
          <a:xfrm>
            <a:off x="2068433" y="4891443"/>
            <a:ext cx="2793139" cy="2560036"/>
          </a:xfrm>
          <a:prstGeom prst="rect">
            <a:avLst/>
          </a:prstGeom>
        </p:spPr>
      </p:pic>
    </p:spTree>
    <p:extLst>
      <p:ext uri="{BB962C8B-B14F-4D97-AF65-F5344CB8AC3E}">
        <p14:creationId xmlns:p14="http://schemas.microsoft.com/office/powerpoint/2010/main" val="1763888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2"/>
</p:tagLst>
</file>

<file path=ppt/tags/tag6.xml><?xml version="1.0" encoding="utf-8"?>
<p:tagLst xmlns:a="http://schemas.openxmlformats.org/drawingml/2006/main" xmlns:r="http://schemas.openxmlformats.org/officeDocument/2006/relationships" xmlns:p="http://schemas.openxmlformats.org/presentationml/2006/main">
  <p:tag name="NUM" val="3"/>
</p:tagLst>
</file>

<file path=ppt/tags/tag7.xml><?xml version="1.0" encoding="utf-8"?>
<p:tagLst xmlns:a="http://schemas.openxmlformats.org/drawingml/2006/main" xmlns:r="http://schemas.openxmlformats.org/officeDocument/2006/relationships" xmlns:p="http://schemas.openxmlformats.org/presentationml/2006/main">
  <p:tag name="NUM" val="4"/>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4"/>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2"/>
</p:tagLst>
</file>

<file path=ppt/tags/tag14.xml><?xml version="1.0" encoding="utf-8"?>
<p:tagLst xmlns:a="http://schemas.openxmlformats.org/drawingml/2006/main" xmlns:r="http://schemas.openxmlformats.org/officeDocument/2006/relationships" xmlns:p="http://schemas.openxmlformats.org/presentationml/2006/main">
  <p:tag name="NUM" val="3"/>
</p:tagLst>
</file>

<file path=ppt/tags/tag15.xml><?xml version="1.0" encoding="utf-8"?>
<p:tagLst xmlns:a="http://schemas.openxmlformats.org/drawingml/2006/main" xmlns:r="http://schemas.openxmlformats.org/officeDocument/2006/relationships" xmlns:p="http://schemas.openxmlformats.org/presentationml/2006/main">
  <p:tag name="NUM" val="7"/>
</p:tagLst>
</file>

<file path=ppt/tags/tag16.xml><?xml version="1.0" encoding="utf-8"?>
<p:tagLst xmlns:a="http://schemas.openxmlformats.org/drawingml/2006/main" xmlns:r="http://schemas.openxmlformats.org/officeDocument/2006/relationships" xmlns:p="http://schemas.openxmlformats.org/presentationml/2006/main">
  <p:tag name="NUM" val="4"/>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5"/>
</p:tagLst>
</file>

<file path=ppt/tags/tag21.xml><?xml version="1.0" encoding="utf-8"?>
<p:tagLst xmlns:a="http://schemas.openxmlformats.org/drawingml/2006/main" xmlns:r="http://schemas.openxmlformats.org/officeDocument/2006/relationships" xmlns:p="http://schemas.openxmlformats.org/presentationml/2006/main">
  <p:tag name="NUM" val="7"/>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4"/>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4"/>
</p:tagLst>
</file>

<file path=ppt/tags/tag27.xml><?xml version="1.0" encoding="utf-8"?>
<p:tagLst xmlns:a="http://schemas.openxmlformats.org/drawingml/2006/main" xmlns:r="http://schemas.openxmlformats.org/officeDocument/2006/relationships" xmlns:p="http://schemas.openxmlformats.org/presentationml/2006/main">
  <p:tag name="NUM" val="4"/>
</p:tagLst>
</file>

<file path=ppt/tags/tag28.xml><?xml version="1.0" encoding="utf-8"?>
<p:tagLst xmlns:a="http://schemas.openxmlformats.org/drawingml/2006/main" xmlns:r="http://schemas.openxmlformats.org/officeDocument/2006/relationships" xmlns:p="http://schemas.openxmlformats.org/presentationml/2006/main">
  <p:tag name="NUM" val="1"/>
</p:tagLst>
</file>

<file path=ppt/tags/tag29.xml><?xml version="1.0" encoding="utf-8"?>
<p:tagLst xmlns:a="http://schemas.openxmlformats.org/drawingml/2006/main" xmlns:r="http://schemas.openxmlformats.org/officeDocument/2006/relationships" xmlns:p="http://schemas.openxmlformats.org/presentationml/2006/main">
  <p:tag name="NUM" val="4"/>
</p:tagLst>
</file>

<file path=ppt/tags/tag30.xml><?xml version="1.0" encoding="utf-8"?>
<p:tagLst xmlns:a="http://schemas.openxmlformats.org/drawingml/2006/main" xmlns:r="http://schemas.openxmlformats.org/officeDocument/2006/relationships" xmlns:p="http://schemas.openxmlformats.org/presentationml/2006/main">
  <p:tag name="NUM" val="1"/>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5"/>
</p:tagLst>
</file>

<file path=ppt/tags/tag33.xml><?xml version="1.0" encoding="utf-8"?>
<p:tagLst xmlns:a="http://schemas.openxmlformats.org/drawingml/2006/main" xmlns:r="http://schemas.openxmlformats.org/officeDocument/2006/relationships" xmlns:p="http://schemas.openxmlformats.org/presentationml/2006/main">
  <p:tag name="NUM" val="7"/>
</p:tagLst>
</file>

<file path=ppt/tags/tag34.xml><?xml version="1.0" encoding="utf-8"?>
<p:tagLst xmlns:a="http://schemas.openxmlformats.org/drawingml/2006/main" xmlns:r="http://schemas.openxmlformats.org/officeDocument/2006/relationships" xmlns:p="http://schemas.openxmlformats.org/presentationml/2006/main">
  <p:tag name="NUM" val="4"/>
</p:tagLst>
</file>

<file path=ppt/tags/tag35.xml><?xml version="1.0" encoding="utf-8"?>
<p:tagLst xmlns:a="http://schemas.openxmlformats.org/drawingml/2006/main" xmlns:r="http://schemas.openxmlformats.org/officeDocument/2006/relationships" xmlns:p="http://schemas.openxmlformats.org/presentationml/2006/main">
  <p:tag name="NUM" val="1"/>
</p:tagLst>
</file>

<file path=ppt/tags/tag36.xml><?xml version="1.0" encoding="utf-8"?>
<p:tagLst xmlns:a="http://schemas.openxmlformats.org/drawingml/2006/main" xmlns:r="http://schemas.openxmlformats.org/officeDocument/2006/relationships" xmlns:p="http://schemas.openxmlformats.org/presentationml/2006/main">
  <p:tag name="NUM" val="4"/>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7"/>
</p:tagLst>
</file>

<file path=ppt/tags/tag42.xml><?xml version="1.0" encoding="utf-8"?>
<p:tagLst xmlns:a="http://schemas.openxmlformats.org/drawingml/2006/main" xmlns:r="http://schemas.openxmlformats.org/officeDocument/2006/relationships" xmlns:p="http://schemas.openxmlformats.org/presentationml/2006/main">
  <p:tag name="NUM" val="4"/>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4"/>
</p:tagLst>
</file>

<file path=ppt/tags/tag48.xml><?xml version="1.0" encoding="utf-8"?>
<p:tagLst xmlns:a="http://schemas.openxmlformats.org/drawingml/2006/main" xmlns:r="http://schemas.openxmlformats.org/officeDocument/2006/relationships" xmlns:p="http://schemas.openxmlformats.org/presentationml/2006/main">
  <p:tag name="NUM" val="1"/>
</p:tagLst>
</file>

<file path=ppt/tags/tag49.xml><?xml version="1.0" encoding="utf-8"?>
<p:tagLst xmlns:a="http://schemas.openxmlformats.org/drawingml/2006/main" xmlns:r="http://schemas.openxmlformats.org/officeDocument/2006/relationships" xmlns:p="http://schemas.openxmlformats.org/presentationml/2006/main">
  <p:tag name="NUM" val="2"/>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2"/>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4"/>
</p:tagLst>
</file>

<file path=ppt/tags/tag57.xml><?xml version="1.0" encoding="utf-8"?>
<p:tagLst xmlns:a="http://schemas.openxmlformats.org/drawingml/2006/main" xmlns:r="http://schemas.openxmlformats.org/officeDocument/2006/relationships" xmlns:p="http://schemas.openxmlformats.org/presentationml/2006/main">
  <p:tag name="NUM" val="2"/>
</p:tagLst>
</file>

<file path=ppt/tags/tag58.xml><?xml version="1.0" encoding="utf-8"?>
<p:tagLst xmlns:a="http://schemas.openxmlformats.org/drawingml/2006/main" xmlns:r="http://schemas.openxmlformats.org/officeDocument/2006/relationships" xmlns:p="http://schemas.openxmlformats.org/presentationml/2006/main">
  <p:tag name="NUM" val="1"/>
</p:tagLst>
</file>

<file path=ppt/tags/tag59.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F7642783BF5F549AD8264003DAC5479" ma:contentTypeVersion="3" ma:contentTypeDescription="Crée un document." ma:contentTypeScope="" ma:versionID="dce298f75874831ad4b69d3856d448b0">
  <xsd:schema xmlns:xsd="http://www.w3.org/2001/XMLSchema" xmlns:xs="http://www.w3.org/2001/XMLSchema" xmlns:p="http://schemas.microsoft.com/office/2006/metadata/properties" xmlns:ns2="be3f775b-911d-49d5-9e9c-70e93af7b92b" targetNamespace="http://schemas.microsoft.com/office/2006/metadata/properties" ma:root="true" ma:fieldsID="b29a77cbcb573c1061bfa2edeefbf14c" ns2:_="">
    <xsd:import namespace="be3f775b-911d-49d5-9e9c-70e93af7b9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3f775b-911d-49d5-9e9c-70e93af7b9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1E1C49C-B943-4250-BB39-87973E798E95}">
  <ds:schemaRefs>
    <ds:schemaRef ds:uri="http://schemas.microsoft.com/office/infopath/2007/PartnerControls"/>
    <ds:schemaRef ds:uri="http://purl.org/dc/dcmitype/"/>
    <ds:schemaRef ds:uri="http://www.w3.org/XML/1998/namespace"/>
    <ds:schemaRef ds:uri="http://schemas.microsoft.com/office/2006/documentManagement/types"/>
    <ds:schemaRef ds:uri="8682f7ec-9bef-4d6d-8d5c-0ec39e002ff3"/>
    <ds:schemaRef ds:uri="http://schemas.openxmlformats.org/package/2006/metadata/core-properties"/>
    <ds:schemaRef ds:uri="http://schemas.microsoft.com/office/2006/metadata/properties"/>
    <ds:schemaRef ds:uri="http://purl.org/dc/terms/"/>
    <ds:schemaRef ds:uri="http://purl.org/dc/elements/1.1/"/>
  </ds:schemaRefs>
</ds:datastoreItem>
</file>

<file path=customXml/itemProps2.xml><?xml version="1.0" encoding="utf-8"?>
<ds:datastoreItem xmlns:ds="http://schemas.openxmlformats.org/officeDocument/2006/customXml" ds:itemID="{993C392B-F690-4267-8D4E-0D4DB769B882}">
  <ds:schemaRefs>
    <ds:schemaRef ds:uri="http://schemas.microsoft.com/sharepoint/v3/contenttype/forms"/>
  </ds:schemaRefs>
</ds:datastoreItem>
</file>

<file path=customXml/itemProps3.xml><?xml version="1.0" encoding="utf-8"?>
<ds:datastoreItem xmlns:ds="http://schemas.openxmlformats.org/officeDocument/2006/customXml" ds:itemID="{A9EF5F78-F60C-42FD-9D00-D1343EA07962}"/>
</file>

<file path=docProps/app.xml><?xml version="1.0" encoding="utf-8"?>
<Properties xmlns="http://schemas.openxmlformats.org/officeDocument/2006/extended-properties" xmlns:vt="http://schemas.openxmlformats.org/officeDocument/2006/docPropsVTypes">
  <TotalTime>56678</TotalTime>
  <Words>1882</Words>
  <Application>Microsoft Office PowerPoint</Application>
  <PresentationFormat>Affichage à l'écran (4:3)</PresentationFormat>
  <Paragraphs>223</Paragraphs>
  <Slides>11</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11</vt:i4>
      </vt:variant>
    </vt:vector>
  </HeadingPairs>
  <TitlesOfParts>
    <vt:vector size="19" baseType="lpstr">
      <vt:lpstr>Arial</vt:lpstr>
      <vt:lpstr>Calibri</vt:lpstr>
      <vt:lpstr>Calibri Light</vt:lpstr>
      <vt:lpstr>Courier New</vt:lpstr>
      <vt:lpstr>Nunito</vt:lpstr>
      <vt:lpstr>Symbol</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Cindy Angelini</dc:creator>
  <cp:lastModifiedBy>Veronique Dion</cp:lastModifiedBy>
  <cp:revision>1763</cp:revision>
  <cp:lastPrinted>2022-04-27T14:46:34Z</cp:lastPrinted>
  <dcterms:created xsi:type="dcterms:W3CDTF">2017-05-24T18:44:46Z</dcterms:created>
  <dcterms:modified xsi:type="dcterms:W3CDTF">2025-07-04T16:54:11Z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0x010100DF7642783BF5F549AD8264003DAC5479</vt:lpwstr>
  </property>
  <property fmtid="{D5CDD505-2E9C-101B-9397-08002B2CF9AE}" pid="3" name="CPProgramYearTaxo">
    <vt:lpwstr>395;#2021|67d85b28-9b94-4781-b0e7-a14780e90c05</vt:lpwstr>
  </property>
  <property fmtid="{D5CDD505-2E9C-101B-9397-08002B2CF9AE}" pid="4" name="CPDivisionTaxo">
    <vt:lpwstr>25;#Marketing / Marketing|0ce858d0-7a7f-4510-bcd3-2b6f6fd047da</vt:lpwstr>
  </property>
  <property fmtid="{D5CDD505-2E9C-101B-9397-08002B2CF9AE}" pid="5" name="CPLanguageTaxos">
    <vt:lpwstr>4;#FR|5610c2fe-5657-4d60-b756-13a60f4693e4</vt:lpwstr>
  </property>
  <property fmtid="{D5CDD505-2E9C-101B-9397-08002B2CF9AE}" pid="6" name="CPProviderTaxo">
    <vt:lpwstr/>
  </property>
  <property fmtid="{D5CDD505-2E9C-101B-9397-08002B2CF9AE}" pid="7" name="CPTargetDepartmentTaxos">
    <vt:lpwstr/>
  </property>
</Properties>
</file>