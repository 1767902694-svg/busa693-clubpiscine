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65" r:id="rId5"/>
    <p:sldId id="281" r:id="rId6"/>
    <p:sldId id="276" r:id="rId7"/>
    <p:sldId id="285" r:id="rId8"/>
    <p:sldId id="266" r:id="rId9"/>
    <p:sldId id="273" r:id="rId10"/>
    <p:sldId id="267" r:id="rId11"/>
    <p:sldId id="268" r:id="rId12"/>
    <p:sldId id="275" r:id="rId13"/>
    <p:sldId id="270" r:id="rId14"/>
    <p:sldId id="264" r:id="rId15"/>
    <p:sldId id="272" r:id="rId16"/>
  </p:sldIdLst>
  <p:sldSz cx="6858000" cy="9144000" type="screen4x3"/>
  <p:notesSz cx="6950075" cy="923607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CDE9"/>
    <a:srgbClr val="218BCB"/>
    <a:srgbClr val="229FCC"/>
    <a:srgbClr val="48B8E0"/>
    <a:srgbClr val="2FA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94"/>
  </p:normalViewPr>
  <p:slideViewPr>
    <p:cSldViewPr>
      <p:cViewPr varScale="1">
        <p:scale>
          <a:sx n="79" d="100"/>
          <a:sy n="79" d="100"/>
        </p:scale>
        <p:origin x="3054" y="9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4EA55-1F88-4D33-948F-129C030CA228}" type="datetimeFigureOut">
              <a:rPr lang="fr-FR" smtClean="0"/>
              <a:t>23/12/2024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305050" y="1154113"/>
            <a:ext cx="23399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8FADA9-DAE0-49B2-8C03-98CBE54838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4953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270F1-02CD-4B62-A24E-C50745FFF5F5}" type="datetime1">
              <a:rPr lang="fr-CA" smtClean="0"/>
              <a:t>2024-12-23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48049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B3501-DB26-46B1-B49D-78AAEDB8FBB0}" type="datetime1">
              <a:rPr lang="fr-CA" smtClean="0"/>
              <a:t>2024-12-23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56885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D7A85-2AFD-4815-A0A7-D4B79870DF4B}" type="datetime1">
              <a:rPr lang="fr-CA" smtClean="0"/>
              <a:t>2024-12-23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97159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6F20-C377-4AED-9510-F5ADE3870E9C}" type="datetime1">
              <a:rPr lang="fr-CA" smtClean="0"/>
              <a:t>2024-12-23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62237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6B50-1D08-40D3-BECA-FFE7DEF4ECA0}" type="datetime1">
              <a:rPr lang="fr-CA" smtClean="0"/>
              <a:t>2024-12-23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71518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A913-A0AB-4357-9718-F642A4CB965C}" type="datetime1">
              <a:rPr lang="fr-CA" smtClean="0"/>
              <a:t>2024-12-23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1246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D8FFD-9EF2-4DF5-ADE3-0FA2D06B7D28}" type="datetime1">
              <a:rPr lang="fr-CA" smtClean="0"/>
              <a:t>2024-12-23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98377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A06B-BE77-4E72-9CCA-00E4DEE9532E}" type="datetime1">
              <a:rPr lang="fr-CA" smtClean="0"/>
              <a:t>2024-12-23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2455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EBF81-A9BE-418D-9E78-24D0919B7A1C}" type="datetime1">
              <a:rPr lang="fr-CA" smtClean="0"/>
              <a:t>2024-12-23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88577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EE61-C885-4A50-BEE7-C9DDDBD88187}" type="datetime1">
              <a:rPr lang="fr-CA" smtClean="0"/>
              <a:t>2024-12-23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30042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C38EA-1C13-48D8-9A28-13347BB0C9CB}" type="datetime1">
              <a:rPr lang="fr-CA" smtClean="0"/>
              <a:t>2024-12-23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3692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A8D5B-1515-4F97-901C-AB1B94820B7C}" type="datetime1">
              <a:rPr lang="fr-CA" smtClean="0"/>
              <a:t>2024-12-23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056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1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9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image" Target="../media/image1.png"/><Relationship Id="rId5" Type="http://schemas.openxmlformats.org/officeDocument/2006/relationships/tags" Target="../tags/tag25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4.xml"/><Relationship Id="rId9" Type="http://schemas.openxmlformats.org/officeDocument/2006/relationships/tags" Target="../tags/tag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7" Type="http://schemas.openxmlformats.org/officeDocument/2006/relationships/image" Target="../media/image1.pn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4.xml"/><Relationship Id="rId4" Type="http://schemas.openxmlformats.org/officeDocument/2006/relationships/tags" Target="../tags/tag3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7" Type="http://schemas.openxmlformats.org/officeDocument/2006/relationships/image" Target="../media/image1.png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9.xml"/><Relationship Id="rId4" Type="http://schemas.openxmlformats.org/officeDocument/2006/relationships/tags" Target="../tags/tag3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7" Type="http://schemas.openxmlformats.org/officeDocument/2006/relationships/image" Target="../media/image1.png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4.xml"/><Relationship Id="rId4" Type="http://schemas.openxmlformats.org/officeDocument/2006/relationships/tags" Target="../tags/tag4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47.xml"/><Relationship Id="rId7" Type="http://schemas.openxmlformats.org/officeDocument/2006/relationships/tags" Target="../tags/tag51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9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image" Target="../media/image2.png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image" Target="../media/image1.png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56.xml"/><Relationship Id="rId10" Type="http://schemas.openxmlformats.org/officeDocument/2006/relationships/tags" Target="../tags/tag61.xml"/><Relationship Id="rId4" Type="http://schemas.openxmlformats.org/officeDocument/2006/relationships/tags" Target="../tags/tag55.xml"/><Relationship Id="rId9" Type="http://schemas.openxmlformats.org/officeDocument/2006/relationships/tags" Target="../tags/tag6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64.xml"/><Relationship Id="rId7" Type="http://schemas.openxmlformats.org/officeDocument/2006/relationships/hyperlink" Target="https://www.clubpiscine.ca/fr/concours/courez-la-chance-de-gagner-votre-achat" TargetMode="Externa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6.xml"/><Relationship Id="rId4" Type="http://schemas.openxmlformats.org/officeDocument/2006/relationships/tags" Target="../tags/tag6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69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571706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RÉSUMÉ DES PROMOS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334374"/>
            <a:ext cx="6408713" cy="58785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CA" sz="12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Voici les principaux changements:</a:t>
            </a:r>
            <a:endParaRPr lang="fr-CA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SPA: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fr-CA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SOLSTICE : Rabais de 1000$ sur les inventaires 2024 et 750$ sur les mod</a:t>
            </a:r>
            <a:r>
              <a:rPr kumimoji="0" lang="fr-CA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è</a:t>
            </a:r>
            <a:r>
              <a:rPr kumimoji="0" lang="fr-CA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les 2025.</a:t>
            </a:r>
            <a:r>
              <a:rPr kumimoji="0" lang="fr-CA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kumimoji="0" lang="fr-CA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fr-CA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JACUZZI : Rabais jusqu'</a:t>
            </a:r>
            <a:r>
              <a:rPr kumimoji="0" lang="fr-CA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à</a:t>
            </a:r>
            <a:r>
              <a:rPr kumimoji="0" lang="fr-CA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1000$ sur les mod</a:t>
            </a:r>
            <a:r>
              <a:rPr kumimoji="0" lang="fr-CA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è</a:t>
            </a:r>
            <a:r>
              <a:rPr kumimoji="0" lang="fr-CA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les</a:t>
            </a:r>
            <a:r>
              <a:rPr kumimoji="0" lang="fr-CA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kumimoji="0" lang="fr-CA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</a:t>
            </a:r>
            <a:r>
              <a:rPr kumimoji="0" lang="fr-CA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é</a:t>
            </a:r>
            <a:r>
              <a:rPr kumimoji="0" lang="fr-CA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rie 400 et JLX 2024 et rabais 500$ sur les s</a:t>
            </a:r>
            <a:r>
              <a:rPr kumimoji="0" lang="fr-CA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é</a:t>
            </a:r>
            <a:r>
              <a:rPr kumimoji="0" lang="fr-CA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ries J200 &amp; J300 2024 &amp; 2025.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dirty="0">
                <a:solidFill>
                  <a:srgbClr val="000000"/>
                </a:solidFill>
                <a:latin typeface="Aptos Narrow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 des rabais sur les spas de nage</a:t>
            </a:r>
            <a:endParaRPr lang="fr-CA" sz="1200" b="1" dirty="0">
              <a:latin typeface="Calibri Light" panose="020F03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AQUARINO:  </a:t>
            </a:r>
            <a:r>
              <a:rPr lang="fr-CA" sz="12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Même rabais en cours + Combo </a:t>
            </a:r>
            <a:r>
              <a:rPr lang="fr-CA" sz="1200" dirty="0" err="1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chlorinateur</a:t>
            </a:r>
            <a:r>
              <a:rPr lang="fr-CA" sz="12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Moov et thermopompe Solstice 50k BTU offerts à 50% de rabais!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THERMO</a:t>
            </a:r>
            <a:r>
              <a:rPr lang="fr-CA" sz="1200" dirty="0">
                <a:latin typeface="Calibri Light" panose="020F0302020204030204" pitchFamily="34" charset="0"/>
                <a:cs typeface="Times New Roman" panose="02020603050405020304" pitchFamily="18" charset="0"/>
              </a:rPr>
              <a:t>:  200$ de rabais sur les thermopompes Solstice à prix régulier et 100$ de rabais sur les TTI ECOLO.</a:t>
            </a:r>
            <a:endParaRPr lang="fr-CA" sz="1200" dirty="0">
              <a:solidFill>
                <a:schemeClr val="accent6"/>
              </a:solidFill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PISCINES HT :   </a:t>
            </a:r>
            <a:r>
              <a:rPr lang="fr-CA" sz="12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Rabais de 1000$ sur toutes les piscines hors terre + 400$ de rabais sur une thermopompe (toute thermopompe confondues).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CHIMIQUE</a:t>
            </a:r>
            <a:r>
              <a:rPr lang="fr-CA" sz="12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Fin de tous les rabais en cours et bascule de prix régulier.</a:t>
            </a:r>
            <a:endParaRPr lang="fr-CA" sz="12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MEUBLE:: 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Nouveaux meubles  + ceux qui reviennent en 2025 : Prix régulier + on paye l’équivalent des 2 taxes (promo silencieuse.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altLang="fr-FR" sz="12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Meubles LIQUIDATION : Même prix qu’en décembre SANS le rabais 10% additionnel.</a:t>
            </a:r>
            <a:endParaRPr lang="fr-CA" sz="1200" dirty="0">
              <a:latin typeface="Calibri Light" panose="020F03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BBQ: </a:t>
            </a:r>
            <a:r>
              <a:rPr lang="fr-CA" sz="12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Rabais </a:t>
            </a:r>
            <a:r>
              <a:rPr lang="fr-CA" sz="1200" dirty="0" err="1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Kamado</a:t>
            </a:r>
            <a:r>
              <a:rPr lang="fr-CA" sz="12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Louisiane Grill à 1399.99$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FITNESS</a:t>
            </a:r>
            <a:r>
              <a:rPr lang="fr-CA" sz="1200" dirty="0">
                <a:latin typeface="Calibri Light" panose="020F0302020204030204" pitchFamily="34" charset="0"/>
                <a:cs typeface="Times New Roman" panose="02020603050405020304" pitchFamily="18" charset="0"/>
              </a:rPr>
              <a:t>: Nouveaux rabais activé </a:t>
            </a:r>
            <a:r>
              <a:rPr lang="fr-CA" sz="1200" u="sng" dirty="0">
                <a:latin typeface="Calibri Light" panose="020F0302020204030204" pitchFamily="34" charset="0"/>
                <a:cs typeface="Times New Roman" panose="02020603050405020304" pitchFamily="18" charset="0"/>
              </a:rPr>
              <a:t>dès le 31 décembre </a:t>
            </a:r>
            <a:r>
              <a:rPr lang="fr-CA" sz="1200" dirty="0">
                <a:latin typeface="Calibri Light" panose="020F0302020204030204" pitchFamily="34" charset="0"/>
                <a:cs typeface="Times New Roman" panose="02020603050405020304" pitchFamily="18" charset="0"/>
              </a:rPr>
              <a:t>pour profiter du nouvel an.</a:t>
            </a:r>
            <a:endParaRPr lang="fr-CA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/>
            <a:endParaRPr lang="fr-CA" sz="1200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CA" sz="1100" i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Tous les détails des promotions aux pages suivantes. Les codes des plans de financement se trouvent à la dernière page.</a:t>
            </a:r>
            <a:endParaRPr lang="fr-CA" sz="1200" i="1" dirty="0">
              <a:latin typeface="Calibri Light" panose="020F03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</a:t>
            </a:fld>
            <a:endParaRPr lang="fr-CA" dirty="0"/>
          </a:p>
        </p:txBody>
      </p:sp>
      <p:sp>
        <p:nvSpPr>
          <p:cNvPr id="7" name="Zone de texte 28">
            <a:extLst>
              <a:ext uri="{FF2B5EF4-FFF2-40B4-BE49-F238E27FC236}">
                <a16:creationId xmlns:a16="http://schemas.microsoft.com/office/drawing/2014/main" id="{9954BF8A-DD31-9DF8-A9CE-38C033095C3B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8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janvier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février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2025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73557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SPAS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128086"/>
            <a:ext cx="6408713" cy="36009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200" b="1" dirty="0"/>
              <a:t>JACUZZI </a:t>
            </a:r>
            <a:endParaRPr lang="fr-CA" sz="1200" dirty="0"/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200" b="1" dirty="0"/>
              <a:t>1000$ de rabais </a:t>
            </a:r>
            <a:r>
              <a:rPr lang="fr-CA" sz="1200" dirty="0"/>
              <a:t>sur la série JLX et J400 (sauf le J495) 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200" b="1" dirty="0"/>
              <a:t>500$ de rabais </a:t>
            </a:r>
            <a:r>
              <a:rPr lang="fr-CA" sz="1200" dirty="0"/>
              <a:t>sur la série J200, J300, J495 (Smart tub non inclus sur les modèles J200 2024)</a:t>
            </a:r>
            <a:endParaRPr lang="fr-FR" sz="1200" b="1" dirty="0"/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200" b="1" dirty="0"/>
              <a:t>Modèles 2025:  </a:t>
            </a:r>
            <a:r>
              <a:rPr lang="fr-FR" sz="1200" dirty="0"/>
              <a:t>500$ de rabais sur tous les modèles + voir nouvelle Annexes 2025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200" dirty="0"/>
              <a:t>Le levier, la marche, le GFCI sont </a:t>
            </a:r>
            <a:r>
              <a:rPr lang="fr-CA" sz="1200" b="1" dirty="0"/>
              <a:t>INCLUS</a:t>
            </a:r>
            <a:r>
              <a:rPr lang="fr-CA" sz="1200" dirty="0"/>
              <a:t>.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200" dirty="0"/>
              <a:t>La livraison </a:t>
            </a:r>
            <a:r>
              <a:rPr lang="fr-FR" sz="1200" b="1" dirty="0"/>
              <a:t>N’EST PAS INCLUSE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200" dirty="0"/>
              <a:t>Aucune promo de financement.</a:t>
            </a:r>
          </a:p>
          <a:p>
            <a:endParaRPr lang="fr-CA" sz="1200" b="1" dirty="0"/>
          </a:p>
          <a:p>
            <a:pPr lvl="0"/>
            <a:r>
              <a:rPr lang="fr-CA" sz="1200" b="1" dirty="0"/>
              <a:t>Tous les modèles viennent avec la promotion ‘’Trousse énergétique </a:t>
            </a:r>
            <a:r>
              <a:rPr lang="fr-CA" sz="1200" b="1" dirty="0" err="1"/>
              <a:t>SmartTub</a:t>
            </a:r>
            <a:r>
              <a:rPr lang="fr-CA" sz="1200" b="1" dirty="0"/>
              <a:t> </a:t>
            </a:r>
            <a:r>
              <a:rPr lang="fr-CA" sz="1200" b="1" dirty="0" err="1"/>
              <a:t>play</a:t>
            </a:r>
            <a:r>
              <a:rPr lang="fr-CA" sz="1200" b="1" dirty="0"/>
              <a:t>’’ d’une valeur ajoutée de </a:t>
            </a:r>
            <a:r>
              <a:rPr lang="fr-CA" sz="1200" dirty="0"/>
              <a:t>: </a:t>
            </a:r>
            <a:endParaRPr lang="fr-CA" sz="1400" dirty="0">
              <a:effectLst/>
            </a:endParaRPr>
          </a:p>
          <a:p>
            <a:pPr marL="742950" lvl="1" indent="-285750"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CA" sz="1100" b="1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1899$ 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 la série J-300 incluant </a:t>
            </a:r>
            <a:r>
              <a:rPr lang="fr-CA" sz="11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SmartTub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fr-CA" sz="11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Prolast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extrême + Smart Seal + lumière extérieure</a:t>
            </a:r>
            <a:endParaRPr lang="fr-CA" sz="105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CA" sz="1100" b="1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1599$ 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 la série J-400 incluant </a:t>
            </a:r>
            <a:r>
              <a:rPr lang="fr-CA" sz="11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SmartTub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fr-CA" sz="11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Prolast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extrême + Smart Seal</a:t>
            </a:r>
            <a:endParaRPr lang="fr-CA" sz="105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CA" sz="1100" b="1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1199$ 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 la série J-LX incluant </a:t>
            </a:r>
            <a:r>
              <a:rPr lang="fr-CA" sz="11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SmartTub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fr-CA" sz="11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Prolast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extrême</a:t>
            </a:r>
            <a:endParaRPr lang="fr-CA" sz="105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 n’y a plus de trousse incluse avec la série J-200, en option seulement.</a:t>
            </a:r>
            <a:endParaRPr lang="fr-CA" sz="105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CA" sz="1600" dirty="0"/>
          </a:p>
          <a:p>
            <a:r>
              <a:rPr lang="fr-CA" sz="1200" b="1" dirty="0"/>
              <a:t>TAPIS CHAUFFANTS</a:t>
            </a:r>
            <a:r>
              <a:rPr lang="fr-CA" sz="1200" dirty="0"/>
              <a:t>: Rabais de 20% sur tous les tapis chauffants à prix réguliers.</a:t>
            </a:r>
          </a:p>
          <a:p>
            <a:endParaRPr lang="fr-CA" sz="1200" dirty="0"/>
          </a:p>
          <a:p>
            <a:r>
              <a:rPr lang="fr-CA" sz="1200" b="1" dirty="0"/>
              <a:t>PUBLICITÉ</a:t>
            </a:r>
            <a:r>
              <a:rPr lang="fr-CA" sz="1200" dirty="0"/>
              <a:t>: La promotion jusqu’à 2400$ de rabais et avantages comprend 500$ de rabais + 1900$ Trousse d’économie d’énergie sur la série 300 . 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2</a:t>
            </a:fld>
            <a:endParaRPr lang="fr-C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8C7895C-4014-4298-99F6-5FEF6B83122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5" name="Zone de texte 28">
            <a:extLst>
              <a:ext uri="{FF2B5EF4-FFF2-40B4-BE49-F238E27FC236}">
                <a16:creationId xmlns:a16="http://schemas.microsoft.com/office/drawing/2014/main" id="{D8509D8C-343F-06AD-5CD6-AAFAF86F10B0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8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janvier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février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2025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24597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SPAS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128086"/>
            <a:ext cx="6408713" cy="36317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/>
            <a:endParaRPr lang="fr-CA" sz="1600" dirty="0"/>
          </a:p>
          <a:p>
            <a:r>
              <a:rPr lang="fr-CA" sz="1400" b="1" dirty="0"/>
              <a:t>SOLSTICE SPAS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b="1" dirty="0"/>
              <a:t>1000$ de rabais </a:t>
            </a:r>
            <a:r>
              <a:rPr lang="fr-CA" sz="1400" dirty="0"/>
              <a:t>sur les modèles en inventaire applicable sur le prix régulier. Et 750$ sur les modèles 2025.</a:t>
            </a:r>
            <a:endParaRPr lang="fr-CA" sz="1400" b="1" dirty="0"/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b="1" dirty="0"/>
              <a:t>PROMO: OBTENEZ 2 SERVIETTES SOLSTICE À L’ACHAT D’UN SPA </a:t>
            </a:r>
            <a:r>
              <a:rPr lang="fr-CA" sz="1400" dirty="0"/>
              <a:t>(</a:t>
            </a:r>
            <a:r>
              <a:rPr lang="fr-CA" sz="1400" i="1" dirty="0"/>
              <a:t>PTR 173988)</a:t>
            </a:r>
            <a:r>
              <a:rPr lang="fr-CA" sz="1400" dirty="0"/>
              <a:t>.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dirty="0"/>
              <a:t>Le levier, la marche, le GFCI sont </a:t>
            </a:r>
            <a:r>
              <a:rPr lang="fr-CA" sz="1400" b="1" dirty="0"/>
              <a:t>INCLUS</a:t>
            </a:r>
            <a:r>
              <a:rPr lang="fr-CA" sz="1400" dirty="0"/>
              <a:t>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dirty="0"/>
              <a:t>La livraison </a:t>
            </a:r>
            <a:r>
              <a:rPr lang="fr-CA" sz="1400" b="1" dirty="0"/>
              <a:t>N’EST PAS INCLUSE</a:t>
            </a:r>
          </a:p>
          <a:p>
            <a:pPr lvl="0"/>
            <a:endParaRPr lang="fr-CA" sz="1400" b="1" dirty="0"/>
          </a:p>
          <a:p>
            <a:r>
              <a:rPr lang="fr-CA" sz="1400" b="1" dirty="0"/>
              <a:t>TAPIS CHAUFFANTS</a:t>
            </a:r>
            <a:r>
              <a:rPr lang="fr-CA" sz="1400" dirty="0"/>
              <a:t>: Rabais de 20% sur tous les tapis chauffants à prix réguliers.</a:t>
            </a:r>
          </a:p>
          <a:p>
            <a:endParaRPr lang="fr-CA" sz="1400" dirty="0">
              <a:highlight>
                <a:srgbClr val="FFFF00"/>
              </a:highlight>
            </a:endParaRPr>
          </a:p>
          <a:p>
            <a:endParaRPr lang="fr-CA" sz="1400" dirty="0"/>
          </a:p>
          <a:p>
            <a:r>
              <a:rPr lang="fr-CA" sz="1200" b="1" dirty="0"/>
              <a:t>INNOVAPSA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/>
              <a:t>Spa Blizzard édition limitée en promotion à  6999$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/>
              <a:t>Aucun rabais sur les autres modèles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/>
              <a:t>Aucune promotion de financement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/>
              <a:t>Le levier, la marche et le chimique sont vendus séparément.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/>
              <a:t>La livraison n’est pas incluse.</a:t>
            </a:r>
            <a:r>
              <a:rPr lang="fr-CA" sz="1400" dirty="0"/>
              <a:t> </a:t>
            </a:r>
            <a:endParaRPr lang="fr-CA" sz="2000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3</a:t>
            </a:fld>
            <a:endParaRPr lang="fr-CA"/>
          </a:p>
        </p:txBody>
      </p:sp>
      <p:sp>
        <p:nvSpPr>
          <p:cNvPr id="5" name="Zone de texte 28">
            <a:extLst>
              <a:ext uri="{FF2B5EF4-FFF2-40B4-BE49-F238E27FC236}">
                <a16:creationId xmlns:a16="http://schemas.microsoft.com/office/drawing/2014/main" id="{9FEAEB21-924D-0BB3-2089-762DCFE95A2A}"/>
              </a:ext>
            </a:extLst>
          </p:cNvPr>
          <p:cNvSpPr txBox="1"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8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janvier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février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2025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80937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SPAS DE NAGE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128086"/>
            <a:ext cx="6408713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/>
            <a:endParaRPr lang="fr-CA" sz="2000" dirty="0"/>
          </a:p>
          <a:p>
            <a:r>
              <a:rPr lang="fr-CA" sz="1600" b="1" dirty="0"/>
              <a:t>SPA DE NAGE JACUZZI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Aucun rabais en janvier</a:t>
            </a:r>
            <a:endParaRPr lang="fr-F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La livraison et frais de grue </a:t>
            </a:r>
            <a:r>
              <a:rPr lang="fr-CA" sz="1600" b="1" dirty="0"/>
              <a:t>NE SONT PAS INCLUS.</a:t>
            </a:r>
          </a:p>
          <a:p>
            <a:endParaRPr lang="fr-CA" sz="1600" b="1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4</a:t>
            </a:fld>
            <a:endParaRPr lang="fr-CA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1EECA49-570A-45D0-B3D2-36F8939D94C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75" y="8604448"/>
            <a:ext cx="2492896" cy="402434"/>
          </a:xfrm>
          <a:prstGeom prst="rect">
            <a:avLst/>
          </a:prstGeom>
        </p:spPr>
      </p:pic>
      <p:sp>
        <p:nvSpPr>
          <p:cNvPr id="5" name="Zone de texte 28">
            <a:extLst>
              <a:ext uri="{FF2B5EF4-FFF2-40B4-BE49-F238E27FC236}">
                <a16:creationId xmlns:a16="http://schemas.microsoft.com/office/drawing/2014/main" id="{A7F81D3D-448A-5C14-F6F4-BD6CB39D6DE0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8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janvier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février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2025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775FD9-3F53-F1C8-F75E-4C30132DD58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24644" y="399593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SAUNAS 2024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88D168-C6BD-83A0-A7A2-5C74FEE645C8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24643" y="4355976"/>
            <a:ext cx="6408713" cy="8925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/>
            <a:endParaRPr lang="fr-CA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Voir rabais en cours sur tous les PURE CUBE.</a:t>
            </a:r>
            <a:endParaRPr lang="fr-CA" sz="2000" dirty="0"/>
          </a:p>
          <a:p>
            <a:endParaRPr lang="fr-CA" sz="1600" b="1" dirty="0"/>
          </a:p>
        </p:txBody>
      </p:sp>
    </p:spTree>
    <p:extLst>
      <p:ext uri="{BB962C8B-B14F-4D97-AF65-F5344CB8AC3E}">
        <p14:creationId xmlns:p14="http://schemas.microsoft.com/office/powerpoint/2010/main" val="2478665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MEUBLES ET PARASOLS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6"/>
            <a:ext cx="6408713" cy="35394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600" b="1" dirty="0"/>
              <a:t>MEUBLES </a:t>
            </a:r>
          </a:p>
          <a:p>
            <a:endParaRPr lang="fr-CA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Meubles qui reviennent en 2025: </a:t>
            </a:r>
            <a:r>
              <a:rPr lang="fr-CA" sz="1600" dirty="0"/>
              <a:t>Prix réguliers en cours + nous payons l‘équivalent des 2 taxes sur les nouveautés ainsi que les meubles qui reviennent en 2025.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CA" sz="1600" dirty="0"/>
              <a:t>Ceci est une promotion silencieuse afin de permettent de revenir à des prix réguliers tel qu’exigé par l’OPC. Elle ne sera pas affichée sur le site web.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CA" sz="1600" dirty="0"/>
              <a:t>Veuillez retirer le pop up prix sur votre plancher et conserver uniquement le prix régulier.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Meubles liquidation</a:t>
            </a:r>
            <a:r>
              <a:rPr lang="fr-CA" sz="1600" dirty="0"/>
              <a:t>: Pour tous les autres meubles, les rabais de décembre se poursuivent SANS le rabais de 10% additionnel. Vous n’avez donc aucun prix à changer.</a:t>
            </a:r>
          </a:p>
          <a:p>
            <a:endParaRPr lang="fr-CA" sz="1600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4C2A165-92F7-43C0-889A-0CB1C2D0B65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5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9BFA519-2732-4282-AF65-99019E82AB9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5" name="Zone de texte 28">
            <a:extLst>
              <a:ext uri="{FF2B5EF4-FFF2-40B4-BE49-F238E27FC236}">
                <a16:creationId xmlns:a16="http://schemas.microsoft.com/office/drawing/2014/main" id="{03D57059-6F6C-1C0B-C433-B6111C468573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8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janvier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février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2025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55F00F-005A-65C9-B93C-70BBF0212A2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1375" y="585872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GAZEBOS 2024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4E2E3F-8713-712A-18BE-1D7B42582A64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60647" y="687625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CABANONS 2024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B057B5-FD9C-A8F7-F423-740662E86A4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60647" y="7236296"/>
            <a:ext cx="6408713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CA" sz="1600" dirty="0"/>
              <a:t>Aucune promotion en cours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CDE7EB-7AB5-218C-2913-A99998CCDDA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260647" y="6228184"/>
            <a:ext cx="6408713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CA" sz="1600" dirty="0"/>
              <a:t>Même promotion que décembre.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CA" sz="1600" dirty="0"/>
              <a:t>Fin des rabais sur la PALERMA et ROMA qui reviennent</a:t>
            </a:r>
          </a:p>
        </p:txBody>
      </p:sp>
    </p:spTree>
    <p:extLst>
      <p:ext uri="{BB962C8B-B14F-4D97-AF65-F5344CB8AC3E}">
        <p14:creationId xmlns:p14="http://schemas.microsoft.com/office/powerpoint/2010/main" val="2125114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BBQ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6"/>
            <a:ext cx="6408713" cy="16927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b="1" dirty="0">
                <a:latin typeface="Calibri" panose="020F0502020204030204" pitchFamily="34" charset="0"/>
              </a:rPr>
              <a:t>Aucune promotion du fournisseur. Voir rabais en cours dans l’annexe.</a:t>
            </a:r>
            <a:endParaRPr lang="fr-CA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>
                <a:latin typeface="Calibri" panose="020F0502020204030204" pitchFamily="34" charset="0"/>
              </a:rPr>
              <a:t>Tous les accessoires </a:t>
            </a:r>
            <a:r>
              <a:rPr lang="fr-CA" dirty="0" err="1">
                <a:latin typeface="Calibri" panose="020F0502020204030204" pitchFamily="34" charset="0"/>
              </a:rPr>
              <a:t>Kitchen</a:t>
            </a:r>
            <a:r>
              <a:rPr lang="fr-CA" dirty="0">
                <a:latin typeface="Calibri" panose="020F0502020204030204" pitchFamily="34" charset="0"/>
              </a:rPr>
              <a:t> </a:t>
            </a:r>
            <a:r>
              <a:rPr lang="fr-CA" dirty="0" err="1">
                <a:latin typeface="Calibri" panose="020F0502020204030204" pitchFamily="34" charset="0"/>
              </a:rPr>
              <a:t>Aid</a:t>
            </a:r>
            <a:r>
              <a:rPr lang="fr-CA" dirty="0">
                <a:latin typeface="Calibri" panose="020F0502020204030204" pitchFamily="34" charset="0"/>
              </a:rPr>
              <a:t> et </a:t>
            </a:r>
            <a:r>
              <a:rPr lang="fr-CA" dirty="0" err="1">
                <a:latin typeface="Calibri" panose="020F0502020204030204" pitchFamily="34" charset="0"/>
              </a:rPr>
              <a:t>Megamaster</a:t>
            </a:r>
            <a:r>
              <a:rPr lang="fr-CA" dirty="0">
                <a:latin typeface="Calibri" panose="020F0502020204030204" pitchFamily="34" charset="0"/>
              </a:rPr>
              <a:t> sont à 50% de rabais jusqu’à épuisement des stocks.</a:t>
            </a:r>
            <a:endParaRPr lang="fr-CA" sz="1600" dirty="0"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B2DBC70-3186-48CE-819F-361D4296B67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6</a:t>
            </a:fld>
            <a:endParaRPr lang="fr-C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783D21B-B117-4026-9C7F-49C36B6A584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07" y="8411910"/>
            <a:ext cx="2492896" cy="402434"/>
          </a:xfrm>
          <a:prstGeom prst="rect">
            <a:avLst/>
          </a:prstGeom>
        </p:spPr>
      </p:pic>
      <p:sp>
        <p:nvSpPr>
          <p:cNvPr id="3" name="Zone de texte 28">
            <a:extLst>
              <a:ext uri="{FF2B5EF4-FFF2-40B4-BE49-F238E27FC236}">
                <a16:creationId xmlns:a16="http://schemas.microsoft.com/office/drawing/2014/main" id="{06DA51CB-48AE-022D-713C-4EFDF21B11C9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8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janvier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février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2025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34054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6" y="1779769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HORS TERRE 2025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433DA19-C6A4-4697-B85F-7F129DA9B7C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7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8BA23A4-D293-442A-8E64-DD7EEB3C81B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878D544-23DE-4DBE-ABBE-33607EA8AFE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6" y="2139809"/>
            <a:ext cx="6408713" cy="27392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>
                <a:sym typeface="Wingdings" panose="05000000000000000000" pitchFamily="2" charset="2"/>
              </a:rPr>
              <a:t>CARVIN  &amp; TRENDIUM (VOGUE) </a:t>
            </a:r>
            <a:endParaRPr lang="fr-CA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RABAIS DE 1000$ </a:t>
            </a:r>
            <a:r>
              <a:rPr lang="fr-CA" sz="1400" dirty="0"/>
              <a:t>sur toutes les piscines hors terre Seules, Équipées et Équipées &amp; Installées.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RABAIS CHAUFFÉE: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400" b="1" dirty="0"/>
              <a:t>Rabais de 400$</a:t>
            </a:r>
            <a:r>
              <a:rPr lang="fr-CA" sz="1400" dirty="0"/>
              <a:t> sur prix régulier d’une thermopompe SOLSTICE, TTI ou Nirvana. L’installation de la Thermopompe et le By-pass ne </a:t>
            </a:r>
            <a:r>
              <a:rPr lang="fr-CA" sz="1400" b="1" dirty="0"/>
              <a:t>sont pas inclus.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400" b="1" dirty="0"/>
          </a:p>
          <a:p>
            <a:endParaRPr lang="fr-CA" sz="1400" dirty="0"/>
          </a:p>
          <a:p>
            <a:endParaRPr lang="fr-CA" sz="1400" dirty="0"/>
          </a:p>
          <a:p>
            <a:r>
              <a:rPr lang="fr-CA" sz="1400" dirty="0"/>
              <a:t>GRATUIT à l’achat d’une piscine:</a:t>
            </a:r>
          </a:p>
          <a:p>
            <a:pPr marL="285750" indent="-285750">
              <a:buFontTx/>
              <a:buChar char="-"/>
            </a:pPr>
            <a:r>
              <a:rPr lang="fr-CA" sz="1400" dirty="0"/>
              <a:t>Bracelet </a:t>
            </a:r>
            <a:r>
              <a:rPr lang="fr-CA" sz="1400" b="1" dirty="0"/>
              <a:t>SURVEILLANT DÉSIGNÉ</a:t>
            </a:r>
            <a:r>
              <a:rPr lang="fr-CA" sz="1400" dirty="0"/>
              <a:t> de la Société de Sauvetage</a:t>
            </a:r>
          </a:p>
          <a:p>
            <a:pPr marL="285750" indent="-285750">
              <a:buFontTx/>
              <a:buChar char="-"/>
            </a:pPr>
            <a:r>
              <a:rPr lang="fr-CA" sz="1400" dirty="0"/>
              <a:t>2 serviettes Club Piscine</a:t>
            </a:r>
            <a:endParaRPr lang="fr-CA" dirty="0"/>
          </a:p>
        </p:txBody>
      </p:sp>
      <p:sp>
        <p:nvSpPr>
          <p:cNvPr id="5" name="Zone de texte 28">
            <a:extLst>
              <a:ext uri="{FF2B5EF4-FFF2-40B4-BE49-F238E27FC236}">
                <a16:creationId xmlns:a16="http://schemas.microsoft.com/office/drawing/2014/main" id="{0515F779-2714-30D9-1318-0B70F5821AFE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8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janvier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février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2025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775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DE BOIS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7774A3C-AC2A-4D50-94B2-BA30C81610A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8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E9840D2-DA45-4D2A-A56F-841BEFE8A67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42F5A22-327C-4D75-9397-912D5DCB218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7" y="2128086"/>
            <a:ext cx="6408713" cy="40318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>
                <a:sym typeface="Wingdings" panose="05000000000000000000" pitchFamily="2" charset="2"/>
              </a:rPr>
              <a:t>AQUABOIS 2024</a:t>
            </a:r>
            <a:endParaRPr lang="fr-CA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750$ </a:t>
            </a:r>
            <a:r>
              <a:rPr lang="fr-CA" sz="1600" dirty="0"/>
              <a:t>sur le prix régulier de toutes les piscines de bois hors sol ou semi-creusées 2023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dirty="0"/>
              <a:t>Exception: La </a:t>
            </a:r>
            <a:r>
              <a:rPr lang="fr-CA" sz="1600" dirty="0" err="1"/>
              <a:t>Tundra</a:t>
            </a:r>
            <a:r>
              <a:rPr lang="fr-CA" sz="1600" dirty="0"/>
              <a:t> hors sol a 1250$ de rabais.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CHAUFFÉE: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400$</a:t>
            </a:r>
            <a:r>
              <a:rPr lang="fr-CA" sz="1600" dirty="0"/>
              <a:t> sur prix régulier d’une thermopompe SOLSTICE de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dirty="0"/>
              <a:t>L’installation de la Thermopompe et le By-pass ne </a:t>
            </a:r>
            <a:r>
              <a:rPr lang="fr-CA" sz="1600" b="1" dirty="0"/>
              <a:t>sont pas inclus.</a:t>
            </a:r>
            <a:endParaRPr lang="fr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La teinture est incluse sur toutes les piscines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Aucune promotion de financement</a:t>
            </a:r>
          </a:p>
          <a:p>
            <a:endParaRPr lang="fr-CA" sz="1600" b="1" dirty="0"/>
          </a:p>
          <a:p>
            <a:endParaRPr lang="fr-CA" sz="1600" dirty="0"/>
          </a:p>
          <a:p>
            <a:r>
              <a:rPr lang="fr-CA" sz="1600" dirty="0"/>
              <a:t>GRATUIT à l’achat d’une piscine:</a:t>
            </a:r>
          </a:p>
          <a:p>
            <a:pPr marL="285750" indent="-285750">
              <a:buFontTx/>
              <a:buChar char="-"/>
            </a:pPr>
            <a:r>
              <a:rPr lang="fr-CA" sz="1600" dirty="0"/>
              <a:t>Bracelet </a:t>
            </a:r>
            <a:r>
              <a:rPr lang="fr-CA" sz="1600" b="1" dirty="0"/>
              <a:t>SURVEILLANT DÉSIGNÉ</a:t>
            </a:r>
            <a:r>
              <a:rPr lang="fr-CA" sz="1600" dirty="0"/>
              <a:t> de la Société de Sauvetage</a:t>
            </a:r>
          </a:p>
          <a:p>
            <a:pPr marL="285750" indent="-285750">
              <a:buFontTx/>
              <a:buChar char="-"/>
            </a:pPr>
            <a:r>
              <a:rPr lang="fr-CA" sz="1600" dirty="0"/>
              <a:t>2 serviettes Club Piscine</a:t>
            </a:r>
          </a:p>
          <a:p>
            <a:endParaRPr lang="fr-CA" sz="1400" i="1" dirty="0"/>
          </a:p>
          <a:p>
            <a:endParaRPr lang="fr-CA" sz="1600" dirty="0"/>
          </a:p>
        </p:txBody>
      </p:sp>
      <p:sp>
        <p:nvSpPr>
          <p:cNvPr id="5" name="Zone de texte 28">
            <a:extLst>
              <a:ext uri="{FF2B5EF4-FFF2-40B4-BE49-F238E27FC236}">
                <a16:creationId xmlns:a16="http://schemas.microsoft.com/office/drawing/2014/main" id="{F94A0BDA-22DF-D760-024C-26F154DB504C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8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janvier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février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2025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8611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CREUSÉES 2025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7774A3C-AC2A-4D50-94B2-BA30C81610A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9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E9840D2-DA45-4D2A-A56F-841BEFE8A67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1" name="Zone de texte 28">
            <a:extLst>
              <a:ext uri="{FF2B5EF4-FFF2-40B4-BE49-F238E27FC236}">
                <a16:creationId xmlns:a16="http://schemas.microsoft.com/office/drawing/2014/main" id="{CB57BEBA-A86A-4781-AB89-09D90C196ACE}"/>
              </a:ext>
            </a:extLst>
          </p:cNvPr>
          <p:cNvSpPr txBox="1"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8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janvier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février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2025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D5E6B-810F-498E-B14D-305B2F9FD92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0647" y="2135574"/>
            <a:ext cx="6408713" cy="17389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300" b="1" dirty="0">
                <a:sym typeface="Wingdings" panose="05000000000000000000" pitchFamily="2" charset="2"/>
              </a:rPr>
              <a:t>LATHAM ACIER et IMPERIAL POOL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FR" sz="1300" dirty="0">
                <a:ea typeface="Calibri" panose="020F0502020204030204" pitchFamily="34" charset="0"/>
                <a:cs typeface="Times New Roman" panose="02020603050405020304" pitchFamily="18" charset="0"/>
              </a:rPr>
              <a:t>RABAIS DE 4000$ SUR TOUTES LES PISCINES EN ACIER  + THERMOPOMPE 50K BTU SOLSTICE INCLUSE (l’installation de la thermopompe est incluse aussi).</a:t>
            </a:r>
            <a:endParaRPr lang="fr-CA" sz="13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CA" sz="1300" dirty="0"/>
          </a:p>
          <a:p>
            <a:r>
              <a:rPr lang="fr-CA" sz="1300" dirty="0"/>
              <a:t>GRATUIT à l’achat d’une piscine:</a:t>
            </a:r>
          </a:p>
          <a:p>
            <a:pPr marL="285750" indent="-285750">
              <a:buFontTx/>
              <a:buChar char="-"/>
            </a:pPr>
            <a:r>
              <a:rPr lang="fr-CA" sz="1300" dirty="0"/>
              <a:t>Bracelet </a:t>
            </a:r>
            <a:r>
              <a:rPr lang="fr-CA" sz="1300" b="1" dirty="0"/>
              <a:t>SURVEILLANT DÉSIGNÉ</a:t>
            </a:r>
            <a:r>
              <a:rPr lang="fr-CA" sz="1300" dirty="0"/>
              <a:t> de la Société de Sauvetage</a:t>
            </a:r>
          </a:p>
          <a:p>
            <a:pPr marL="285750" indent="-285750">
              <a:buFontTx/>
              <a:buChar char="-"/>
            </a:pPr>
            <a:r>
              <a:rPr lang="fr-CA" sz="1300" dirty="0"/>
              <a:t>2 serviettes Club Piscine</a:t>
            </a:r>
          </a:p>
          <a:p>
            <a:pPr lvl="0"/>
            <a:endParaRPr lang="fr-CA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CE7EE2-A4B2-5123-50DA-E1A69941C17E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0647" y="399593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DE FIBRE 2025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7BCA58-4012-A7FA-44D3-BA017B8DA66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60647" y="4351383"/>
            <a:ext cx="6408713" cy="39087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300" b="1" dirty="0">
                <a:sym typeface="Wingdings" panose="05000000000000000000" pitchFamily="2" charset="2"/>
              </a:rPr>
              <a:t>MOVA</a:t>
            </a:r>
            <a:endParaRPr lang="fr-CA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300" b="1" dirty="0"/>
              <a:t>Aucun changement. Rabais de jusqu’à 4500$ </a:t>
            </a:r>
            <a:r>
              <a:rPr lang="fr-CA" sz="1300" dirty="0"/>
              <a:t>sur certains modèles MOVA équipées et installées (rabais de 2500$ si piscine seule).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300" b="1" dirty="0"/>
              <a:t>RABAIS DE 1500$ </a:t>
            </a:r>
            <a:r>
              <a:rPr lang="fr-CA" sz="1300" dirty="0"/>
              <a:t>(50% de rabais) sur le combo Thermopompe Solstice et le </a:t>
            </a:r>
            <a:r>
              <a:rPr lang="fr-CA" sz="1300" dirty="0" err="1"/>
              <a:t>chlorateur</a:t>
            </a:r>
            <a:r>
              <a:rPr lang="fr-CA" sz="1300" dirty="0"/>
              <a:t> au sel POLARIS </a:t>
            </a:r>
            <a:r>
              <a:rPr lang="fr-CA" sz="1300" dirty="0" err="1"/>
              <a:t>Autoclear</a:t>
            </a:r>
            <a:r>
              <a:rPr lang="fr-CA" sz="1300" dirty="0"/>
              <a:t> (ou équivalent) à prix régulier.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300" dirty="0"/>
              <a:t>Aucune promotion de financement.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300" b="1" dirty="0"/>
          </a:p>
          <a:p>
            <a:r>
              <a:rPr lang="fr-CA" sz="1300" b="1" dirty="0">
                <a:sym typeface="Wingdings" panose="05000000000000000000" pitchFamily="2" charset="2"/>
              </a:rPr>
              <a:t>AQUARINO</a:t>
            </a:r>
            <a:endParaRPr lang="fr-CA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300" b="1" dirty="0"/>
              <a:t>Nouveaux Prix 2025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300" b="1" dirty="0"/>
              <a:t>Rabais jusqu’à 7500$ </a:t>
            </a:r>
            <a:r>
              <a:rPr lang="fr-CA" sz="1300" dirty="0"/>
              <a:t>sur certaines piscines AQUARINO équipées et installées (rabais de 3500$ si piscine seule).</a:t>
            </a:r>
            <a:endParaRPr lang="fr-CA" sz="13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300" b="1" dirty="0"/>
              <a:t>COMBO </a:t>
            </a:r>
            <a:r>
              <a:rPr lang="fr-CA" sz="1300" b="1" dirty="0" err="1"/>
              <a:t>Chlorinateur+Thermopome</a:t>
            </a:r>
            <a:r>
              <a:rPr lang="fr-CA" sz="1300" b="1" dirty="0"/>
              <a:t> GRATUIT: </a:t>
            </a:r>
            <a:r>
              <a:rPr lang="fr-CA" sz="1300" dirty="0"/>
              <a:t>Comprend le combo Thermopompe Solstice 50k BTU et le </a:t>
            </a:r>
            <a:r>
              <a:rPr lang="fr-CA" sz="1300" dirty="0" err="1"/>
              <a:t>chlorinateur</a:t>
            </a:r>
            <a:r>
              <a:rPr lang="fr-CA" sz="1300" dirty="0"/>
              <a:t> au sel MOOV </a:t>
            </a:r>
            <a:r>
              <a:rPr lang="fr-CA" sz="1300" dirty="0" err="1"/>
              <a:t>minisalt</a:t>
            </a:r>
            <a:r>
              <a:rPr lang="fr-CA" sz="1300" dirty="0"/>
              <a:t> 50k L (ou équivalent). Modèle TANZA exclu de la promotion.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300" dirty="0"/>
          </a:p>
          <a:p>
            <a:r>
              <a:rPr lang="fr-CA" sz="1300" dirty="0"/>
              <a:t>GRATUIT à l’achat d’une piscine:</a:t>
            </a:r>
          </a:p>
          <a:p>
            <a:pPr marL="285750" indent="-285750">
              <a:buFontTx/>
              <a:buChar char="-"/>
            </a:pPr>
            <a:r>
              <a:rPr lang="fr-CA" sz="1300" dirty="0"/>
              <a:t>Bracelet </a:t>
            </a:r>
            <a:r>
              <a:rPr lang="fr-CA" sz="1300" b="1" dirty="0"/>
              <a:t>SURVEILLANT DÉSIGNÉ</a:t>
            </a:r>
            <a:r>
              <a:rPr lang="fr-CA" sz="1300" dirty="0"/>
              <a:t> de la Société de Sauvetage</a:t>
            </a:r>
          </a:p>
          <a:p>
            <a:pPr marL="285750" indent="-285750">
              <a:buFontTx/>
              <a:buChar char="-"/>
            </a:pPr>
            <a:r>
              <a:rPr lang="fr-CA" sz="1300" dirty="0"/>
              <a:t>2 serviettes Club Piscine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400" dirty="0"/>
          </a:p>
        </p:txBody>
      </p:sp>
    </p:spTree>
    <p:extLst>
      <p:ext uri="{BB962C8B-B14F-4D97-AF65-F5344CB8AC3E}">
        <p14:creationId xmlns:p14="http://schemas.microsoft.com/office/powerpoint/2010/main" val="2562470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 de texte 28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8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janvier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4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février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2025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THERMOPOMPES 2025</a:t>
            </a:r>
          </a:p>
        </p:txBody>
      </p:sp>
      <p:sp>
        <p:nvSpPr>
          <p:cNvPr id="8" name="Rectangle 7"/>
          <p:cNvSpPr/>
          <p:nvPr>
            <p:custDataLst>
              <p:tags r:id="rId3"/>
            </p:custDataLst>
          </p:nvPr>
        </p:nvSpPr>
        <p:spPr>
          <a:xfrm>
            <a:off x="260647" y="2128086"/>
            <a:ext cx="6408713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/>
              <a:t>SOLSTICE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200$</a:t>
            </a:r>
            <a:r>
              <a:rPr lang="fr-CA" sz="1600" dirty="0"/>
              <a:t> sur le prix RÉGULIER de toutes les Thermopompes SOLSTICE.</a:t>
            </a:r>
          </a:p>
          <a:p>
            <a:endParaRPr lang="fr-CA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/>
          </a:p>
          <a:p>
            <a:r>
              <a:rPr lang="fr-CA" sz="1600" b="1" dirty="0"/>
              <a:t>TTI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100$ </a:t>
            </a:r>
            <a:r>
              <a:rPr lang="fr-CA" sz="1600" dirty="0"/>
              <a:t>sur tous les modèles TTI ECOLO</a:t>
            </a:r>
            <a:endParaRPr lang="fr-CA" sz="16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lvl="1"/>
            <a:endParaRPr lang="fr-CA" sz="1600" dirty="0"/>
          </a:p>
          <a:p>
            <a:endParaRPr lang="fr-CA" sz="1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C4BD33-7303-4103-A793-21C93DC0B41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75719" y="4746798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ACCESSOIRES PISCINES ET SPAS 2025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9BEC494-D4C8-48DB-B968-4FEB2152C3A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10</a:t>
            </a:fld>
            <a:endParaRPr lang="fr-CA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1EE3DC31-EFFB-4C17-9CC7-30E1AD450721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B5624A4-969B-1056-5A11-C3594EF3D29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75719" y="5120769"/>
            <a:ext cx="6408713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On poursuit le rabais en cours sur la pompe et filtreur Polaris. Voir Annexes ACC HORS TERRE.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/>
          </a:p>
          <a:p>
            <a:endParaRPr lang="fr-FR" sz="1600" b="1" dirty="0">
              <a:highlight>
                <a:srgbClr val="7FCDE9"/>
              </a:highlight>
              <a:latin typeface="Calibri Light" panose="020F03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20% de </a:t>
            </a:r>
            <a:r>
              <a:rPr lang="en-CA" sz="1600" dirty="0" err="1"/>
              <a:t>rabais</a:t>
            </a:r>
            <a:r>
              <a:rPr lang="en-CA" sz="1600" dirty="0"/>
              <a:t> sur les tapis </a:t>
            </a:r>
            <a:r>
              <a:rPr lang="en-CA" sz="1600" dirty="0" err="1"/>
              <a:t>chauffants</a:t>
            </a:r>
            <a:endParaRPr lang="en-CA" sz="16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825CD56-A3C5-E20F-C93D-FD24C5FA850D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563885" y="5913882"/>
            <a:ext cx="5705044" cy="15878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D956D71-DA66-430C-CA67-1D1AC3007757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294725" y="7164288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CHIMIQUE 2025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1760E0-A153-8420-8A21-63003B6588C8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275719" y="7493114"/>
            <a:ext cx="6408713" cy="4648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dirty="0"/>
              <a:t>Nouveaux prix 2025 et fin de tous les rabais en cours.</a:t>
            </a:r>
          </a:p>
        </p:txBody>
      </p:sp>
    </p:spTree>
    <p:extLst>
      <p:ext uri="{BB962C8B-B14F-4D97-AF65-F5344CB8AC3E}">
        <p14:creationId xmlns:p14="http://schemas.microsoft.com/office/powerpoint/2010/main" val="1857360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FITNESS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6"/>
            <a:ext cx="6408713" cy="38164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Voir annexes pour les nouveaux rabais en cours.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Nouveautés prévues en janvier 2025. </a:t>
            </a:r>
          </a:p>
          <a:p>
            <a:endParaRPr lang="fr-CA" sz="1600" b="1" dirty="0"/>
          </a:p>
          <a:p>
            <a:r>
              <a:rPr lang="fr-CA" sz="1600" b="1" dirty="0"/>
              <a:t>CONCOURS</a:t>
            </a:r>
            <a:r>
              <a:rPr lang="fr-CA" sz="1600" dirty="0"/>
              <a:t>: Avec tout achat d’un appareil fitness en magasin ou en ligne, courez la chance de remporter votre achat!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fr-FR" sz="1600" dirty="0"/>
              <a:t>Le concours débute le 1er janvier et se termine le 4 février 2025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fr-CA" sz="1600" dirty="0"/>
              <a:t>Inscription au concours obligatoire via le lien ci-dessous.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fr-CA" sz="1600" dirty="0"/>
              <a:t>Le gagnant recevra un chèque de la valeur de son appareil jusqu’à concurrence de 3000$.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fr-CA" sz="1600" dirty="0"/>
              <a:t>Ce concours est 100% assumé par le siège social.</a:t>
            </a:r>
          </a:p>
          <a:p>
            <a:endParaRPr lang="fr-CA" sz="1600" dirty="0"/>
          </a:p>
          <a:p>
            <a:r>
              <a:rPr lang="fr-CA" sz="1600" dirty="0"/>
              <a:t>Lien pour tous les détails et règlements:</a:t>
            </a:r>
          </a:p>
          <a:p>
            <a:r>
              <a:rPr lang="fr-FR" sz="1600" dirty="0">
                <a:hlinkClick r:id="rId7"/>
              </a:rPr>
              <a:t>Courez la chance de gagner votre achat!</a:t>
            </a:r>
            <a:endParaRPr lang="fr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5C7BBEC-1C34-426C-829B-BBBE7AEF9FD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11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15EACBE-1720-4116-90B5-C389F813A16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7" name="Zone de texte 28">
            <a:extLst>
              <a:ext uri="{FF2B5EF4-FFF2-40B4-BE49-F238E27FC236}">
                <a16:creationId xmlns:a16="http://schemas.microsoft.com/office/drawing/2014/main" id="{B2EEE3DC-3491-9AB7-66FD-4D31A25D6353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8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janvier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février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2025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14416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FINANCEMENT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4"/>
            <a:ext cx="6408713" cy="53553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600" b="1" dirty="0"/>
              <a:t>FAIRSTONE </a:t>
            </a:r>
            <a:endParaRPr lang="fr-CA" sz="1600" b="1" dirty="0">
              <a:highlight>
                <a:srgbClr val="FFFF00"/>
              </a:highlight>
            </a:endParaRPr>
          </a:p>
          <a:p>
            <a:r>
              <a:rPr lang="fr-CA" sz="1400" b="1" dirty="0"/>
              <a:t>Plans de financement réguliers: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Autres : </a:t>
            </a:r>
            <a:r>
              <a:rPr lang="fr-CA" sz="1400" dirty="0"/>
              <a:t>Il est possible d’offrir l’un des 5 plans qui sont également offerts en ligne à l’achat de 500$ et+ . Voir votre gestionnaire pour plus de détail.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CA" sz="1400" b="1" dirty="0"/>
              <a:t>3 mois sans paiement ( code 12030)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CA" sz="1400" b="1" dirty="0"/>
              <a:t>12 mois différé avec paiement mensuel min. de 5% (code 13120)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CA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Avec intérêt:</a:t>
            </a:r>
            <a:endParaRPr lang="fr-CA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4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4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4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4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1"/>
            <a:endParaRPr lang="fr-CA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1"/>
            <a:endParaRPr lang="fr-CA" sz="1600" b="1" dirty="0"/>
          </a:p>
          <a:p>
            <a:r>
              <a:rPr lang="fr-CA" sz="1600" b="1" dirty="0"/>
              <a:t>FINANCE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PISCINE CREUSÉE &amp; FIBRE : </a:t>
            </a:r>
            <a:r>
              <a:rPr lang="fr-CA" sz="1400" dirty="0"/>
              <a:t>Aucun financement inclus dans la promotion du mois mais il est suggéré d’utiliser le Financement </a:t>
            </a:r>
            <a:r>
              <a:rPr lang="fr-CA" sz="1400" b="1" dirty="0"/>
              <a:t>FINANCE IT </a:t>
            </a:r>
            <a:r>
              <a:rPr lang="fr-CA" sz="1400" dirty="0"/>
              <a:t>car le plafond de financement n’est pas limité à 30K$. Suggestion : Promo 6 mois sans paiement.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400" dirty="0"/>
              <a:t>Prêt ouvert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400" dirty="0"/>
              <a:t>Financement sur terme @ 13.99% pour le consommateur.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400" dirty="0"/>
              <a:t>Le 6 mois débute à la livraison/installation.</a:t>
            </a:r>
            <a:endParaRPr lang="fr-CA" sz="1600" b="1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52F2973-F05A-4798-9E29-20BCA9224E8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12</a:t>
            </a:fld>
            <a:endParaRPr lang="fr-CA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88D9F2B-CBC4-4BB5-AAFD-1DAE9256203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629475"/>
            <a:ext cx="2492896" cy="402434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7605141-FA74-5EED-1FEA-96577633EC46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979104" y="3872888"/>
            <a:ext cx="2971798" cy="1865703"/>
          </a:xfrm>
          <a:prstGeom prst="rect">
            <a:avLst/>
          </a:prstGeom>
        </p:spPr>
      </p:pic>
      <p:sp>
        <p:nvSpPr>
          <p:cNvPr id="10" name="Zone de texte 28">
            <a:extLst>
              <a:ext uri="{FF2B5EF4-FFF2-40B4-BE49-F238E27FC236}">
                <a16:creationId xmlns:a16="http://schemas.microsoft.com/office/drawing/2014/main" id="{F1CDD729-D564-8E3A-F4B6-4E5FF1FDDC80}"/>
              </a:ext>
            </a:extLst>
          </p:cNvPr>
          <p:cNvSpPr txBox="1"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8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janvier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février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2025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935674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7642783BF5F549AD8264003DAC5479" ma:contentTypeVersion="3" ma:contentTypeDescription="Crée un document." ma:contentTypeScope="" ma:versionID="dce298f75874831ad4b69d3856d448b0">
  <xsd:schema xmlns:xsd="http://www.w3.org/2001/XMLSchema" xmlns:xs="http://www.w3.org/2001/XMLSchema" xmlns:p="http://schemas.microsoft.com/office/2006/metadata/properties" xmlns:ns2="be3f775b-911d-49d5-9e9c-70e93af7b92b" targetNamespace="http://schemas.microsoft.com/office/2006/metadata/properties" ma:root="true" ma:fieldsID="b29a77cbcb573c1061bfa2edeefbf14c" ns2:_="">
    <xsd:import namespace="be3f775b-911d-49d5-9e9c-70e93af7b9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3f775b-911d-49d5-9e9c-70e93af7b9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1E1C49C-B943-4250-BB39-87973E798E95}">
  <ds:schemaRefs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purl.org/dc/terms/"/>
    <ds:schemaRef ds:uri="http://purl.org/dc/elements/1.1/"/>
    <ds:schemaRef ds:uri="8682f7ec-9bef-4d6d-8d5c-0ec39e002ff3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7E03884-2A2C-42F1-9733-3C289E19EAAF}"/>
</file>

<file path=customXml/itemProps3.xml><?xml version="1.0" encoding="utf-8"?>
<ds:datastoreItem xmlns:ds="http://schemas.openxmlformats.org/officeDocument/2006/customXml" ds:itemID="{993C392B-F690-4267-8D4E-0D4DB769B88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50112</TotalTime>
  <Words>1543</Words>
  <Application>Microsoft Office PowerPoint</Application>
  <PresentationFormat>Affichage à l'écran (4:3)</PresentationFormat>
  <Paragraphs>194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23" baseType="lpstr">
      <vt:lpstr>Aptos</vt:lpstr>
      <vt:lpstr>Aptos Narrow</vt:lpstr>
      <vt:lpstr>Arial</vt:lpstr>
      <vt:lpstr>Arial Black</vt:lpstr>
      <vt:lpstr>Calibri</vt:lpstr>
      <vt:lpstr>Calibri Light</vt:lpstr>
      <vt:lpstr>Courier New</vt:lpstr>
      <vt:lpstr>Symbol</vt:lpstr>
      <vt:lpstr>Times New Roman</vt:lpstr>
      <vt:lpstr>Wingdings</vt:lpstr>
      <vt:lpstr>Thème Office</vt:lpstr>
      <vt:lpstr>Présentation PowerPoint</vt:lpstr>
      <vt:lpstr>Instructions de vente 8 janvier au 4 février 2025</vt:lpstr>
      <vt:lpstr>Instructions de vente 8 janvier au 4 février 2025</vt:lpstr>
      <vt:lpstr>Instructions de vente 8 janvier au 4 février 2025</vt:lpstr>
      <vt:lpstr>Instructions de vente 8 janvier au 4 février 2025</vt:lpstr>
      <vt:lpstr>Instructions de vente 8 janvier au 4 février 2025</vt:lpstr>
      <vt:lpstr>Instructions de vente 8 janvier au 4 février 2025</vt:lpstr>
      <vt:lpstr>Instructions de vente 8 janvier au 4 février 2025</vt:lpstr>
      <vt:lpstr>Instructions de vente 8 janvier au 4 février 2025</vt:lpstr>
      <vt:lpstr>Instructions de vente 8 janvier au 4 février 2025</vt:lpstr>
      <vt:lpstr>Instructions de vente 8 janvier au 4 février 2025</vt:lpstr>
      <vt:lpstr>Instructions de vente 8 janvier au 4 février 2025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Cindy Angelini</dc:creator>
  <cp:lastModifiedBy>Veronique Dion</cp:lastModifiedBy>
  <cp:revision>1533</cp:revision>
  <cp:lastPrinted>2022-04-27T14:46:34Z</cp:lastPrinted>
  <dcterms:created xsi:type="dcterms:W3CDTF">2017-05-24T18:44:46Z</dcterms:created>
  <dcterms:modified xsi:type="dcterms:W3CDTF">2024-12-23T21:33:30Z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0x010100DF7642783BF5F549AD8264003DAC5479</vt:lpwstr>
  </property>
  <property fmtid="{D5CDD505-2E9C-101B-9397-08002B2CF9AE}" pid="3" name="CPProgramYearTaxo">
    <vt:lpwstr>395;#2021|67d85b28-9b94-4781-b0e7-a14780e90c05</vt:lpwstr>
  </property>
  <property fmtid="{D5CDD505-2E9C-101B-9397-08002B2CF9AE}" pid="4" name="CPDivisionTaxo">
    <vt:lpwstr>25;#Marketing / Marketing|0ce858d0-7a7f-4510-bcd3-2b6f6fd047da</vt:lpwstr>
  </property>
  <property fmtid="{D5CDD505-2E9C-101B-9397-08002B2CF9AE}" pid="5" name="CPLanguageTaxos">
    <vt:lpwstr>4;#FR|5610c2fe-5657-4d60-b756-13a60f4693e4</vt:lpwstr>
  </property>
  <property fmtid="{D5CDD505-2E9C-101B-9397-08002B2CF9AE}" pid="6" name="CPProviderTaxo">
    <vt:lpwstr/>
  </property>
  <property fmtid="{D5CDD505-2E9C-101B-9397-08002B2CF9AE}" pid="7" name="CPTargetDepartmentTaxos">
    <vt:lpwstr/>
  </property>
</Properties>
</file>