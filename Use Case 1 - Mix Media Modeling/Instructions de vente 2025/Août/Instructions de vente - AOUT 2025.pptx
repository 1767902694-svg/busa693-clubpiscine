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5" r:id="rId5"/>
    <p:sldId id="281" r:id="rId6"/>
    <p:sldId id="276" r:id="rId7"/>
    <p:sldId id="285" r:id="rId8"/>
    <p:sldId id="275" r:id="rId9"/>
    <p:sldId id="267" r:id="rId10"/>
    <p:sldId id="270" r:id="rId11"/>
    <p:sldId id="266" r:id="rId12"/>
    <p:sldId id="273" r:id="rId13"/>
    <p:sldId id="272" r:id="rId14"/>
    <p:sldId id="286" r:id="rId1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1447AB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05/08/2025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2025-08-05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2025-08-05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2025-08-05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2025-08-05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2025-08-05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2025-08-05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2025-08-05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10" Type="http://schemas.openxmlformats.org/officeDocument/2006/relationships/image" Target="../media/image1.png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image" Target="../media/image1.png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1.png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1.png"/><Relationship Id="rId4" Type="http://schemas.openxmlformats.org/officeDocument/2006/relationships/tags" Target="../tags/tag56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3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2.png"/><Relationship Id="rId5" Type="http://schemas.openxmlformats.org/officeDocument/2006/relationships/tags" Target="../tags/tag75.xml"/><Relationship Id="rId10" Type="http://schemas.openxmlformats.org/officeDocument/2006/relationships/hyperlink" Target="https://www.clubpiscine.ca/fr/financement" TargetMode="External"/><Relationship Id="rId4" Type="http://schemas.openxmlformats.org/officeDocument/2006/relationships/tags" Target="../tags/tag74.xml"/><Relationship Id="rId9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hyperlink" Target="https://www.kasemedesign.ca/fr/collections/club-piscine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6350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1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1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75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0$ de rabais sur les Solstice et Jacuzzi</a:t>
            </a:r>
            <a:r>
              <a:rPr lang="fr-FR" altLang="fr-FR" sz="11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+ ICO gratuit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Financement 48 mois à 5.99% sur les spas détentes ou 12 mois sans paiement ni intérêt.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1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INNOVASPA: Marche Deluxe gratuite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1500$ sur toutes les piscines hors terre chauffée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11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Financement 48 mois à 5.99% sur les spas détentes ou 12 mois sans paiement ni intérêt.</a:t>
            </a:r>
            <a:endParaRPr lang="fr-CA" sz="11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CREUSÉE: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100" dirty="0">
                <a:solidFill>
                  <a:srgbClr val="000000"/>
                </a:solidFill>
                <a:latin typeface="Nunito" pitchFamily="2" charset="0"/>
                <a:cs typeface="Times New Roman" panose="02020603050405020304" pitchFamily="18" charset="0"/>
              </a:rPr>
              <a:t>Jusqu’à 5000$ sur  les piscines creusées en acier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solidFill>
                  <a:srgbClr val="000000"/>
                </a:solidFill>
                <a:latin typeface="Nunito" pitchFamily="2" charset="0"/>
                <a:cs typeface="Times New Roman" panose="02020603050405020304" pitchFamily="18" charset="0"/>
              </a:rPr>
              <a:t>Financement FINANCE IT 6 mois sans paiement &amp; Intérêt (si pas de financement on offre un rabais supplémentaire de 2000$) . Si installation en 2025 seulement.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cs typeface="Times New Roman" panose="02020603050405020304" pitchFamily="18" charset="0"/>
              </a:rPr>
              <a:t>MEUBLE:  </a:t>
            </a:r>
            <a:r>
              <a:rPr lang="fr-FR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Jusqu'à 40% de rabais sur les meubles, table-foyer et accessoires sélectionnés+ 24 mois sans intérêt.</a:t>
            </a: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GAZEBO:</a:t>
            </a: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Jusqu’à 1000$ de rabais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Voir promo du manufacturier en cours.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Combo Polaris pompe et filtreur à 499.99$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HTH: à l’achat de 3 sachets 1 gratuit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de rabais sur les jeux et gonflables (exclut aide à la nage et sport)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de rabais sur les toiles solaires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sur les lumières </a:t>
            </a:r>
            <a:r>
              <a:rPr lang="fr-CA" sz="105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Dals</a:t>
            </a:r>
            <a:endParaRPr lang="fr-CA" sz="105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0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1500$ de rabais sur les cabanons Fiberwood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1EABBC-C49F-FFC2-4E49-3F25AF558C5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011CA4-D025-2CF7-B847-8536ABDB2C7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B0C627-E33D-56E6-4D72-651D6EA52AA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16731" y="8700357"/>
            <a:ext cx="4824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fr-FR" sz="8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toutes les promotions détaillées dans les pages suivantes.</a:t>
            </a:r>
            <a:endParaRPr lang="fr-FR" sz="8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634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JACUZZI </a:t>
            </a:r>
            <a:endParaRPr lang="fr-CA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Rabais de 750$ </a:t>
            </a:r>
            <a:r>
              <a:rPr lang="fr-FR" sz="1400" dirty="0">
                <a:latin typeface="Nunito" pitchFamily="2" charset="0"/>
              </a:rPr>
              <a:t>sur tous les JACUZZI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ICO GRATUIT </a:t>
            </a:r>
            <a:r>
              <a:rPr lang="fr-FR" sz="1400" dirty="0">
                <a:latin typeface="Nunito" pitchFamily="2" charset="0"/>
              </a:rPr>
              <a:t>à l’achat de m’importe quel modèle de spa Jacuzzi ou Solstice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Aucun rabais si le client ne prend pas le ICO.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50% sur l’option de </a:t>
            </a:r>
            <a:r>
              <a:rPr lang="fr-FR" sz="1400" b="1" dirty="0">
                <a:latin typeface="Nunito" pitchFamily="2" charset="0"/>
              </a:rPr>
              <a:t>couleur mat Canyon </a:t>
            </a:r>
            <a:r>
              <a:rPr lang="fr-FR" sz="1400" dirty="0">
                <a:latin typeface="Nunito" pitchFamily="2" charset="0"/>
              </a:rPr>
              <a:t>PTR 182471, 182472, 182473 et 182474 (valeur de 500$ donc équivaut à un rabais de 250$). Promotion non diffusée.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et le GFCI standards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  <a:endParaRPr lang="fr-FR" sz="1400" b="1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La livraison </a:t>
            </a:r>
            <a:r>
              <a:rPr lang="fr-FR" sz="1400" b="1" dirty="0">
                <a:latin typeface="Nunito" pitchFamily="2" charset="0"/>
              </a:rPr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Rabais de 500$ si le client ne prend pas le financement.</a:t>
            </a:r>
          </a:p>
          <a:p>
            <a:endParaRPr lang="fr-CA" sz="1400" b="1" dirty="0">
              <a:latin typeface="Nunito" pitchFamily="2" charset="0"/>
            </a:endParaRPr>
          </a:p>
          <a:p>
            <a:r>
              <a:rPr lang="fr-FR" sz="1400" b="1" dirty="0">
                <a:effectLst/>
                <a:latin typeface="Nunito" pitchFamily="2" charset="0"/>
              </a:rPr>
              <a:t>TROUSSE 2025</a:t>
            </a:r>
          </a:p>
          <a:p>
            <a:r>
              <a:rPr lang="fr-FR" sz="1400" dirty="0">
                <a:effectLst/>
                <a:latin typeface="Nunito" pitchFamily="2" charset="0"/>
              </a:rPr>
              <a:t>Tous les modèles viennent avec la promotion ‘’Trousse énergétique </a:t>
            </a:r>
            <a:r>
              <a:rPr lang="fr-FR" sz="1400" dirty="0" err="1">
                <a:effectLst/>
                <a:latin typeface="Nunito" pitchFamily="2" charset="0"/>
              </a:rPr>
              <a:t>SmartTub</a:t>
            </a:r>
            <a:r>
              <a:rPr lang="fr-FR" sz="1400" dirty="0">
                <a:effectLst/>
                <a:latin typeface="Nunito" pitchFamily="2" charset="0"/>
              </a:rPr>
              <a:t> </a:t>
            </a:r>
            <a:r>
              <a:rPr lang="fr-FR" sz="1400" dirty="0" err="1">
                <a:effectLst/>
                <a:latin typeface="Nunito" pitchFamily="2" charset="0"/>
              </a:rPr>
              <a:t>play</a:t>
            </a:r>
            <a:r>
              <a:rPr lang="fr-FR" sz="1400" dirty="0">
                <a:effectLst/>
                <a:latin typeface="Nunito" pitchFamily="2" charset="0"/>
              </a:rPr>
              <a:t>’’ d’une valeur ajoutée de 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1998$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999$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300$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PUBLICITÉ</a:t>
            </a:r>
            <a:r>
              <a:rPr lang="fr-CA" sz="1400" dirty="0">
                <a:latin typeface="Nunito" pitchFamily="2" charset="0"/>
              </a:rPr>
              <a:t>: La promotion jusqu’à 3300$ de rabais et avantages comprend 750$ de rabais + 1998$ Trousse d’économie d’énergie sur la série J300 + valeur du ICO de 560$.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BF7464D2-8A1C-6390-AFDD-26707DAEF7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0023B-B8AE-62B5-EBA4-FD4F7CFFF51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pic>
        <p:nvPicPr>
          <p:cNvPr id="15" name="Image 1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FBDB696A-4C0C-3F06-1951-1FFE6A5440D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90878E-C259-7E50-05ED-F152041D84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SOLSTICE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750$ sur tous les SOLSTICE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ICO GRATUIT </a:t>
            </a:r>
            <a:r>
              <a:rPr lang="fr-FR" sz="1400" dirty="0">
                <a:latin typeface="Nunito" pitchFamily="2" charset="0"/>
              </a:rPr>
              <a:t>à l’achat de m’importe quel modèle de spa Jacuzzi ou Solstice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Aucun rabais si le client ne prend pas le ICO.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Rabais de 500$ si le client ne prend pas le financement.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latin typeface="Nunito" pitchFamily="2" charset="0"/>
              </a:rPr>
              <a:t>PROMO: OBTENEZ 2 SERVIETTES SOLSTICE À L’ACHAT D’UN SPA </a:t>
            </a:r>
            <a:r>
              <a:rPr lang="fr-CA" sz="1400" dirty="0">
                <a:latin typeface="Nunito" pitchFamily="2" charset="0"/>
              </a:rPr>
              <a:t>(</a:t>
            </a:r>
            <a:r>
              <a:rPr lang="fr-CA" sz="1400" i="1" dirty="0">
                <a:latin typeface="Nunito" pitchFamily="2" charset="0"/>
              </a:rPr>
              <a:t>PTR 173988)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La livraison </a:t>
            </a:r>
            <a:r>
              <a:rPr lang="fr-CA" sz="1400" b="1" dirty="0">
                <a:latin typeface="Nunito" pitchFamily="2" charset="0"/>
              </a:rPr>
              <a:t>N’EST PAS INCLUSE</a:t>
            </a:r>
          </a:p>
          <a:p>
            <a:pPr lvl="0"/>
            <a:endParaRPr lang="fr-CA" sz="1400" b="1" dirty="0">
              <a:latin typeface="Nunito" pitchFamily="2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INNOVASPA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PROMO</a:t>
            </a:r>
            <a:r>
              <a:rPr lang="fr-CA" sz="1400" dirty="0">
                <a:latin typeface="Nunito" pitchFamily="2" charset="0"/>
              </a:rPr>
              <a:t>: À l’achat d’un spa roto moulé, obtenez une </a:t>
            </a:r>
            <a:r>
              <a:rPr lang="fr-CA" sz="1400" b="1" dirty="0">
                <a:latin typeface="Nunito" pitchFamily="2" charset="0"/>
              </a:rPr>
              <a:t>marche Deluxe gratuitement </a:t>
            </a:r>
            <a:r>
              <a:rPr lang="fr-CA" sz="1400" dirty="0">
                <a:latin typeface="Nunito" pitchFamily="2" charset="0"/>
              </a:rPr>
              <a:t>(valeur de 499$)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Concours Gagnez votre spa </a:t>
            </a:r>
            <a:r>
              <a:rPr lang="fr-CA" sz="1400" dirty="0" err="1">
                <a:latin typeface="Nunito" pitchFamily="2" charset="0"/>
              </a:rPr>
              <a:t>Moonsoon</a:t>
            </a:r>
            <a:r>
              <a:rPr lang="fr-CA" sz="1400" dirty="0">
                <a:latin typeface="Nunito" pitchFamily="2" charset="0"/>
              </a:rPr>
              <a:t>. Détail au clubpiscine.ca/concours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Spa Blizzard édition limitée en promotion à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La livraison n’est pas incluse.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Financement: </a:t>
            </a:r>
            <a:r>
              <a:rPr lang="fr-FR" sz="1400" dirty="0">
                <a:latin typeface="Nunito" pitchFamily="2" charset="0"/>
              </a:rPr>
              <a:t>Il n’y a pas de promotion de financement, mais vous pouvez offrir l’un des plans réguliers qui se trouvent à la dernière page des instructions de vente.</a:t>
            </a: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C6CA8B6-F6D3-0B7F-1920-ACB8FA7910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D06B021-6AF8-E12B-F76A-1801672E7A2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BAEE-A4DA-F4F1-9BDE-F27C81344C9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855BF8-9912-892D-C2CA-F1623A1A65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1000$ de rabais </a:t>
            </a:r>
            <a:r>
              <a:rPr lang="fr-CA" sz="1600" dirty="0">
                <a:latin typeface="Nunito" pitchFamily="2" charset="0"/>
              </a:rPr>
              <a:t>sur tous les spas de 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La livraison et frais de grue </a:t>
            </a:r>
            <a:r>
              <a:rPr lang="fr-CA" sz="1600" b="1" dirty="0">
                <a:latin typeface="Nunito" pitchFamily="2" charset="0"/>
              </a:rPr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1334" y="4607880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Pure Cube</a:t>
            </a:r>
            <a:r>
              <a:rPr lang="fr-CA" sz="1600" dirty="0">
                <a:latin typeface="Nunito" pitchFamily="2" charset="0"/>
              </a:rPr>
              <a:t>: Les rabais se poursuivent. Comme il y a des prix MAP, ces rabais sont valides en magasins seulement et non en ligne.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Jacuzzi</a:t>
            </a:r>
            <a:r>
              <a:rPr lang="fr-CA" sz="1600" dirty="0">
                <a:latin typeface="Nunito" pitchFamily="2" charset="0"/>
              </a:rPr>
              <a:t>: Prix régulier en cours.</a:t>
            </a:r>
            <a:endParaRPr lang="fr-CA" sz="2000" dirty="0">
              <a:latin typeface="Nunito" pitchFamily="2" charset="0"/>
            </a:endParaRPr>
          </a:p>
          <a:p>
            <a:endParaRPr lang="fr-CA" sz="1600" b="1" dirty="0"/>
          </a:p>
        </p:txBody>
      </p:sp>
      <p:pic>
        <p:nvPicPr>
          <p:cNvPr id="7" name="Image 6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116E73-58FD-C6F8-E221-1B211D4230B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Zone de texte 28">
            <a:extLst>
              <a:ext uri="{FF2B5EF4-FFF2-40B4-BE49-F238E27FC236}">
                <a16:creationId xmlns:a16="http://schemas.microsoft.com/office/drawing/2014/main" id="{803D3DD9-0B1A-2A12-6DE0-70C14288669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C2A7-721D-11B3-CB7C-19ACD845385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 DE 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2C64BA-8CAE-8C04-5537-DA47EC75BA4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80F65-8900-D6B8-DB06-977F8F09247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5" y="406794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SAUNAS</a:t>
            </a: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232318"/>
            <a:ext cx="640871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</a:t>
            </a: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Jusqu’à 5000$ de rabais sur les piscines en acier.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Financement 6 mois sans paiement ni intérêt avec FINANCE IT (installation en 2025 seulement).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 le client ne prend pas de finalement, on offre 2000$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Annexes CREUSÉE pour le détail des rabais.</a:t>
            </a:r>
            <a:endParaRPr lang="fr-CA" sz="1200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4983137"/>
            <a:ext cx="6408713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MOVA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jusqu’à 4500$ </a:t>
            </a:r>
            <a:r>
              <a:rPr lang="fr-CA" sz="1200" dirty="0">
                <a:latin typeface="Nunito" pitchFamily="2" charset="0"/>
              </a:rPr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Note:  Le frais d’extra au détail pour une couleur est de 5000$</a:t>
            </a:r>
          </a:p>
          <a:p>
            <a:endParaRPr lang="fr-CA" sz="1200" b="1" dirty="0">
              <a:latin typeface="Nunito" pitchFamily="2" charset="0"/>
              <a:sym typeface="Wingdings" panose="05000000000000000000" pitchFamily="2" charset="2"/>
            </a:endParaRPr>
          </a:p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AQUARINO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jusqu’à 7500$ </a:t>
            </a:r>
            <a:r>
              <a:rPr lang="fr-CA" sz="1200" dirty="0">
                <a:latin typeface="Nunito" pitchFamily="2" charset="0"/>
              </a:rPr>
              <a:t>sur certaines piscines AQUARINO équipées et installées (rabais de 3500$ si piscine seule).</a:t>
            </a:r>
            <a:endParaRPr lang="fr-CA" sz="12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200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9DE325-0305-1050-A35E-EDF95C503DD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F8DB24-94C9-3783-C097-D47CC67D9A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PISCINE CREUSÉE</a:t>
            </a:r>
          </a:p>
        </p:txBody>
      </p:sp>
      <p:sp>
        <p:nvSpPr>
          <p:cNvPr id="13" name="Zone de texte 28">
            <a:extLst>
              <a:ext uri="{FF2B5EF4-FFF2-40B4-BE49-F238E27FC236}">
                <a16:creationId xmlns:a16="http://schemas.microsoft.com/office/drawing/2014/main" id="{207F974E-CDE1-B3D2-4AF4-D970DF8EF67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B8EF34-1CF2-9BEE-3BB0-D103FE85E51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89DE9-E0BA-D962-9F41-6A66F25ACEC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7" y="442798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FIBRE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33479"/>
            <a:ext cx="6408713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  <a:sym typeface="Wingdings" panose="05000000000000000000" pitchFamily="2" charset="2"/>
              </a:rPr>
              <a:t>CARVIN  &amp; TRENDIUM (VOGUE) </a:t>
            </a:r>
            <a:endParaRPr lang="fr-CA" sz="16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1200$ </a:t>
            </a:r>
            <a:r>
              <a:rPr lang="fr-CA" sz="1200" dirty="0">
                <a:latin typeface="Nunito" pitchFamily="2" charset="0"/>
              </a:rPr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 Rabais de 300$</a:t>
            </a:r>
            <a:r>
              <a:rPr lang="fr-CA" sz="1200" dirty="0">
                <a:latin typeface="Nunito" pitchFamily="2" charset="0"/>
              </a:rPr>
              <a:t> sur prix régulier d’une thermopompe SOLSTICE, TTI ou Nirvana. 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Rabais de 500$ si le client ne prend pas le financement.</a:t>
            </a:r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  <a:endParaRPr lang="fr-CA" sz="1600" dirty="0">
              <a:latin typeface="Nunito" pitchFamily="2" charset="0"/>
            </a:endParaRPr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1BC1BC2A-9BCB-D60B-BEF6-5F447431DE7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8" name="Zone de texte 28">
            <a:extLst>
              <a:ext uri="{FF2B5EF4-FFF2-40B4-BE49-F238E27FC236}">
                <a16:creationId xmlns:a16="http://schemas.microsoft.com/office/drawing/2014/main" id="{A18FB2CC-34EB-41CF-B693-31551C652A8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E8781-0BEE-9A81-2F83-51A7DA7432A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HORS TERRE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1AE4CF-D514-F8DF-1114-475CE61A90C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B68E0-6050-2D62-4CF0-827C096C22F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8" y="5523200"/>
            <a:ext cx="6408713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  <a:sym typeface="Wingdings" panose="05000000000000000000" pitchFamily="2" charset="2"/>
              </a:rPr>
              <a:t>AQUABOIS </a:t>
            </a:r>
            <a:endParaRPr lang="fr-CA" sz="14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750$ </a:t>
            </a:r>
            <a:r>
              <a:rPr lang="fr-CA" sz="1200" dirty="0">
                <a:latin typeface="Nunito" pitchFamily="2" charset="0"/>
              </a:rPr>
              <a:t>sur le prix régulier de toutes les piscines de bois hors sol ou semi-creusées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Exception: La </a:t>
            </a:r>
            <a:r>
              <a:rPr lang="fr-CA" sz="1200" dirty="0" err="1">
                <a:latin typeface="Nunito" pitchFamily="2" charset="0"/>
              </a:rPr>
              <a:t>Tundra</a:t>
            </a:r>
            <a:r>
              <a:rPr lang="fr-CA" sz="1200" dirty="0">
                <a:latin typeface="Nunito" pitchFamily="2" charset="0"/>
              </a:rPr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 Vous référez aux plans de financement réguliers.</a:t>
            </a:r>
            <a:endParaRPr lang="fr-CA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2EE72-7192-6E45-BD4C-7FDB69B43BF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8" y="500346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33479"/>
            <a:ext cx="640871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SOLSTICE: </a:t>
            </a:r>
            <a:r>
              <a:rPr lang="fr-CA" sz="1400" dirty="0">
                <a:latin typeface="Nunito" pitchFamily="2" charset="0"/>
              </a:rPr>
              <a:t>Rabais de 300$ sur le prix RÉGULIER de toutes les Thermopompes SOLSTICE.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b="1" dirty="0">
                <a:latin typeface="Nunito" pitchFamily="2" charset="0"/>
              </a:rPr>
              <a:t>NOUVEAUTÉ</a:t>
            </a:r>
            <a:r>
              <a:rPr lang="fr-CA" sz="1400" dirty="0">
                <a:latin typeface="Nunito" pitchFamily="2" charset="0"/>
              </a:rPr>
              <a:t>: Thermopompe Solstice HVP50 fabriqué au Québec en promotion à 1399.99$.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TTI : </a:t>
            </a:r>
            <a:r>
              <a:rPr lang="fr-CA" sz="1400" dirty="0">
                <a:latin typeface="Nunito" pitchFamily="2" charset="0"/>
              </a:rPr>
              <a:t>Rabais de 200$ sur tous les modèles TTI ECOLO.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5719" y="3984898"/>
            <a:ext cx="640871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POLARIS :</a:t>
            </a:r>
            <a:r>
              <a:rPr lang="fr-CA" sz="1400" dirty="0">
                <a:latin typeface="Nunito" pitchFamily="2" charset="0"/>
              </a:rPr>
              <a:t> Combo Polaris en promo à 499.99$! Pompe en promo à 249.99$ (176145) et filtreur en promo à 249.99$ ( 176146 ). Même rabais si acheté seul ou en combo.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Robots Polaris</a:t>
            </a:r>
            <a:r>
              <a:rPr lang="fr-CA" sz="1400" dirty="0">
                <a:latin typeface="Nunito" pitchFamily="2" charset="0"/>
              </a:rPr>
              <a:t>: À l’achat d’un robot Polaris de 1499$ et plus (</a:t>
            </a:r>
            <a:r>
              <a:rPr lang="fr-CA" sz="1400" dirty="0" err="1">
                <a:latin typeface="Nunito" pitchFamily="2" charset="0"/>
              </a:rPr>
              <a:t>Epic</a:t>
            </a:r>
            <a:r>
              <a:rPr lang="fr-CA" sz="1400" dirty="0">
                <a:latin typeface="Nunito" pitchFamily="2" charset="0"/>
              </a:rPr>
              <a:t> 8640 et 8642iQ, 9450, Alpha </a:t>
            </a:r>
            <a:r>
              <a:rPr lang="fr-CA" sz="1400" dirty="0" err="1">
                <a:latin typeface="Nunito" pitchFamily="2" charset="0"/>
              </a:rPr>
              <a:t>iQ</a:t>
            </a:r>
            <a:r>
              <a:rPr lang="fr-CA" sz="1400" dirty="0">
                <a:latin typeface="Nunito" pitchFamily="2" charset="0"/>
              </a:rPr>
              <a:t> et </a:t>
            </a:r>
            <a:r>
              <a:rPr lang="fr-CA" sz="1400" dirty="0" err="1">
                <a:latin typeface="Nunito" pitchFamily="2" charset="0"/>
              </a:rPr>
              <a:t>iQ</a:t>
            </a:r>
            <a:r>
              <a:rPr lang="fr-CA" sz="1400" dirty="0">
                <a:latin typeface="Nunito" pitchFamily="2" charset="0"/>
              </a:rPr>
              <a:t> Plus ainsi que Freedom et Freedom Plus) , obtenez </a:t>
            </a:r>
            <a:r>
              <a:rPr lang="fr-CA" sz="1400" b="1" dirty="0">
                <a:latin typeface="Nunito" pitchFamily="2" charset="0"/>
              </a:rPr>
              <a:t>12 mois sans paiement (code 12120</a:t>
            </a:r>
            <a:r>
              <a:rPr lang="fr-CA" sz="1400" dirty="0">
                <a:latin typeface="Nunito" pitchFamily="2" charset="0"/>
              </a:rPr>
              <a:t>).Voir feuille promo pour plus de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SPLASH</a:t>
            </a:r>
            <a:r>
              <a:rPr lang="fr-CA" sz="1400" dirty="0">
                <a:latin typeface="Nunito" pitchFamily="2" charset="0"/>
              </a:rPr>
              <a:t>: La pompe et le filtreur sont en promotion à 219.99$ chaque.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1</a:t>
            </a:r>
            <a:r>
              <a:rPr lang="fr-FR" sz="1400" b="1" dirty="0">
                <a:latin typeface="Nunito" pitchFamily="2" charset="0"/>
              </a:rPr>
              <a:t>5% de rabais sur les jeux et gonflables (exclut aide à la nage et sport)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15% de rabais sur les toiles solaires hors terre et creusée!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>
                <a:latin typeface="Nunito" pitchFamily="2" charset="0"/>
              </a:rPr>
              <a:t>MAYTRONICS: </a:t>
            </a:r>
            <a:r>
              <a:rPr lang="en-CA" sz="1400" dirty="0" err="1">
                <a:latin typeface="Nunito" pitchFamily="2" charset="0"/>
              </a:rPr>
              <a:t>Rabais</a:t>
            </a:r>
            <a:r>
              <a:rPr lang="en-CA" sz="1400" dirty="0">
                <a:latin typeface="Nunito" pitchFamily="2" charset="0"/>
              </a:rPr>
              <a:t> postal pour le client pour les robots </a:t>
            </a:r>
            <a:r>
              <a:rPr lang="en-CA" sz="1400" dirty="0" err="1">
                <a:latin typeface="Nunito" pitchFamily="2" charset="0"/>
              </a:rPr>
              <a:t>nettoyeurs</a:t>
            </a:r>
            <a:r>
              <a:rPr lang="en-CA" sz="1400" dirty="0">
                <a:latin typeface="Nunito" pitchFamily="2" charset="0"/>
              </a:rPr>
              <a:t> (</a:t>
            </a:r>
            <a:r>
              <a:rPr lang="en-CA" sz="1400" dirty="0" err="1">
                <a:latin typeface="Nunito" pitchFamily="2" charset="0"/>
              </a:rPr>
              <a:t>voir</a:t>
            </a:r>
            <a:r>
              <a:rPr lang="en-CA" sz="1400" dirty="0">
                <a:latin typeface="Nunito" pitchFamily="2" charset="0"/>
              </a:rPr>
              <a:t> affiche </a:t>
            </a:r>
            <a:r>
              <a:rPr lang="en-CA" sz="1400" b="1" dirty="0">
                <a:latin typeface="Nunito" pitchFamily="2" charset="0"/>
              </a:rPr>
              <a:t>à </a:t>
            </a:r>
            <a:r>
              <a:rPr lang="en-CA" sz="1400" b="1" dirty="0" err="1">
                <a:latin typeface="Nunito" pitchFamily="2" charset="0"/>
              </a:rPr>
              <a:t>imprimer</a:t>
            </a:r>
            <a:r>
              <a:rPr lang="en-CA" sz="1400" b="1" dirty="0">
                <a:latin typeface="Nunito" pitchFamily="2" charset="0"/>
              </a:rPr>
              <a:t> </a:t>
            </a:r>
            <a:r>
              <a:rPr lang="en-CA" sz="1400" dirty="0">
                <a:latin typeface="Nunito" pitchFamily="2" charset="0"/>
              </a:rPr>
              <a:t>sur le </a:t>
            </a:r>
            <a:r>
              <a:rPr lang="en-CA" sz="1400" dirty="0" err="1">
                <a:latin typeface="Nunito" pitchFamily="2" charset="0"/>
              </a:rPr>
              <a:t>Sharepoint</a:t>
            </a:r>
            <a:r>
              <a:rPr lang="en-CA" sz="1400" dirty="0">
                <a:latin typeface="Nunito" pitchFamily="2" charset="0"/>
              </a:rPr>
              <a:t>). Les </a:t>
            </a:r>
            <a:r>
              <a:rPr lang="en-CA" sz="1400" dirty="0" err="1">
                <a:latin typeface="Nunito" pitchFamily="2" charset="0"/>
              </a:rPr>
              <a:t>rabais</a:t>
            </a:r>
            <a:r>
              <a:rPr lang="en-CA" sz="1400" dirty="0">
                <a:latin typeface="Nunito" pitchFamily="2" charset="0"/>
              </a:rPr>
              <a:t> </a:t>
            </a:r>
            <a:r>
              <a:rPr lang="en-CA" sz="1400" dirty="0" err="1">
                <a:latin typeface="Nunito" pitchFamily="2" charset="0"/>
              </a:rPr>
              <a:t>demeurent</a:t>
            </a:r>
            <a:r>
              <a:rPr lang="en-CA" sz="1400" dirty="0">
                <a:latin typeface="Nunito" pitchFamily="2" charset="0"/>
              </a:rPr>
              <a:t> les </a:t>
            </a:r>
            <a:r>
              <a:rPr lang="en-CA" sz="1400" dirty="0" err="1">
                <a:latin typeface="Nunito" pitchFamily="2" charset="0"/>
              </a:rPr>
              <a:t>mêmes</a:t>
            </a:r>
            <a:r>
              <a:rPr lang="en-CA" sz="1400" dirty="0">
                <a:latin typeface="Nunito" pitchFamily="2" charset="0"/>
              </a:rPr>
              <a:t> toute </a:t>
            </a:r>
            <a:r>
              <a:rPr lang="en-CA" sz="1400" dirty="0" err="1">
                <a:latin typeface="Nunito" pitchFamily="2" charset="0"/>
              </a:rPr>
              <a:t>l’année</a:t>
            </a:r>
            <a:r>
              <a:rPr lang="en-CA" sz="1400" dirty="0">
                <a:latin typeface="Nunito" pitchFamily="2" charset="0"/>
              </a:rPr>
              <a:t>, </a:t>
            </a:r>
            <a:r>
              <a:rPr lang="en-CA" sz="1400" dirty="0" err="1">
                <a:latin typeface="Nunito" pitchFamily="2" charset="0"/>
              </a:rPr>
              <a:t>mais</a:t>
            </a:r>
            <a:r>
              <a:rPr lang="en-CA" sz="1400" dirty="0">
                <a:latin typeface="Nunito" pitchFamily="2" charset="0"/>
              </a:rPr>
              <a:t> le code promo change pour le client. Une nouvelle affiche sera </a:t>
            </a:r>
            <a:r>
              <a:rPr lang="en-CA" sz="1400" dirty="0" err="1">
                <a:latin typeface="Nunito" pitchFamily="2" charset="0"/>
              </a:rPr>
              <a:t>déposée</a:t>
            </a:r>
            <a:r>
              <a:rPr lang="en-CA" sz="1400" dirty="0">
                <a:latin typeface="Nunito" pitchFamily="2" charset="0"/>
              </a:rPr>
              <a:t> </a:t>
            </a:r>
            <a:r>
              <a:rPr lang="en-CA" sz="1400" dirty="0" err="1">
                <a:latin typeface="Nunito" pitchFamily="2" charset="0"/>
              </a:rPr>
              <a:t>chaque</a:t>
            </a:r>
            <a:r>
              <a:rPr lang="en-CA" sz="1400" dirty="0">
                <a:latin typeface="Nunito" pitchFamily="2" charset="0"/>
              </a:rPr>
              <a:t> </a:t>
            </a:r>
            <a:r>
              <a:rPr lang="en-CA" sz="1400" dirty="0" err="1">
                <a:latin typeface="Nunito" pitchFamily="2" charset="0"/>
              </a:rPr>
              <a:t>mois</a:t>
            </a:r>
            <a:r>
              <a:rPr lang="en-CA" sz="1400" dirty="0">
                <a:latin typeface="Nunito" pitchFamily="2" charset="0"/>
              </a:rPr>
              <a:t>. </a:t>
            </a:r>
            <a:r>
              <a:rPr lang="en-CA" sz="1400" b="1" dirty="0">
                <a:latin typeface="Nunito" pitchFamily="2" charset="0"/>
              </a:rPr>
              <a:t>Promotion </a:t>
            </a:r>
            <a:r>
              <a:rPr lang="en-CA" sz="1400" b="1" dirty="0" err="1">
                <a:latin typeface="Nunito" pitchFamily="2" charset="0"/>
              </a:rPr>
              <a:t>en</a:t>
            </a:r>
            <a:r>
              <a:rPr lang="en-CA" sz="1400" b="1" dirty="0">
                <a:latin typeface="Nunito" pitchFamily="2" charset="0"/>
              </a:rPr>
              <a:t> </a:t>
            </a:r>
            <a:r>
              <a:rPr lang="en-CA" sz="1400" b="1" dirty="0" err="1">
                <a:latin typeface="Nunito" pitchFamily="2" charset="0"/>
              </a:rPr>
              <a:t>magasin</a:t>
            </a:r>
            <a:r>
              <a:rPr lang="en-CA" sz="1400" b="1" dirty="0">
                <a:latin typeface="Nunito" pitchFamily="2" charset="0"/>
              </a:rPr>
              <a:t> </a:t>
            </a:r>
            <a:r>
              <a:rPr lang="en-CA" sz="1400" b="1" dirty="0" err="1">
                <a:latin typeface="Nunito" pitchFamily="2" charset="0"/>
              </a:rPr>
              <a:t>seulement</a:t>
            </a:r>
            <a:r>
              <a:rPr lang="en-CA" sz="1400" dirty="0">
                <a:latin typeface="Nunito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7807" y="8097451"/>
            <a:ext cx="6408713" cy="623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CHLORE CP:  </a:t>
            </a:r>
            <a:r>
              <a:rPr lang="fr-CA" sz="1200" dirty="0">
                <a:latin typeface="Nunito" pitchFamily="2" charset="0"/>
              </a:rPr>
              <a:t>Le chlore en granule et en pastille reste en promotion au même prix.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HTH</a:t>
            </a:r>
            <a:r>
              <a:rPr lang="fr-CA" sz="1200" dirty="0">
                <a:latin typeface="Nunito" pitchFamily="2" charset="0"/>
              </a:rPr>
              <a:t>: Promotion HTHT SHOCK 4 pour le prix de 3 (du 3 au 11 août)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B4B115-CDE3-3FA8-DFF6-9AEC5F50A0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THERMOPOMPES</a:t>
            </a:r>
          </a:p>
        </p:txBody>
      </p:sp>
      <p:sp>
        <p:nvSpPr>
          <p:cNvPr id="16" name="Zone de texte 28">
            <a:extLst>
              <a:ext uri="{FF2B5EF4-FFF2-40B4-BE49-F238E27FC236}">
                <a16:creationId xmlns:a16="http://schemas.microsoft.com/office/drawing/2014/main" id="{B5902CBF-27FA-CBD1-D98B-09085064DC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E13C3C7-498F-2868-F3E7-23E8CD387C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7B070-540C-54E1-A4A0-1A8D25F2F9C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8" y="345323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ACCESSOIRES PISCINES ET SPAS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4A4F1-67C6-4528-BA78-0C668B1C8B8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86575" y="759717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CHIMIQUE et AUTRES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23026"/>
            <a:ext cx="6408713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MEUBLES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JUSQU’À 40% de rabais sur les meubles sélectionnés. </a:t>
            </a:r>
            <a:r>
              <a:rPr lang="fr-CA" sz="1400" dirty="0">
                <a:latin typeface="Nunito" pitchFamily="2" charset="0"/>
              </a:rPr>
              <a:t>Voir annexes pour les prix.</a:t>
            </a:r>
            <a:endParaRPr lang="fr-FR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 : </a:t>
            </a:r>
            <a:r>
              <a:rPr lang="fr-FR" sz="1400" dirty="0">
                <a:latin typeface="Nunito" pitchFamily="2" charset="0"/>
              </a:rPr>
              <a:t>Vous pouvez proposer le plan régulier 24 mois sans intérêt (code 13240).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LIQUIDATION</a:t>
            </a:r>
            <a:r>
              <a:rPr lang="fr-FR" sz="1400" dirty="0">
                <a:latin typeface="Nunito" pitchFamily="2" charset="0"/>
              </a:rPr>
              <a:t>: on vous invite également à mettre de l’avant vos démos de plancher ou vieilles collections à des prix agressifs.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EXCLUSION: Les imbattables (EDLP), CR plastic et </a:t>
            </a:r>
            <a:r>
              <a:rPr lang="fr-CA" sz="1400" b="1" dirty="0" err="1">
                <a:latin typeface="Nunito" pitchFamily="2" charset="0"/>
              </a:rPr>
              <a:t>Treasure</a:t>
            </a:r>
            <a:r>
              <a:rPr lang="fr-CA" sz="1400" b="1" dirty="0">
                <a:latin typeface="Nunito" pitchFamily="2" charset="0"/>
              </a:rPr>
              <a:t> Garden </a:t>
            </a:r>
            <a:r>
              <a:rPr lang="fr-CA" sz="1400" dirty="0">
                <a:latin typeface="Nunito" pitchFamily="2" charset="0"/>
              </a:rPr>
              <a:t>sont</a:t>
            </a:r>
            <a:r>
              <a:rPr lang="fr-CA" sz="1400" b="1" dirty="0">
                <a:latin typeface="Nunito" pitchFamily="2" charset="0"/>
              </a:rPr>
              <a:t> </a:t>
            </a:r>
            <a:r>
              <a:rPr lang="fr-CA" sz="1400" dirty="0">
                <a:latin typeface="Nunito" pitchFamily="2" charset="0"/>
              </a:rPr>
              <a:t>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highlight>
                <a:srgbClr val="FFFF00"/>
              </a:highlight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6187822"/>
            <a:ext cx="6372710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Jusqu’à 1000$ de rabais. Voir rabais en cours dans l’Annexe. </a:t>
            </a:r>
          </a:p>
          <a:p>
            <a:pPr lvl="1"/>
            <a:endParaRPr lang="fr-CA" sz="1100" b="1" dirty="0">
              <a:latin typeface="Nunito" pitchFamily="2" charset="0"/>
            </a:endParaRPr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20E8829-9DC2-D3D4-EA48-AB5FDCED929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3" name="Zone de texte 28">
            <a:extLst>
              <a:ext uri="{FF2B5EF4-FFF2-40B4-BE49-F238E27FC236}">
                <a16:creationId xmlns:a16="http://schemas.microsoft.com/office/drawing/2014/main" id="{07EEBC24-3491-8F2D-25BF-360F9326922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34DBF-13A6-9C41-C200-4478E6C117B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MEUBLES ET PARASOLS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DFD338-3E98-30C2-7ED8-786F487F1F6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32754" y="1139855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209DE-3E0C-E8D3-0FED-7F3EDBC87A2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6" y="565026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GAZEBOS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195736"/>
            <a:ext cx="6408713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BROIL KING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10% de </a:t>
            </a:r>
            <a:r>
              <a:rPr lang="en-US" dirty="0" err="1"/>
              <a:t>rabais</a:t>
            </a:r>
            <a:r>
              <a:rPr lang="en-US" dirty="0"/>
              <a:t> sur les </a:t>
            </a:r>
            <a:r>
              <a:rPr lang="en-US" dirty="0" err="1"/>
              <a:t>accessoires</a:t>
            </a:r>
            <a:r>
              <a:rPr lang="en-US" dirty="0"/>
              <a:t> Broil King et </a:t>
            </a:r>
            <a:r>
              <a:rPr lang="en-US" dirty="0" err="1"/>
              <a:t>certains</a:t>
            </a:r>
            <a:r>
              <a:rPr lang="en-US" dirty="0"/>
              <a:t> </a:t>
            </a:r>
            <a:r>
              <a:rPr lang="en-US" dirty="0" err="1"/>
              <a:t>modèles</a:t>
            </a:r>
            <a:r>
              <a:rPr lang="en-US" dirty="0"/>
              <a:t> de BBQ (5 </a:t>
            </a:r>
            <a:r>
              <a:rPr lang="en-US" dirty="0" err="1"/>
              <a:t>aout</a:t>
            </a:r>
            <a:r>
              <a:rPr lang="en-US" dirty="0"/>
              <a:t> - 30 sept).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Note: Cette promotion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assumée</a:t>
            </a:r>
            <a:r>
              <a:rPr lang="en-US" dirty="0"/>
              <a:t> par le </a:t>
            </a:r>
            <a:r>
              <a:rPr lang="en-US" dirty="0" err="1"/>
              <a:t>détaillant</a:t>
            </a:r>
            <a:r>
              <a:rPr lang="en-US" dirty="0"/>
              <a:t>.</a:t>
            </a:r>
          </a:p>
          <a:p>
            <a:pPr lvl="1"/>
            <a:endParaRPr lang="fr-CA" sz="16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NAPOLEON: </a:t>
            </a:r>
            <a:r>
              <a:rPr lang="fr-CA" sz="1600" dirty="0">
                <a:latin typeface="Nunito" pitchFamily="2" charset="0"/>
              </a:rPr>
              <a:t>Rabais de 50$ sur le Freestyle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BLACKSTONE </a:t>
            </a:r>
            <a:r>
              <a:rPr lang="fr-FR" dirty="0"/>
              <a:t>: Jusqu'à 100$ de rabais sur les plancha</a:t>
            </a:r>
            <a:r>
              <a:rPr lang="fr-CA" dirty="0"/>
              <a:t>s</a:t>
            </a: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KAMADO LG: </a:t>
            </a:r>
            <a:r>
              <a:rPr lang="fr-FR" sz="1600" dirty="0">
                <a:latin typeface="Nunito" pitchFamily="2" charset="0"/>
              </a:rPr>
              <a:t>En promo à 1399.99$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FOYER: </a:t>
            </a:r>
            <a:r>
              <a:rPr lang="fr-CA" sz="1600" dirty="0">
                <a:latin typeface="Nunito" pitchFamily="2" charset="0"/>
              </a:rPr>
              <a:t>Rabais en cours. Voir Annexes.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14F4BD-2395-E12B-B62F-0DB73684AD0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C4CC44E-B3E2-FBE5-ECEC-76835D374A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C8E2-CB0B-54B5-EC51-C98B5E5D383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BBQ et FOYER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5DB1DE-87AD-3650-0C01-6A8DB30EC7D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E98BB-9009-DF24-A94E-E723BDD87E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4486" y="7812360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annexes pour les nouveaux rabais en cours. 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35805-4BAC-ECDD-5998-3EF13EB4E48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4486" y="7312053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D1C5A-2F6E-7925-ADF0-941F37012D3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54183" y="6084168"/>
            <a:ext cx="640871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FIBERWOOD</a:t>
            </a:r>
            <a:r>
              <a:rPr lang="fr-CA" sz="1600" dirty="0">
                <a:latin typeface="Nunito" pitchFamily="2" charset="0"/>
              </a:rPr>
              <a:t>: Jusqu’à 1500$ de rabais sur les cabanons Fiberwood. Voir Annexes.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DALS</a:t>
            </a:r>
            <a:r>
              <a:rPr lang="fr-CA" sz="1600" dirty="0">
                <a:latin typeface="Nunito" pitchFamily="2" charset="0"/>
              </a:rPr>
              <a:t>: 15% de rabais sur les lumières </a:t>
            </a:r>
            <a:r>
              <a:rPr lang="fr-CA" sz="1600" dirty="0" err="1">
                <a:latin typeface="Nunito" pitchFamily="2" charset="0"/>
              </a:rPr>
              <a:t>Dals</a:t>
            </a:r>
            <a:r>
              <a:rPr lang="fr-CA" sz="1600" dirty="0">
                <a:latin typeface="Nunito" pitchFamily="2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45505-249B-76D9-F452-1D907D961CB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54183" y="558011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AMÉNAGEMENT</a:t>
            </a: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FAIRSTONE </a:t>
            </a:r>
          </a:p>
          <a:p>
            <a:r>
              <a:rPr lang="fr-CA" sz="1400" b="1" dirty="0">
                <a:latin typeface="Nunito" pitchFamily="2" charset="0"/>
              </a:rPr>
              <a:t>Promotion juillet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SPA et HORS TERRE: </a:t>
            </a:r>
            <a:r>
              <a:rPr lang="fr-FR" sz="1400" b="1" dirty="0">
                <a:latin typeface="Nunito" pitchFamily="2" charset="0"/>
              </a:rPr>
              <a:t> </a:t>
            </a:r>
            <a:r>
              <a:rPr lang="fr-FR" sz="1400" dirty="0">
                <a:latin typeface="Nunito" pitchFamily="2" charset="0"/>
              </a:rPr>
              <a:t>12 mois sans paiements ni intérêt (12120) OU 48 mois à 5.99% (code 36485).</a:t>
            </a:r>
            <a:endParaRPr lang="fr-CA" sz="14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Plans de financement réguliers</a:t>
            </a:r>
          </a:p>
          <a:p>
            <a:r>
              <a:rPr lang="fr-CA" sz="1200" dirty="0">
                <a:latin typeface="Nunito" pitchFamily="2" charset="0"/>
              </a:rPr>
              <a:t>Il est possible d’offrir l’un de ces plans </a:t>
            </a:r>
            <a:r>
              <a:rPr lang="fr-CA" sz="1200" u="sng" dirty="0">
                <a:latin typeface="Nunito" pitchFamily="2" charset="0"/>
              </a:rPr>
              <a:t>en tout temps et sur toutes les catégories* </a:t>
            </a:r>
            <a:r>
              <a:rPr lang="fr-CA" sz="1200" dirty="0">
                <a:latin typeface="Nunito" pitchFamily="2" charset="0"/>
              </a:rPr>
              <a:t>à l’achat de 500$ et+ . Voir votre gestionnaire pour plus de détail.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*Maximum de 30 000$ selon l’approbation du crédit du client. Voir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</a:rPr>
              <a:t>conditions et p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lans aussi offerts en ligne: 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  <a:hlinkClick r:id="rId10"/>
              </a:rPr>
              <a:t>https://www.clubpiscine.ca/fr/financement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400" b="1" dirty="0">
                <a:latin typeface="Nunito" pitchFamily="2" charset="0"/>
              </a:rPr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PISCINE CREUSÉE &amp; FIBRE : </a:t>
            </a:r>
            <a:r>
              <a:rPr lang="fr-CA" sz="1200" dirty="0">
                <a:latin typeface="Nunito" pitchFamily="2" charset="0"/>
              </a:rPr>
              <a:t>Aucun financement inclus dans la promotion du mois, mais il est suggéré d’utiliser le Financement </a:t>
            </a:r>
            <a:r>
              <a:rPr lang="fr-CA" sz="1200" b="1" dirty="0">
                <a:latin typeface="Nunito" pitchFamily="2" charset="0"/>
              </a:rPr>
              <a:t>FINANCE IT </a:t>
            </a:r>
            <a:r>
              <a:rPr lang="fr-CA" sz="1200" dirty="0">
                <a:latin typeface="Nunito" pitchFamily="2" charset="0"/>
              </a:rPr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Le 6 mois débute à la livraison/installation.</a:t>
            </a:r>
            <a:endParaRPr lang="fr-CA" sz="1400" b="1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44006" y="4211960"/>
            <a:ext cx="3115136" cy="1097455"/>
          </a:xfrm>
          <a:prstGeom prst="rect">
            <a:avLst/>
          </a:prstGeom>
        </p:spPr>
      </p:pic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07E4CC5-9C01-2FD9-BE61-0C133BDE5E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B58-477F-301C-29F9-9474F7D06CD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FINANCEMENT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07B3D34E-E7F4-CF77-C250-4E92C29B6C3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3ECDB9-7358-B3D5-33DD-01E04A1910F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69E2AA-A66C-9BA6-98B6-6D33AFAC894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08182" y="3980452"/>
            <a:ext cx="3057604" cy="15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65B9-9196-5186-A420-DC724036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CB1EC5-A2FD-003E-2477-631220A235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1708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200" b="1" dirty="0">
              <a:highlight>
                <a:srgbClr val="7FCDE9"/>
              </a:highlight>
              <a:latin typeface="Nunito" pitchFamily="2" charset="0"/>
            </a:endParaRPr>
          </a:p>
          <a:p>
            <a:r>
              <a:rPr lang="fr-CA" sz="1200" b="1" dirty="0">
                <a:highlight>
                  <a:srgbClr val="7FCDE9"/>
                </a:highlight>
                <a:latin typeface="Nunito" pitchFamily="2" charset="0"/>
              </a:rPr>
              <a:t>CLUB PISCINE X KASEME</a:t>
            </a:r>
          </a:p>
          <a:p>
            <a:pPr>
              <a:buNone/>
            </a:pPr>
            <a:r>
              <a:rPr lang="fr-FR" sz="1400" dirty="0"/>
              <a:t>Il est encore temps de commander votre étui KASEME! Découvrez notre collection exclusive de </a:t>
            </a:r>
            <a:r>
              <a:rPr lang="fr-FR" sz="1400" b="1" dirty="0"/>
              <a:t>9 étuis colorés</a:t>
            </a:r>
            <a:r>
              <a:rPr lang="fr-FR" sz="1400" dirty="0"/>
              <a:t> qui célèbrent le meilleur de l’été ! Utilisez le code </a:t>
            </a:r>
            <a:r>
              <a:rPr lang="fr-FR" sz="1400" b="1" dirty="0"/>
              <a:t>CLUB20</a:t>
            </a:r>
            <a:r>
              <a:rPr lang="fr-FR" sz="1400" dirty="0"/>
              <a:t> au panier pour obtenir </a:t>
            </a:r>
            <a:r>
              <a:rPr lang="fr-FR" sz="1400" b="1" dirty="0"/>
              <a:t>20 % de rabais</a:t>
            </a:r>
            <a:r>
              <a:rPr lang="fr-FR" sz="1400" dirty="0"/>
              <a:t> sur toute la boutique KASEME. De plus, </a:t>
            </a:r>
            <a:r>
              <a:rPr lang="fr-FR" sz="1400" b="1" dirty="0"/>
              <a:t>5 $ par étui Club Piscine vendu</a:t>
            </a:r>
            <a:r>
              <a:rPr lang="fr-FR" sz="1400" dirty="0"/>
              <a:t> seront remis à </a:t>
            </a:r>
            <a:r>
              <a:rPr lang="fr-FR" sz="1400" b="1" dirty="0"/>
              <a:t>Enfant Soleil</a:t>
            </a:r>
            <a:r>
              <a:rPr lang="fr-FR" sz="1400" dirty="0"/>
              <a:t>. 💛 </a:t>
            </a:r>
          </a:p>
          <a:p>
            <a:pPr>
              <a:buNone/>
            </a:pPr>
            <a:r>
              <a:rPr lang="fr-FR" sz="1400" dirty="0"/>
              <a:t> </a:t>
            </a:r>
            <a:r>
              <a:rPr lang="fr-CA" sz="1100" dirty="0">
                <a:latin typeface="Nunito" pitchFamily="2" charset="0"/>
              </a:rPr>
              <a:t>Lien: </a:t>
            </a:r>
            <a:r>
              <a:rPr lang="fr-CA" sz="1100" dirty="0">
                <a:latin typeface="Nunito" pitchFamily="2" charset="0"/>
                <a:hlinkClick r:id="rId6"/>
              </a:rPr>
              <a:t>https://www.kasemedesign.ca/fr/collections/club-piscine</a:t>
            </a:r>
            <a:endParaRPr lang="fr-CA" sz="1100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06594-EEB8-8872-9F65-C5A8660344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NOUVELLES DU MARKETING!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AE22E7C4-1F48-2858-8980-37A78E5BDC3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2BEFDB0-1EC6-6275-8251-CED65AA7DB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6 août au 2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176388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E1C49C-B943-4250-BB39-87973E798E95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8682f7ec-9bef-4d6d-8d5c-0ec39e002ff3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A11E233-84A2-4A8A-AA2B-3B665FAFFBA1}"/>
</file>

<file path=docProps/app.xml><?xml version="1.0" encoding="utf-8"?>
<Properties xmlns="http://schemas.openxmlformats.org/officeDocument/2006/extended-properties" xmlns:vt="http://schemas.openxmlformats.org/officeDocument/2006/docPropsVTypes">
  <TotalTime>57387</TotalTime>
  <Words>1975</Words>
  <Application>Microsoft Office PowerPoint</Application>
  <PresentationFormat>Affichage à l'écran (4:3)</PresentationFormat>
  <Paragraphs>214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Nunito</vt:lpstr>
      <vt:lpstr>Symbol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1791</cp:revision>
  <cp:lastPrinted>2022-04-27T14:46:34Z</cp:lastPrinted>
  <dcterms:created xsi:type="dcterms:W3CDTF">2017-05-24T18:44:46Z</dcterms:created>
  <dcterms:modified xsi:type="dcterms:W3CDTF">2025-08-05T21:21:29Z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