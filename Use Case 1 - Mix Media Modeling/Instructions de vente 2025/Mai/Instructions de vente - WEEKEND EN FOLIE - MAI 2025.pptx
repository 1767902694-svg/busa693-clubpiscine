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sldIdLst>
    <p:sldId id="265" r:id="rId5"/>
    <p:sldId id="266" r:id="rId6"/>
  </p:sldIdLst>
  <p:sldSz cx="6858000" cy="9144000" type="screen4x3"/>
  <p:notesSz cx="6950075" cy="923607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47AB"/>
    <a:srgbClr val="7FCDE9"/>
    <a:srgbClr val="3068D9"/>
    <a:srgbClr val="218BCB"/>
    <a:srgbClr val="229FCC"/>
    <a:srgbClr val="48B8E0"/>
    <a:srgbClr val="2FAF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p:normalViewPr>
  <p:slideViewPr>
    <p:cSldViewPr>
      <p:cViewPr varScale="1">
        <p:scale>
          <a:sx n="79" d="100"/>
          <a:sy n="79" d="100"/>
        </p:scale>
        <p:origin x="3144" y="9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D974EA55-1F88-4D33-948F-129C030CA228}" type="datetimeFigureOut">
              <a:rPr lang="fr-FR" smtClean="0"/>
              <a:t>25/04/2025</a:t>
            </a:fld>
            <a:endParaRPr lang="fr-FR"/>
          </a:p>
        </p:txBody>
      </p:sp>
      <p:sp>
        <p:nvSpPr>
          <p:cNvPr id="4" name="Espace réservé de l'image des diapositives 3"/>
          <p:cNvSpPr>
            <a:spLocks noGrp="1" noRot="1" noChangeAspect="1"/>
          </p:cNvSpPr>
          <p:nvPr>
            <p:ph type="sldImg" idx="2"/>
          </p:nvPr>
        </p:nvSpPr>
        <p:spPr>
          <a:xfrm>
            <a:off x="2305050" y="1154113"/>
            <a:ext cx="2339975" cy="31178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95325" y="4445000"/>
            <a:ext cx="5559425" cy="3636963"/>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8C8FADA9-DAE0-49B2-8C03-98CBE548380A}" type="slidenum">
              <a:rPr lang="fr-FR" smtClean="0"/>
              <a:t>‹N°›</a:t>
            </a:fld>
            <a:endParaRPr lang="fr-FR"/>
          </a:p>
        </p:txBody>
      </p:sp>
    </p:spTree>
    <p:extLst>
      <p:ext uri="{BB962C8B-B14F-4D97-AF65-F5344CB8AC3E}">
        <p14:creationId xmlns:p14="http://schemas.microsoft.com/office/powerpoint/2010/main" val="1444953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514350" y="2840568"/>
            <a:ext cx="5829300" cy="1960033"/>
          </a:xfrm>
        </p:spPr>
        <p:txBody>
          <a:bodyPr/>
          <a:lstStyle/>
          <a:p>
            <a:r>
              <a:rPr lang="fr-FR"/>
              <a:t>Modifiez le style du titre</a:t>
            </a:r>
            <a:endParaRPr lang="fr-CA"/>
          </a:p>
        </p:txBody>
      </p:sp>
      <p:sp>
        <p:nvSpPr>
          <p:cNvPr id="3" name="Sous-titr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831270F1-02CD-4B62-A24E-C50745FFF5F5}" type="datetime1">
              <a:rPr lang="fr-CA" smtClean="0"/>
              <a:t>2025-04-25</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48049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E8FB3501-DB26-46B1-B49D-78AAEDB8FBB0}" type="datetime1">
              <a:rPr lang="fr-CA" smtClean="0"/>
              <a:t>2025-04-25</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756885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41735" y="5875867"/>
            <a:ext cx="5829300" cy="1816100"/>
          </a:xfrm>
        </p:spPr>
        <p:txBody>
          <a:bodyPr anchor="t"/>
          <a:lstStyle>
            <a:lvl1pPr algn="l">
              <a:defRPr sz="4000" b="1" cap="all"/>
            </a:lvl1pPr>
          </a:lstStyle>
          <a:p>
            <a:r>
              <a:rPr lang="fr-FR"/>
              <a:t>Modifiez le style du titre</a:t>
            </a:r>
            <a:endParaRPr lang="fr-CA"/>
          </a:p>
        </p:txBody>
      </p:sp>
      <p:sp>
        <p:nvSpPr>
          <p:cNvPr id="3" name="Espace réservé du texte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3D9D7A85-2AFD-4815-A0A7-D4B79870DF4B}" type="datetime1">
              <a:rPr lang="fr-CA" smtClean="0"/>
              <a:t>2025-04-25</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797159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8C976F20-C377-4AED-9510-F5ADE3870E9C}" type="datetime1">
              <a:rPr lang="fr-CA" smtClean="0"/>
              <a:t>2025-04-25</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62237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342900" y="366184"/>
            <a:ext cx="6172200" cy="1524000"/>
          </a:xfrm>
        </p:spPr>
        <p:txBody>
          <a:bodyPr/>
          <a:lstStyle>
            <a:lvl1pPr>
              <a:defRPr/>
            </a:lvl1pPr>
          </a:lstStyle>
          <a:p>
            <a:r>
              <a:rPr lang="fr-FR"/>
              <a:t>Modifiez le style du titre</a:t>
            </a:r>
            <a:endParaRPr lang="fr-CA"/>
          </a:p>
        </p:txBody>
      </p:sp>
      <p:sp>
        <p:nvSpPr>
          <p:cNvPr id="3" name="Espace réservé du texte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3C686B50-1D08-40D3-BECA-FFE7DEF4ECA0}" type="datetime1">
              <a:rPr lang="fr-CA" smtClean="0"/>
              <a:t>2025-04-25</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4271518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1CCDA913-A0AB-4357-9718-F642A4CB965C}" type="datetime1">
              <a:rPr lang="fr-CA" smtClean="0"/>
              <a:t>2025-04-25</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61246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F1D8FFD-9EF2-4DF5-ADE3-0FA2D06B7D28}" type="datetime1">
              <a:rPr lang="fr-CA" smtClean="0"/>
              <a:t>2025-04-25</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1983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342900" y="364067"/>
            <a:ext cx="2256235" cy="1549400"/>
          </a:xfrm>
        </p:spPr>
        <p:txBody>
          <a:bodyPr anchor="b"/>
          <a:lstStyle>
            <a:lvl1pPr algn="l">
              <a:defRPr sz="2000" b="1"/>
            </a:lvl1pPr>
          </a:lstStyle>
          <a:p>
            <a:r>
              <a:rPr lang="fr-FR"/>
              <a:t>Modifiez le style du titre</a:t>
            </a:r>
            <a:endParaRPr lang="fr-CA"/>
          </a:p>
        </p:txBody>
      </p:sp>
      <p:sp>
        <p:nvSpPr>
          <p:cNvPr id="3" name="Espace réservé du contenu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23AA06B-BE77-4E72-9CCA-00E4DEE9532E}" type="datetime1">
              <a:rPr lang="fr-CA" smtClean="0"/>
              <a:t>2025-04-25</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2455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344216" y="6400800"/>
            <a:ext cx="4114800" cy="755651"/>
          </a:xfrm>
        </p:spPr>
        <p:txBody>
          <a:bodyPr anchor="b"/>
          <a:lstStyle>
            <a:lvl1pPr algn="l">
              <a:defRPr sz="2000" b="1"/>
            </a:lvl1pPr>
          </a:lstStyle>
          <a:p>
            <a:r>
              <a:rPr lang="fr-FR"/>
              <a:t>Modifiez le style du titre</a:t>
            </a:r>
            <a:endParaRPr lang="fr-CA"/>
          </a:p>
        </p:txBody>
      </p:sp>
      <p:sp>
        <p:nvSpPr>
          <p:cNvPr id="3" name="Espace réservé pour une image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D4EBF81-A9BE-418D-9E78-24D0919B7A1C}" type="datetime1">
              <a:rPr lang="fr-CA" smtClean="0"/>
              <a:t>2025-04-25</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88577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867DEE61-C885-4A50-BEE7-C9DDDBD88187}" type="datetime1">
              <a:rPr lang="fr-CA" smtClean="0"/>
              <a:t>2025-04-25</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30042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3729037" y="488951"/>
            <a:ext cx="1157288" cy="10401300"/>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257175" y="488951"/>
            <a:ext cx="3357563" cy="104013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6FFC38EA-1C13-48D8-9A28-13347BB0C9CB}" type="datetime1">
              <a:rPr lang="fr-CA" smtClean="0"/>
              <a:t>2025-04-25</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36926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74A8D5B-1515-4F97-901C-AB1B94820B7C}" type="datetime1">
              <a:rPr lang="fr-CA" smtClean="0"/>
              <a:t>2025-04-25</a:t>
            </a:fld>
            <a:endParaRPr lang="fr-CA"/>
          </a:p>
        </p:txBody>
      </p:sp>
      <p:sp>
        <p:nvSpPr>
          <p:cNvPr id="5" name="Espace réservé du pied de page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31F4C03E-007A-4FDF-9746-0F09F296E587}" type="slidenum">
              <a:rPr lang="fr-CA" smtClean="0"/>
              <a:t>‹N°›</a:t>
            </a:fld>
            <a:endParaRPr lang="fr-CA"/>
          </a:p>
        </p:txBody>
      </p:sp>
    </p:spTree>
    <p:extLst>
      <p:ext uri="{BB962C8B-B14F-4D97-AF65-F5344CB8AC3E}">
        <p14:creationId xmlns:p14="http://schemas.microsoft.com/office/powerpoint/2010/main" val="31056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xml"/><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8.xml"/><Relationship Id="rId7"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691680"/>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a:solidFill>
                  <a:schemeClr val="bg1"/>
                </a:solidFill>
                <a:latin typeface="Nunito" pitchFamily="2" charset="0"/>
              </a:rPr>
              <a:t>3-4 </a:t>
            </a:r>
            <a:r>
              <a:rPr lang="en-CA" b="1" dirty="0" err="1">
                <a:solidFill>
                  <a:schemeClr val="bg1"/>
                </a:solidFill>
                <a:latin typeface="Nunito" pitchFamily="2" charset="0"/>
              </a:rPr>
              <a:t>mai</a:t>
            </a:r>
            <a:r>
              <a:rPr lang="en-CA" b="1" dirty="0">
                <a:solidFill>
                  <a:schemeClr val="bg1"/>
                </a:solidFill>
                <a:latin typeface="Nunito" pitchFamily="2" charset="0"/>
              </a:rPr>
              <a:t> 2025</a:t>
            </a:r>
            <a:endParaRPr lang="fr-CA" b="1" dirty="0">
              <a:solidFill>
                <a:schemeClr val="bg1"/>
              </a:solidFill>
              <a:latin typeface="Nunito" pitchFamily="2" charset="0"/>
            </a:endParaRPr>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2"/>
            </p:custDataLst>
          </p:nvPr>
        </p:nvSpPr>
        <p:spPr/>
        <p:txBody>
          <a:bodyPr/>
          <a:lstStyle/>
          <a:p>
            <a:fld id="{31F4C03E-007A-4FDF-9746-0F09F296E587}" type="slidenum">
              <a:rPr lang="fr-CA" smtClean="0"/>
              <a:t>1</a:t>
            </a:fld>
            <a:endParaRPr lang="fr-CA" dirty="0"/>
          </a:p>
        </p:txBody>
      </p:sp>
      <p:sp>
        <p:nvSpPr>
          <p:cNvPr id="7" name="Zone de texte 28">
            <a:extLst>
              <a:ext uri="{FF2B5EF4-FFF2-40B4-BE49-F238E27FC236}">
                <a16:creationId xmlns:a16="http://schemas.microsoft.com/office/drawing/2014/main" id="{9954BF8A-DD31-9DF8-A9CE-38C033095C3B}"/>
              </a:ext>
            </a:extLst>
          </p:cNvPr>
          <p:cNvSpPr txBox="1">
            <a:spLocks/>
          </p:cNvSpPr>
          <p:nvPr>
            <p:custDataLst>
              <p:tags r:id="rId3"/>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Weekend en folie</a:t>
            </a:r>
            <a:endParaRPr lang="fr-CA" sz="2800" b="1" dirty="0">
              <a:solidFill>
                <a:srgbClr val="1447AB"/>
              </a:solidFill>
              <a:latin typeface="Nunito" pitchFamily="2" charset="0"/>
            </a:endParaRPr>
          </a:p>
        </p:txBody>
      </p:sp>
      <p:sp>
        <p:nvSpPr>
          <p:cNvPr id="4" name="ZoneTexte 3">
            <a:extLst>
              <a:ext uri="{FF2B5EF4-FFF2-40B4-BE49-F238E27FC236}">
                <a16:creationId xmlns:a16="http://schemas.microsoft.com/office/drawing/2014/main" id="{881EABBC-C49F-FFC2-4E49-3F25AF558C54}"/>
              </a:ext>
            </a:extLst>
          </p:cNvPr>
          <p:cNvSpPr txBox="1"/>
          <p:nvPr>
            <p:custDataLst>
              <p:tags r:id="rId4"/>
            </p:custDataLst>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Édition meuble de jardin</a:t>
            </a:r>
          </a:p>
        </p:txBody>
      </p:sp>
      <p:pic>
        <p:nvPicPr>
          <p:cNvPr id="5" name="Image 4" descr="Une image contenant Graphique, Police, émoticône, texte&#10;&#10;Le contenu généré par l’IA peut être incorrect.">
            <a:extLst>
              <a:ext uri="{FF2B5EF4-FFF2-40B4-BE49-F238E27FC236}">
                <a16:creationId xmlns:a16="http://schemas.microsoft.com/office/drawing/2014/main" id="{6A011CA4-D025-2CF7-B847-8536ABDB2C73}"/>
              </a:ext>
            </a:extLst>
          </p:cNvPr>
          <p:cNvPicPr>
            <a:picLocks noChangeAspect="1"/>
          </p:cNvPicPr>
          <p:nvPr>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pic>
        <p:nvPicPr>
          <p:cNvPr id="11" name="Image 10">
            <a:extLst>
              <a:ext uri="{FF2B5EF4-FFF2-40B4-BE49-F238E27FC236}">
                <a16:creationId xmlns:a16="http://schemas.microsoft.com/office/drawing/2014/main" id="{903DA4C9-B539-AB8E-DA45-C1C06514B66A}"/>
              </a:ext>
            </a:extLst>
          </p:cNvPr>
          <p:cNvPicPr>
            <a:picLocks noChangeAspect="1"/>
          </p:cNvPicPr>
          <p:nvPr/>
        </p:nvPicPr>
        <p:blipFill>
          <a:blip r:embed="rId8"/>
          <a:stretch>
            <a:fillRect/>
          </a:stretch>
        </p:blipFill>
        <p:spPr>
          <a:xfrm>
            <a:off x="1183720" y="2307385"/>
            <a:ext cx="4490560" cy="5947319"/>
          </a:xfrm>
          <a:prstGeom prst="rect">
            <a:avLst/>
          </a:prstGeom>
        </p:spPr>
      </p:pic>
    </p:spTree>
    <p:extLst>
      <p:ext uri="{BB962C8B-B14F-4D97-AF65-F5344CB8AC3E}">
        <p14:creationId xmlns:p14="http://schemas.microsoft.com/office/powerpoint/2010/main" val="3473557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BAF35-53EF-34BF-5EBB-6E128490E27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D61A549-40C0-D7A0-1E66-93D3D4072175}"/>
              </a:ext>
            </a:extLst>
          </p:cNvPr>
          <p:cNvSpPr/>
          <p:nvPr>
            <p:custDataLst>
              <p:tags r:id="rId1"/>
            </p:custDataLst>
          </p:nvPr>
        </p:nvSpPr>
        <p:spPr>
          <a:xfrm>
            <a:off x="260647" y="1691680"/>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Instructions de vente spéciales 30 avril au 5 mai 2025</a:t>
            </a:r>
          </a:p>
        </p:txBody>
      </p:sp>
      <p:sp>
        <p:nvSpPr>
          <p:cNvPr id="8" name="Rectangle 7">
            <a:extLst>
              <a:ext uri="{FF2B5EF4-FFF2-40B4-BE49-F238E27FC236}">
                <a16:creationId xmlns:a16="http://schemas.microsoft.com/office/drawing/2014/main" id="{6D4F5C0C-5CF2-AE6C-16F8-5DC9CA60092D}"/>
              </a:ext>
            </a:extLst>
          </p:cNvPr>
          <p:cNvSpPr/>
          <p:nvPr>
            <p:custDataLst>
              <p:tags r:id="rId2"/>
            </p:custDataLst>
          </p:nvPr>
        </p:nvSpPr>
        <p:spPr>
          <a:xfrm>
            <a:off x="260646" y="2252637"/>
            <a:ext cx="6408713" cy="5909310"/>
          </a:xfrm>
          <a:prstGeom prst="rect">
            <a:avLst/>
          </a:prstGeom>
          <a:noFill/>
          <a:ln>
            <a:solidFill>
              <a:schemeClr val="tx1"/>
            </a:solidFill>
          </a:ln>
        </p:spPr>
        <p:txBody>
          <a:bodyPr wrap="square">
            <a:spAutoFit/>
          </a:bodyPr>
          <a:lstStyle/>
          <a:p>
            <a:r>
              <a:rPr lang="fr-CA" sz="1400" dirty="0">
                <a:latin typeface="Nunito" pitchFamily="2" charset="0"/>
              </a:rPr>
              <a:t>C’est le retour des « Weekend en folie » avec des promotions spéciales en cours! Nous aurons de la publicité radio partout au Québec en plus de plusieurs stations de radio en directes (live) samedi et dimanche dans nos magasins Club Piscine du Grand Montréal!</a:t>
            </a:r>
          </a:p>
          <a:p>
            <a:endParaRPr lang="fr-CA" sz="1400" b="1" dirty="0">
              <a:latin typeface="Nunito" pitchFamily="2" charset="0"/>
            </a:endParaRPr>
          </a:p>
          <a:p>
            <a:r>
              <a:rPr lang="fr-CA" sz="1400" b="1" dirty="0">
                <a:latin typeface="Nunito" pitchFamily="2" charset="0"/>
              </a:rPr>
              <a:t>Nous annoncerons que la vente se déroule le weekend du 3-4 mai mais les promotions seront valides du 30 avril au 5 mai 2025. </a:t>
            </a:r>
            <a:r>
              <a:rPr lang="fr-CA" sz="1400" dirty="0">
                <a:latin typeface="Nunito" pitchFamily="2" charset="0"/>
              </a:rPr>
              <a:t>Ne peut s’appliquer sur vos ventes antérieures. </a:t>
            </a:r>
          </a:p>
          <a:p>
            <a:endParaRPr lang="fr-CA" sz="1400" b="1" dirty="0">
              <a:latin typeface="Nunito" pitchFamily="2" charset="0"/>
            </a:endParaRPr>
          </a:p>
          <a:p>
            <a:pPr marL="285750" indent="-285750">
              <a:buFont typeface="Arial" panose="020B0604020202020204" pitchFamily="34" charset="0"/>
              <a:buChar char="•"/>
            </a:pPr>
            <a:r>
              <a:rPr lang="fr-CA" sz="1400" b="1" dirty="0">
                <a:latin typeface="Nunito" pitchFamily="2" charset="0"/>
              </a:rPr>
              <a:t>CADEAU: Serviette Club Piscine GRATUITE aux 50 premiers clients samedi et dimanche!</a:t>
            </a:r>
          </a:p>
          <a:p>
            <a:pPr marL="742950" lvl="1" indent="-285750">
              <a:buFont typeface="Wingdings" panose="05000000000000000000" pitchFamily="2" charset="2"/>
              <a:buChar char="Ø"/>
            </a:pPr>
            <a:r>
              <a:rPr lang="fr-CA" sz="1400" dirty="0">
                <a:latin typeface="Nunito" pitchFamily="2" charset="0"/>
              </a:rPr>
              <a:t>Vous devrez remettre une serviette à vos 50 premiers clients qui passeront à la caisse samedi et dimanche. Aucun minimum d’achat requis.</a:t>
            </a:r>
          </a:p>
          <a:p>
            <a:pPr marL="285750" indent="-285750">
              <a:buFont typeface="Arial" panose="020B0604020202020204" pitchFamily="34" charset="0"/>
              <a:buChar char="•"/>
            </a:pPr>
            <a:r>
              <a:rPr lang="fr-CA" sz="1400" b="1" dirty="0">
                <a:latin typeface="Nunito" pitchFamily="2" charset="0"/>
              </a:rPr>
              <a:t>GAZEBO</a:t>
            </a:r>
          </a:p>
          <a:p>
            <a:pPr marL="742950" lvl="1" indent="-285750">
              <a:buFont typeface="Arial" panose="020B0604020202020204" pitchFamily="34" charset="0"/>
              <a:buChar char="•"/>
            </a:pPr>
            <a:r>
              <a:rPr lang="fr-CA" sz="1400" b="1" dirty="0">
                <a:latin typeface="Nunito" pitchFamily="2" charset="0"/>
              </a:rPr>
              <a:t>À l’achat d’un gazebo de 1500$ et plus, obtenez un luminaire VALENCE gratuitement  – </a:t>
            </a:r>
            <a:r>
              <a:rPr lang="fr-CA" sz="1400" b="1" dirty="0">
                <a:solidFill>
                  <a:srgbClr val="FF0000"/>
                </a:solidFill>
                <a:latin typeface="Nunito" pitchFamily="2" charset="0"/>
              </a:rPr>
              <a:t>valide tout le mois de mai.</a:t>
            </a:r>
            <a:endParaRPr lang="fr-CA" sz="1400" b="1" dirty="0">
              <a:latin typeface="Nunito" pitchFamily="2" charset="0"/>
            </a:endParaRPr>
          </a:p>
          <a:p>
            <a:pPr marL="742950" lvl="1" indent="-285750">
              <a:buFont typeface="Arial" panose="020B0604020202020204" pitchFamily="34" charset="0"/>
              <a:buChar char="•"/>
            </a:pPr>
            <a:r>
              <a:rPr lang="fr-CA" sz="1400" b="1" dirty="0">
                <a:latin typeface="Nunito" pitchFamily="2" charset="0"/>
              </a:rPr>
              <a:t>25% de rabais sur les accessoires </a:t>
            </a:r>
            <a:r>
              <a:rPr lang="fr-CA" sz="1400" b="1" dirty="0" err="1">
                <a:latin typeface="Nunito" pitchFamily="2" charset="0"/>
              </a:rPr>
              <a:t>Visscher</a:t>
            </a:r>
            <a:r>
              <a:rPr lang="fr-CA" sz="1400" b="1" dirty="0">
                <a:latin typeface="Nunito" pitchFamily="2" charset="0"/>
              </a:rPr>
              <a:t> sélectionnés </a:t>
            </a:r>
            <a:r>
              <a:rPr lang="fr-FR" sz="1400" b="1" u="sng" dirty="0">
                <a:latin typeface="Nunito" pitchFamily="2" charset="0"/>
              </a:rPr>
              <a:t>du 30 avril au 13 mai</a:t>
            </a:r>
            <a:r>
              <a:rPr lang="fr-FR" sz="1400" u="sng" dirty="0"/>
              <a:t> </a:t>
            </a:r>
            <a:r>
              <a:rPr lang="fr-CA" sz="1400" b="1" dirty="0">
                <a:latin typeface="Nunito" pitchFamily="2" charset="0"/>
              </a:rPr>
              <a:t>(voir Annexes de vente pour les PTR).</a:t>
            </a:r>
          </a:p>
          <a:p>
            <a:pPr marL="285750" indent="-285750">
              <a:buFont typeface="Arial" panose="020B0604020202020204" pitchFamily="34" charset="0"/>
              <a:buChar char="•"/>
            </a:pPr>
            <a:endParaRPr lang="fr-CA" sz="1400" b="1" dirty="0">
              <a:latin typeface="Nunito" pitchFamily="2" charset="0"/>
            </a:endParaRPr>
          </a:p>
          <a:p>
            <a:pPr marL="285750" indent="-285750">
              <a:buFont typeface="Arial" panose="020B0604020202020204" pitchFamily="34" charset="0"/>
              <a:buChar char="•"/>
            </a:pPr>
            <a:r>
              <a:rPr lang="fr-CA" sz="1400" b="1" dirty="0">
                <a:latin typeface="Nunito" pitchFamily="2" charset="0"/>
              </a:rPr>
              <a:t>MEUBLE</a:t>
            </a:r>
          </a:p>
          <a:p>
            <a:pPr marL="742950" lvl="1" indent="-285750">
              <a:buFont typeface="Arial" panose="020B0604020202020204" pitchFamily="34" charset="0"/>
              <a:buChar char="•"/>
            </a:pPr>
            <a:r>
              <a:rPr lang="fr-CA" sz="1400" b="1" dirty="0">
                <a:latin typeface="Nunito" pitchFamily="2" charset="0"/>
              </a:rPr>
              <a:t>Rabais de taxes en cours + 12 mois sans paiement ni intérêt + un produit d’entretien Club Piscine au choix offert gratuitement – </a:t>
            </a:r>
            <a:r>
              <a:rPr lang="fr-CA" sz="1400" b="1" dirty="0">
                <a:solidFill>
                  <a:srgbClr val="FF0000"/>
                </a:solidFill>
                <a:latin typeface="Nunito" pitchFamily="2" charset="0"/>
              </a:rPr>
              <a:t>valide tout le mois de mai.</a:t>
            </a:r>
          </a:p>
          <a:p>
            <a:pPr marL="742950" lvl="1" indent="-285750">
              <a:buFont typeface="Arial" panose="020B0604020202020204" pitchFamily="34" charset="0"/>
              <a:buChar char="•"/>
            </a:pPr>
            <a:r>
              <a:rPr lang="fr-CA" sz="1400" b="1" dirty="0">
                <a:latin typeface="Nunito" pitchFamily="2" charset="0"/>
              </a:rPr>
              <a:t>Jusqu’à 10% de rabais additionnel sur meubles et accessoires sélectionnés (voir Annexes de vente).</a:t>
            </a:r>
          </a:p>
          <a:p>
            <a:pPr marL="742950" lvl="1" indent="-285750">
              <a:buFont typeface="Arial" panose="020B0604020202020204" pitchFamily="34" charset="0"/>
              <a:buChar char="•"/>
            </a:pPr>
            <a:r>
              <a:rPr lang="fr-CA" sz="1400" b="1" dirty="0">
                <a:latin typeface="Nunito" pitchFamily="2" charset="0"/>
              </a:rPr>
              <a:t>10% de rabais sur les plantes artificielles.</a:t>
            </a:r>
            <a:endParaRPr lang="fr-CA" sz="1200" b="1" dirty="0">
              <a:latin typeface="Nunito" pitchFamily="2" charset="0"/>
            </a:endParaRPr>
          </a:p>
        </p:txBody>
      </p:sp>
      <p:sp>
        <p:nvSpPr>
          <p:cNvPr id="2" name="Espace réservé du numéro de diapositive 1">
            <a:extLst>
              <a:ext uri="{FF2B5EF4-FFF2-40B4-BE49-F238E27FC236}">
                <a16:creationId xmlns:a16="http://schemas.microsoft.com/office/drawing/2014/main" id="{ED6C500A-3847-59CE-93C5-EE4B10B618FD}"/>
              </a:ext>
            </a:extLst>
          </p:cNvPr>
          <p:cNvSpPr>
            <a:spLocks noGrp="1"/>
          </p:cNvSpPr>
          <p:nvPr>
            <p:ph type="sldNum" sz="quarter" idx="12"/>
            <p:custDataLst>
              <p:tags r:id="rId3"/>
            </p:custDataLst>
          </p:nvPr>
        </p:nvSpPr>
        <p:spPr/>
        <p:txBody>
          <a:bodyPr/>
          <a:lstStyle/>
          <a:p>
            <a:fld id="{31F4C03E-007A-4FDF-9746-0F09F296E587}" type="slidenum">
              <a:rPr lang="fr-CA" smtClean="0"/>
              <a:t>2</a:t>
            </a:fld>
            <a:endParaRPr lang="fr-CA" dirty="0"/>
          </a:p>
        </p:txBody>
      </p:sp>
      <p:sp>
        <p:nvSpPr>
          <p:cNvPr id="7" name="Zone de texte 28">
            <a:extLst>
              <a:ext uri="{FF2B5EF4-FFF2-40B4-BE49-F238E27FC236}">
                <a16:creationId xmlns:a16="http://schemas.microsoft.com/office/drawing/2014/main" id="{EEAE25DF-A0EE-CA37-4B91-EA7FF28DEFFC}"/>
              </a:ext>
            </a:extLst>
          </p:cNvPr>
          <p:cNvSpPr txBox="1">
            <a:spLocks/>
          </p:cNvSpPr>
          <p:nvPr>
            <p:custDataLst>
              <p:tags r:id="rId4"/>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en-CA" sz="3600" b="1" dirty="0">
                <a:solidFill>
                  <a:srgbClr val="1447AB"/>
                </a:solidFill>
                <a:latin typeface="Nunito" pitchFamily="2" charset="0"/>
              </a:rPr>
              <a:t>W</a:t>
            </a:r>
            <a:r>
              <a:rPr lang="fr-CA" sz="3600" b="1" dirty="0" err="1">
                <a:solidFill>
                  <a:srgbClr val="1447AB"/>
                </a:solidFill>
                <a:latin typeface="Nunito" pitchFamily="2" charset="0"/>
              </a:rPr>
              <a:t>eekend</a:t>
            </a:r>
            <a:r>
              <a:rPr lang="fr-CA" sz="3600" b="1" dirty="0">
                <a:solidFill>
                  <a:srgbClr val="1447AB"/>
                </a:solidFill>
                <a:latin typeface="Nunito" pitchFamily="2" charset="0"/>
              </a:rPr>
              <a:t> en folie</a:t>
            </a:r>
            <a:endParaRPr lang="fr-CA" sz="2800" b="1" dirty="0">
              <a:solidFill>
                <a:srgbClr val="1447AB"/>
              </a:solidFill>
              <a:latin typeface="Nunito" pitchFamily="2" charset="0"/>
            </a:endParaRPr>
          </a:p>
        </p:txBody>
      </p:sp>
      <p:sp>
        <p:nvSpPr>
          <p:cNvPr id="4" name="ZoneTexte 3">
            <a:extLst>
              <a:ext uri="{FF2B5EF4-FFF2-40B4-BE49-F238E27FC236}">
                <a16:creationId xmlns:a16="http://schemas.microsoft.com/office/drawing/2014/main" id="{77337219-0728-892C-5DD3-1F3121A69915}"/>
              </a:ext>
            </a:extLst>
          </p:cNvPr>
          <p:cNvSpPr txBox="1"/>
          <p:nvPr>
            <p:custDataLst>
              <p:tags r:id="rId5"/>
            </p:custDataLst>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Édition meuble de jardin</a:t>
            </a:r>
          </a:p>
        </p:txBody>
      </p:sp>
      <p:pic>
        <p:nvPicPr>
          <p:cNvPr id="5" name="Image 4" descr="Une image contenant Graphique, Police, émoticône, texte&#10;&#10;Le contenu généré par l’IA peut être incorrect.">
            <a:extLst>
              <a:ext uri="{FF2B5EF4-FFF2-40B4-BE49-F238E27FC236}">
                <a16:creationId xmlns:a16="http://schemas.microsoft.com/office/drawing/2014/main" id="{BC988F3A-F593-1BE3-543B-79B2AA7F41F0}"/>
              </a:ext>
            </a:extLst>
          </p:cNvPr>
          <p:cNvPicPr>
            <a:picLocks noChangeAspect="1"/>
          </p:cNvPicPr>
          <p:nvPr>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spTree>
    <p:extLst>
      <p:ext uri="{BB962C8B-B14F-4D97-AF65-F5344CB8AC3E}">
        <p14:creationId xmlns:p14="http://schemas.microsoft.com/office/powerpoint/2010/main" val="9243824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3"/>
</p:tagLst>
</file>

<file path=ppt/tags/tag9.xml><?xml version="1.0" encoding="utf-8"?>
<p:tagLst xmlns:a="http://schemas.openxmlformats.org/drawingml/2006/main" xmlns:r="http://schemas.openxmlformats.org/officeDocument/2006/relationships" xmlns:p="http://schemas.openxmlformats.org/presentationml/2006/main">
  <p:tag name="NUM" val="4"/>
</p:tagLst>
</file>

<file path=ppt/tags/tag10.xml><?xml version="1.0" encoding="utf-8"?>
<p:tagLst xmlns:a="http://schemas.openxmlformats.org/drawingml/2006/main" xmlns:r="http://schemas.openxmlformats.org/officeDocument/2006/relationships" xmlns:p="http://schemas.openxmlformats.org/presentationml/2006/main">
  <p:tag name="NUM" val="5"/>
</p:tagLst>
</file>

<file path=ppt/tags/tag11.xml><?xml version="1.0" encoding="utf-8"?>
<p:tagLst xmlns:a="http://schemas.openxmlformats.org/drawingml/2006/main" xmlns:r="http://schemas.openxmlformats.org/officeDocument/2006/relationships" xmlns:p="http://schemas.openxmlformats.org/presentationml/2006/main">
  <p:tag name="NUM" val="6"/>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F7642783BF5F549AD8264003DAC5479" ma:contentTypeVersion="3" ma:contentTypeDescription="Crée un document." ma:contentTypeScope="" ma:versionID="dce298f75874831ad4b69d3856d448b0">
  <xsd:schema xmlns:xsd="http://www.w3.org/2001/XMLSchema" xmlns:xs="http://www.w3.org/2001/XMLSchema" xmlns:p="http://schemas.microsoft.com/office/2006/metadata/properties" xmlns:ns2="be3f775b-911d-49d5-9e9c-70e93af7b92b" targetNamespace="http://schemas.microsoft.com/office/2006/metadata/properties" ma:root="true" ma:fieldsID="b29a77cbcb573c1061bfa2edeefbf14c" ns2:_="">
    <xsd:import namespace="be3f775b-911d-49d5-9e9c-70e93af7b92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3f775b-911d-49d5-9e9c-70e93af7b9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1E1C49C-B943-4250-BB39-87973E798E95}">
  <ds:schemaRefs>
    <ds:schemaRef ds:uri="8682f7ec-9bef-4d6d-8d5c-0ec39e002ff3"/>
    <ds:schemaRef ds:uri="http://purl.org/dc/terms/"/>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purl.org/dc/dcmitype/"/>
    <ds:schemaRef ds:uri="http://purl.org/dc/elements/1.1/"/>
  </ds:schemaRefs>
</ds:datastoreItem>
</file>

<file path=customXml/itemProps2.xml><?xml version="1.0" encoding="utf-8"?>
<ds:datastoreItem xmlns:ds="http://schemas.openxmlformats.org/officeDocument/2006/customXml" ds:itemID="{3E989CD4-6282-4324-8A06-6FFA44058C0A}"/>
</file>

<file path=customXml/itemProps3.xml><?xml version="1.0" encoding="utf-8"?>
<ds:datastoreItem xmlns:ds="http://schemas.openxmlformats.org/officeDocument/2006/customXml" ds:itemID="{993C392B-F690-4267-8D4E-0D4DB769B88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52517</TotalTime>
  <Words>255</Words>
  <Application>Microsoft Office PowerPoint</Application>
  <PresentationFormat>Affichage à l'écran (4:3)</PresentationFormat>
  <Paragraphs>22</Paragraphs>
  <Slides>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vt:i4>
      </vt:variant>
    </vt:vector>
  </HeadingPairs>
  <TitlesOfParts>
    <vt:vector size="7" baseType="lpstr">
      <vt:lpstr>Arial</vt:lpstr>
      <vt:lpstr>Calibri</vt:lpstr>
      <vt:lpstr>Nunito</vt:lpstr>
      <vt:lpstr>Wingdings</vt:lpstr>
      <vt:lpstr>Thème Office</vt:lpstr>
      <vt:lpstr>Présentation PowerPoint</vt:lpstr>
      <vt:lpstr>Présentation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Cindy Angelini</dc:creator>
  <cp:lastModifiedBy>Veronique Dion</cp:lastModifiedBy>
  <cp:revision>1673</cp:revision>
  <cp:lastPrinted>2022-04-27T14:46:34Z</cp:lastPrinted>
  <dcterms:created xsi:type="dcterms:W3CDTF">2017-05-24T18:44:46Z</dcterms:created>
  <dcterms:modified xsi:type="dcterms:W3CDTF">2025-04-25T18:17:09Z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0x010100DF7642783BF5F549AD8264003DAC5479</vt:lpwstr>
  </property>
  <property fmtid="{D5CDD505-2E9C-101B-9397-08002B2CF9AE}" pid="3" name="CPProgramYearTaxo">
    <vt:lpwstr>395;#2021|67d85b28-9b94-4781-b0e7-a14780e90c05</vt:lpwstr>
  </property>
  <property fmtid="{D5CDD505-2E9C-101B-9397-08002B2CF9AE}" pid="4" name="CPDivisionTaxo">
    <vt:lpwstr>25;#Marketing / Marketing|0ce858d0-7a7f-4510-bcd3-2b6f6fd047da</vt:lpwstr>
  </property>
  <property fmtid="{D5CDD505-2E9C-101B-9397-08002B2CF9AE}" pid="5" name="CPLanguageTaxos">
    <vt:lpwstr>4;#FR|5610c2fe-5657-4d60-b756-13a60f4693e4</vt:lpwstr>
  </property>
  <property fmtid="{D5CDD505-2E9C-101B-9397-08002B2CF9AE}" pid="6" name="CPProviderTaxo">
    <vt:lpwstr/>
  </property>
  <property fmtid="{D5CDD505-2E9C-101B-9397-08002B2CF9AE}" pid="7" name="CPTargetDepartmentTaxos">
    <vt:lpwstr/>
  </property>
</Properties>
</file>