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65" r:id="rId5"/>
    <p:sldId id="281" r:id="rId6"/>
    <p:sldId id="276" r:id="rId7"/>
    <p:sldId id="285" r:id="rId8"/>
    <p:sldId id="275" r:id="rId9"/>
    <p:sldId id="267" r:id="rId10"/>
    <p:sldId id="270" r:id="rId11"/>
    <p:sldId id="266" r:id="rId12"/>
    <p:sldId id="273" r:id="rId13"/>
    <p:sldId id="272" r:id="rId14"/>
    <p:sldId id="286" r:id="rId15"/>
  </p:sldIdLst>
  <p:sldSz cx="6858000" cy="9144000" type="screen4x3"/>
  <p:notesSz cx="6950075" cy="92360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CDE9"/>
    <a:srgbClr val="1447AB"/>
    <a:srgbClr val="3068D9"/>
    <a:srgbClr val="218BCB"/>
    <a:srgbClr val="229FCC"/>
    <a:srgbClr val="48B8E0"/>
    <a:srgbClr val="2FA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/>
  </p:normalViewPr>
  <p:slideViewPr>
    <p:cSldViewPr>
      <p:cViewPr varScale="1">
        <p:scale>
          <a:sx n="79" d="100"/>
          <a:sy n="79" d="100"/>
        </p:scale>
        <p:origin x="3144" y="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4EA55-1F88-4D33-948F-129C030CA228}" type="datetimeFigureOut">
              <a:rPr lang="fr-FR" smtClean="0"/>
              <a:t>20/05/2025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1154113"/>
            <a:ext cx="23399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FADA9-DAE0-49B2-8C03-98CBE54838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95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70F1-02CD-4B62-A24E-C50745FFF5F5}" type="datetime1">
              <a:rPr lang="fr-CA" smtClean="0"/>
              <a:t>2025-05-20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804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B3501-DB26-46B1-B49D-78AAEDB8FBB0}" type="datetime1">
              <a:rPr lang="fr-CA" smtClean="0"/>
              <a:t>2025-05-20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688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7A85-2AFD-4815-A0A7-D4B79870DF4B}" type="datetime1">
              <a:rPr lang="fr-CA" smtClean="0"/>
              <a:t>2025-05-20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7159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6F20-C377-4AED-9510-F5ADE3870E9C}" type="datetime1">
              <a:rPr lang="fr-CA" smtClean="0"/>
              <a:t>2025-05-20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223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6B50-1D08-40D3-BECA-FFE7DEF4ECA0}" type="datetime1">
              <a:rPr lang="fr-CA" smtClean="0"/>
              <a:t>2025-05-20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151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A913-A0AB-4357-9718-F642A4CB965C}" type="datetime1">
              <a:rPr lang="fr-CA" smtClean="0"/>
              <a:t>2025-05-20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24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8FFD-9EF2-4DF5-ADE3-0FA2D06B7D28}" type="datetime1">
              <a:rPr lang="fr-CA" smtClean="0"/>
              <a:t>2025-05-20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837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A06B-BE77-4E72-9CCA-00E4DEE9532E}" type="datetime1">
              <a:rPr lang="fr-CA" smtClean="0"/>
              <a:t>2025-05-20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455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BF81-A9BE-418D-9E78-24D0919B7A1C}" type="datetime1">
              <a:rPr lang="fr-CA" smtClean="0"/>
              <a:t>2025-05-20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857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EE61-C885-4A50-BEE7-C9DDDBD88187}" type="datetime1">
              <a:rPr lang="fr-CA" smtClean="0"/>
              <a:t>2025-05-20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004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C38EA-1C13-48D8-9A28-13347BB0C9CB}" type="datetime1">
              <a:rPr lang="fr-CA" smtClean="0"/>
              <a:t>2025-05-20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692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A8D5B-1515-4F97-901C-AB1B94820B7C}" type="datetime1">
              <a:rPr lang="fr-CA" smtClean="0"/>
              <a:t>2025-05-20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5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5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7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9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4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10" Type="http://schemas.openxmlformats.org/officeDocument/2006/relationships/image" Target="../media/image1.png"/><Relationship Id="rId4" Type="http://schemas.openxmlformats.org/officeDocument/2006/relationships/tags" Target="../tags/tag48.xml"/><Relationship Id="rId9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55.xml"/><Relationship Id="rId7" Type="http://schemas.openxmlformats.org/officeDocument/2006/relationships/image" Target="../media/image2.pn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hyperlink" Target="https://www.clubpiscine.ca/fr/financement" TargetMode="Externa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6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RÉSUMÉ DES PROMOS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252637"/>
            <a:ext cx="6408713" cy="52360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CA" sz="14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Voici les principaux changements:</a:t>
            </a:r>
            <a:endParaRPr lang="fr-CA" sz="14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SPA 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1000$ de rabais sur tous les SOLSTICE et 750$ de rabais sur tous les JACUZZI 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fr-FR" sz="1400" dirty="0">
                <a:solidFill>
                  <a:srgbClr val="000000"/>
                </a:solidFill>
                <a:latin typeface="Nunit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Plus! Obtenez une carte promo de 500$ (</a:t>
            </a:r>
            <a:r>
              <a:rPr lang="fr-CA" sz="1400" dirty="0"/>
              <a:t>Promotion non diffusée)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Nunito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PISCINES HT : 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Rabais de 800$ sur toutes les piscines hors terre + 300$ de rabais sur une thermopompe  +  ICO Gratuit.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CREUSÉE: </a:t>
            </a:r>
            <a:r>
              <a:rPr lang="fr-CA" sz="14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Jusqu’à 4000$ sur  les piscines creusées + marche VOS 10pi gratuite!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FIBRE:  </a:t>
            </a:r>
            <a:r>
              <a:rPr lang="fr-CA" sz="14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Aucun changement.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  <a:cs typeface="Times New Roman" panose="02020603050405020304" pitchFamily="18" charset="0"/>
              </a:rPr>
              <a:t>MEUBLE</a:t>
            </a:r>
            <a:r>
              <a:rPr lang="fr-CA" sz="1400" dirty="0">
                <a:latin typeface="Nunito" pitchFamily="2" charset="0"/>
                <a:cs typeface="Times New Roman" panose="02020603050405020304" pitchFamily="18" charset="0"/>
              </a:rPr>
              <a:t>: Même promotion mais ajout d’un produit d’entretien Club Piscine offert gratuitement avec achat de 500$ et plus.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GAZEBO:</a:t>
            </a:r>
            <a:r>
              <a:rPr lang="fr-CA" sz="14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 Jusqu’à 1000$ + luminaire VALENCE gratuit à l’achat d’un gazebo de plus de 1500$.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BBQ</a:t>
            </a:r>
            <a:r>
              <a:rPr lang="fr-CA" sz="14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 Voir promo du manufacturier en cours.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</a:t>
            </a:fld>
            <a:endParaRPr lang="fr-CA" dirty="0"/>
          </a:p>
        </p:txBody>
      </p:sp>
      <p:sp>
        <p:nvSpPr>
          <p:cNvPr id="7" name="Zone de texte 28">
            <a:extLst>
              <a:ext uri="{FF2B5EF4-FFF2-40B4-BE49-F238E27FC236}">
                <a16:creationId xmlns:a16="http://schemas.microsoft.com/office/drawing/2014/main" id="{9954BF8A-DD31-9DF8-A9CE-38C033095C3B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81EABBC-C49F-FFC2-4E49-3F25AF558C54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30 avril au 27 mai 2025</a:t>
            </a:r>
          </a:p>
        </p:txBody>
      </p:sp>
      <p:pic>
        <p:nvPicPr>
          <p:cNvPr id="5" name="Image 4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6A011CA4-D025-2CF7-B847-8536ABDB2C7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8B0C627-E33D-56E6-4D72-651D6EA52AA9}"/>
              </a:ext>
            </a:extLst>
          </p:cNvPr>
          <p:cNvSpPr txBox="1"/>
          <p:nvPr/>
        </p:nvSpPr>
        <p:spPr>
          <a:xfrm>
            <a:off x="1016731" y="8613657"/>
            <a:ext cx="48245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fr-FR" sz="8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Voir toutes les promotions détaillées dans les pages suivantes.</a:t>
            </a:r>
            <a:endParaRPr lang="fr-FR" sz="800" dirty="0"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557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6" y="2267744"/>
            <a:ext cx="6408713" cy="5693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400" b="1" dirty="0">
                <a:latin typeface="Nunito" pitchFamily="2" charset="0"/>
              </a:rPr>
              <a:t>JACUZZI </a:t>
            </a:r>
            <a:endParaRPr lang="fr-CA" sz="1400" dirty="0">
              <a:latin typeface="Nunito" pitchFamily="2" charset="0"/>
            </a:endParaRP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>
                <a:latin typeface="Nunito" pitchFamily="2" charset="0"/>
              </a:rPr>
              <a:t>Rabais de 750$ </a:t>
            </a:r>
            <a:r>
              <a:rPr lang="fr-FR" sz="1400" dirty="0">
                <a:latin typeface="Nunito" pitchFamily="2" charset="0"/>
              </a:rPr>
              <a:t>sur tous les JACUZZI 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>
                <a:latin typeface="Nunito" pitchFamily="2" charset="0"/>
              </a:rPr>
              <a:t>Carte promo de 500$ </a:t>
            </a:r>
            <a:r>
              <a:rPr lang="fr-FR" sz="1400" dirty="0">
                <a:latin typeface="Nunito" pitchFamily="2" charset="0"/>
              </a:rPr>
              <a:t>à l’achat d’un spa (Promotion non diffusée)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dirty="0">
                <a:latin typeface="Nunito" pitchFamily="2" charset="0"/>
              </a:rPr>
              <a:t>Rabais de 50% sur l’option de </a:t>
            </a:r>
            <a:r>
              <a:rPr lang="fr-FR" sz="1400" b="1" dirty="0">
                <a:latin typeface="Nunito" pitchFamily="2" charset="0"/>
              </a:rPr>
              <a:t>couleur mat Canyon </a:t>
            </a:r>
            <a:r>
              <a:rPr lang="fr-FR" sz="1400" dirty="0">
                <a:latin typeface="Nunito" pitchFamily="2" charset="0"/>
              </a:rPr>
              <a:t>PTR 182471, 182472, 182473 et 182474 (valeur de 500$ donc rabais de 250$). Promotion non diffusée.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400" dirty="0">
                <a:latin typeface="Nunito" pitchFamily="2" charset="0"/>
              </a:rPr>
              <a:t>Le levier, la marche, et le GFCI standards sont </a:t>
            </a:r>
            <a:r>
              <a:rPr lang="fr-CA" sz="1400" b="1" dirty="0">
                <a:latin typeface="Nunito" pitchFamily="2" charset="0"/>
              </a:rPr>
              <a:t>INCLUS</a:t>
            </a:r>
            <a:r>
              <a:rPr lang="fr-CA" sz="1400" dirty="0">
                <a:latin typeface="Nunito" pitchFamily="2" charset="0"/>
              </a:rPr>
              <a:t>.</a:t>
            </a:r>
            <a:endParaRPr lang="fr-FR" sz="1400" b="1" dirty="0">
              <a:latin typeface="Nunito" pitchFamily="2" charset="0"/>
            </a:endParaRP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dirty="0">
                <a:latin typeface="Nunito" pitchFamily="2" charset="0"/>
              </a:rPr>
              <a:t>La livraison </a:t>
            </a:r>
            <a:r>
              <a:rPr lang="fr-FR" sz="1400" b="1" dirty="0">
                <a:latin typeface="Nunito" pitchFamily="2" charset="0"/>
              </a:rPr>
              <a:t>N’EST PAS INCLUSE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>
                <a:latin typeface="Nunito" pitchFamily="2" charset="0"/>
              </a:rPr>
              <a:t>Financement: </a:t>
            </a:r>
            <a:r>
              <a:rPr lang="fr-FR" sz="1400" dirty="0">
                <a:latin typeface="Nunito" pitchFamily="2" charset="0"/>
              </a:rPr>
              <a:t>Il n’y a pas de promotion de financement mais vous pouvez offrir l’un des plans réguliers qui se trouvent à la dernière page des instructions de vente.</a:t>
            </a:r>
          </a:p>
          <a:p>
            <a:endParaRPr lang="fr-CA" sz="1400" b="1" dirty="0">
              <a:latin typeface="Nunito" pitchFamily="2" charset="0"/>
            </a:endParaRPr>
          </a:p>
          <a:p>
            <a:r>
              <a:rPr lang="fr-FR" sz="1400" b="1" dirty="0">
                <a:effectLst/>
                <a:latin typeface="Nunito" pitchFamily="2" charset="0"/>
              </a:rPr>
              <a:t>TROUSSE 2025</a:t>
            </a:r>
          </a:p>
          <a:p>
            <a:r>
              <a:rPr lang="fr-FR" sz="1400" dirty="0">
                <a:effectLst/>
                <a:latin typeface="Nunito" pitchFamily="2" charset="0"/>
              </a:rPr>
              <a:t>Tous les modèles viennent avec la promotion ‘’Trousse énergétique </a:t>
            </a:r>
            <a:r>
              <a:rPr lang="fr-FR" sz="1400" dirty="0" err="1">
                <a:effectLst/>
                <a:latin typeface="Nunito" pitchFamily="2" charset="0"/>
              </a:rPr>
              <a:t>SmartTub</a:t>
            </a:r>
            <a:r>
              <a:rPr lang="fr-FR" sz="1400" dirty="0">
                <a:effectLst/>
                <a:latin typeface="Nunito" pitchFamily="2" charset="0"/>
              </a:rPr>
              <a:t> </a:t>
            </a:r>
            <a:r>
              <a:rPr lang="fr-FR" sz="1400" dirty="0" err="1">
                <a:effectLst/>
                <a:latin typeface="Nunito" pitchFamily="2" charset="0"/>
              </a:rPr>
              <a:t>play</a:t>
            </a:r>
            <a:r>
              <a:rPr lang="fr-FR" sz="1400" dirty="0">
                <a:effectLst/>
                <a:latin typeface="Nunito" pitchFamily="2" charset="0"/>
              </a:rPr>
              <a:t>’’ d’une valeur ajoutée de :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fr-FR" sz="1400" b="1" dirty="0">
                <a:latin typeface="Nunito" pitchFamily="2" charset="0"/>
                <a:cs typeface="Times New Roman" panose="02020603050405020304" pitchFamily="18" charset="0"/>
              </a:rPr>
              <a:t>1998$ 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sur la série J-300 incluant l'application Smart Tub + la couverture </a:t>
            </a:r>
            <a:r>
              <a:rPr lang="fr-FR" sz="1400" dirty="0" err="1">
                <a:latin typeface="Nunito" pitchFamily="2" charset="0"/>
                <a:cs typeface="Times New Roman" panose="02020603050405020304" pitchFamily="18" charset="0"/>
              </a:rPr>
              <a:t>Prolast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 </a:t>
            </a:r>
            <a:r>
              <a:rPr lang="fr-FR" sz="1400" dirty="0" err="1">
                <a:latin typeface="Nunito" pitchFamily="2" charset="0"/>
                <a:cs typeface="Times New Roman" panose="02020603050405020304" pitchFamily="18" charset="0"/>
              </a:rPr>
              <a:t>Extreme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 + l'isolation Smart Seal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fr-FR" sz="1400" b="1" dirty="0">
                <a:latin typeface="Nunito" pitchFamily="2" charset="0"/>
                <a:cs typeface="Times New Roman" panose="02020603050405020304" pitchFamily="18" charset="0"/>
              </a:rPr>
              <a:t>999$ 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sur la série J-400 incluant la couverture </a:t>
            </a:r>
            <a:r>
              <a:rPr lang="fr-FR" sz="1400" dirty="0" err="1">
                <a:latin typeface="Nunito" pitchFamily="2" charset="0"/>
                <a:cs typeface="Times New Roman" panose="02020603050405020304" pitchFamily="18" charset="0"/>
              </a:rPr>
              <a:t>Prolast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 </a:t>
            </a:r>
            <a:r>
              <a:rPr lang="fr-FR" sz="1400" dirty="0" err="1">
                <a:latin typeface="Nunito" pitchFamily="2" charset="0"/>
                <a:cs typeface="Times New Roman" panose="02020603050405020304" pitchFamily="18" charset="0"/>
              </a:rPr>
              <a:t>Extreme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 + l'isolation Smart Seal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fr-FR" sz="1400" b="1" dirty="0">
                <a:latin typeface="Nunito" pitchFamily="2" charset="0"/>
                <a:cs typeface="Times New Roman" panose="02020603050405020304" pitchFamily="18" charset="0"/>
              </a:rPr>
              <a:t>300$ 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sur la série J-LX incluant la couverture </a:t>
            </a:r>
            <a:r>
              <a:rPr lang="fr-FR" sz="1400" dirty="0" err="1">
                <a:latin typeface="Nunito" pitchFamily="2" charset="0"/>
                <a:cs typeface="Times New Roman" panose="02020603050405020304" pitchFamily="18" charset="0"/>
              </a:rPr>
              <a:t>Prolast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 </a:t>
            </a:r>
            <a:r>
              <a:rPr lang="fr-FR" sz="1400" dirty="0" err="1">
                <a:latin typeface="Nunito" pitchFamily="2" charset="0"/>
                <a:cs typeface="Times New Roman" panose="02020603050405020304" pitchFamily="18" charset="0"/>
              </a:rPr>
              <a:t>Extreme</a:t>
            </a:r>
            <a:endParaRPr lang="fr-FR" sz="1400" dirty="0">
              <a:latin typeface="Nunito" pitchFamily="2" charset="0"/>
              <a:cs typeface="Times New Roman" panose="02020603050405020304" pitchFamily="18" charset="0"/>
            </a:endParaRP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Trousse en option sur la série J-200 d'une valeur de 1299$ incluant l'application Smart Tub et la couverture </a:t>
            </a:r>
            <a:r>
              <a:rPr lang="fr-FR" sz="1400" dirty="0" err="1">
                <a:latin typeface="Nunito" pitchFamily="2" charset="0"/>
                <a:cs typeface="Times New Roman" panose="02020603050405020304" pitchFamily="18" charset="0"/>
              </a:rPr>
              <a:t>Prolast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 </a:t>
            </a:r>
            <a:r>
              <a:rPr lang="fr-FR" sz="1400" dirty="0" err="1">
                <a:latin typeface="Nunito" pitchFamily="2" charset="0"/>
                <a:cs typeface="Times New Roman" panose="02020603050405020304" pitchFamily="18" charset="0"/>
              </a:rPr>
              <a:t>Extreme</a:t>
            </a:r>
            <a:endParaRPr lang="fr-FR" sz="1400" dirty="0">
              <a:latin typeface="Nunito" pitchFamily="2" charset="0"/>
              <a:cs typeface="Times New Roman" panose="02020603050405020304" pitchFamily="18" charset="0"/>
            </a:endParaRPr>
          </a:p>
          <a:p>
            <a:endParaRPr lang="fr-CA" sz="1400" dirty="0">
              <a:highlight>
                <a:srgbClr val="FFFF00"/>
              </a:highlight>
              <a:latin typeface="Nunito" pitchFamily="2" charset="0"/>
            </a:endParaRPr>
          </a:p>
          <a:p>
            <a:r>
              <a:rPr lang="fr-CA" sz="1400" b="1" dirty="0">
                <a:latin typeface="Nunito" pitchFamily="2" charset="0"/>
              </a:rPr>
              <a:t>PUBLICITÉ</a:t>
            </a:r>
            <a:r>
              <a:rPr lang="fr-CA" sz="1400" dirty="0">
                <a:latin typeface="Nunito" pitchFamily="2" charset="0"/>
              </a:rPr>
              <a:t>: La promotion jusqu’à 2748$ de rabais et avantages comprend 750$ de rabais + 1998$ Trousse d’économie d’énergie sur la série 300. 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2</a:t>
            </a:fld>
            <a:endParaRPr lang="fr-CA"/>
          </a:p>
        </p:txBody>
      </p:sp>
      <p:sp>
        <p:nvSpPr>
          <p:cNvPr id="9" name="Zone de texte 28">
            <a:extLst>
              <a:ext uri="{FF2B5EF4-FFF2-40B4-BE49-F238E27FC236}">
                <a16:creationId xmlns:a16="http://schemas.microsoft.com/office/drawing/2014/main" id="{BF7464D2-8A1C-6390-AFDD-26707DAEF7FD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90023B-B8AE-62B5-EBA4-FD4F7CFFF51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SPAS</a:t>
            </a:r>
          </a:p>
        </p:txBody>
      </p:sp>
      <p:pic>
        <p:nvPicPr>
          <p:cNvPr id="15" name="Image 14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FBDB696A-4C0C-3F06-1951-1FFE6A5440D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EC90878E-C259-7E50-05ED-F152041D84BD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30 avril au 27 mai 2025</a:t>
            </a:r>
          </a:p>
        </p:txBody>
      </p:sp>
    </p:spTree>
    <p:extLst>
      <p:ext uri="{BB962C8B-B14F-4D97-AF65-F5344CB8AC3E}">
        <p14:creationId xmlns:p14="http://schemas.microsoft.com/office/powerpoint/2010/main" val="132459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6" y="2267744"/>
            <a:ext cx="6408713" cy="60939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1200" dirty="0">
              <a:latin typeface="Nunito" pitchFamily="2" charset="0"/>
            </a:endParaRPr>
          </a:p>
          <a:p>
            <a:r>
              <a:rPr lang="fr-CA" sz="1400" b="1" dirty="0">
                <a:latin typeface="Nunito" pitchFamily="2" charset="0"/>
              </a:rPr>
              <a:t>SOLSTICE 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dirty="0">
                <a:latin typeface="Nunito" pitchFamily="2" charset="0"/>
              </a:rPr>
              <a:t>Rabais de 1000$ sur tous les SOLSTICE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>
                <a:latin typeface="Nunito" pitchFamily="2" charset="0"/>
              </a:rPr>
              <a:t>Carte promo de 500$ </a:t>
            </a:r>
            <a:r>
              <a:rPr lang="fr-FR" sz="1400" dirty="0">
                <a:latin typeface="Nunito" pitchFamily="2" charset="0"/>
              </a:rPr>
              <a:t>à l’achat d’un spa (Promotion non diffusée)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>
                <a:latin typeface="Nunito" pitchFamily="2" charset="0"/>
              </a:rPr>
              <a:t>Kit Premium GRATUIT </a:t>
            </a:r>
            <a:r>
              <a:rPr lang="fr-FR" sz="1400" dirty="0">
                <a:latin typeface="Nunito" pitchFamily="2" charset="0"/>
              </a:rPr>
              <a:t>: à l’achat d’un spa, obtenez un kit premium gratuitement (valeur de 489.89$). Comprend: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fr-FR" sz="1200" dirty="0">
                <a:latin typeface="Nunito" pitchFamily="2" charset="0"/>
              </a:rPr>
              <a:t>Levier Standard Mount 171826 (valeur de 319.99$)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fr-FR" sz="1200" dirty="0">
                <a:latin typeface="Nunito" pitchFamily="2" charset="0"/>
              </a:rPr>
              <a:t>Marche avec rangement 180232 (valeur de 169.99$)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endParaRPr lang="fr-FR" sz="1400" dirty="0">
              <a:latin typeface="Nunito" pitchFamily="2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b="1" dirty="0">
                <a:latin typeface="Nunito" pitchFamily="2" charset="0"/>
              </a:rPr>
              <a:t>PROMO: OBTENEZ 2 SERVIETTES SOLSTICE À L’ACHAT D’UN SPA </a:t>
            </a:r>
            <a:r>
              <a:rPr lang="fr-CA" sz="1400" dirty="0">
                <a:latin typeface="Nunito" pitchFamily="2" charset="0"/>
              </a:rPr>
              <a:t>(</a:t>
            </a:r>
            <a:r>
              <a:rPr lang="fr-CA" sz="1400" i="1" dirty="0">
                <a:latin typeface="Nunito" pitchFamily="2" charset="0"/>
              </a:rPr>
              <a:t>PTR 173988)</a:t>
            </a:r>
            <a:r>
              <a:rPr lang="fr-CA" sz="1400" dirty="0">
                <a:latin typeface="Nunito" pitchFamily="2" charset="0"/>
              </a:rPr>
              <a:t>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dirty="0">
                <a:latin typeface="Nunito" pitchFamily="2" charset="0"/>
              </a:rPr>
              <a:t>Le levier, la marche, le GFCI sont </a:t>
            </a:r>
            <a:r>
              <a:rPr lang="fr-CA" sz="1400" b="1" dirty="0">
                <a:latin typeface="Nunito" pitchFamily="2" charset="0"/>
              </a:rPr>
              <a:t>INCLUS</a:t>
            </a:r>
            <a:r>
              <a:rPr lang="fr-CA" sz="1400" dirty="0">
                <a:latin typeface="Nunito" pitchFamily="2" charset="0"/>
              </a:rPr>
              <a:t>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dirty="0">
                <a:latin typeface="Nunito" pitchFamily="2" charset="0"/>
              </a:rPr>
              <a:t>La livraison </a:t>
            </a:r>
            <a:r>
              <a:rPr lang="fr-CA" sz="1400" b="1" dirty="0">
                <a:latin typeface="Nunito" pitchFamily="2" charset="0"/>
              </a:rPr>
              <a:t>N’EST PAS INCLUSE</a:t>
            </a:r>
          </a:p>
          <a:p>
            <a:pPr lvl="0"/>
            <a:endParaRPr lang="fr-CA" sz="1400" b="1" dirty="0">
              <a:latin typeface="Nunito" pitchFamily="2" charset="0"/>
            </a:endParaRPr>
          </a:p>
          <a:p>
            <a:endParaRPr lang="fr-CA" sz="1400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400" dirty="0">
              <a:latin typeface="Nunito" pitchFamily="2" charset="0"/>
            </a:endParaRPr>
          </a:p>
          <a:p>
            <a:r>
              <a:rPr lang="fr-CA" sz="1400" b="1" dirty="0">
                <a:latin typeface="Nunito" pitchFamily="2" charset="0"/>
              </a:rPr>
              <a:t>INNOVAPSA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i="0" dirty="0">
                <a:solidFill>
                  <a:srgbClr val="242424"/>
                </a:solidFill>
                <a:effectLst/>
                <a:latin typeface="Aptos Narrow" panose="020B0004020202020204" pitchFamily="34" charset="0"/>
              </a:rPr>
              <a:t>À l'achat d'un spa </a:t>
            </a:r>
            <a:r>
              <a:rPr lang="fr-FR" sz="1600" b="1" i="0" dirty="0" err="1">
                <a:solidFill>
                  <a:srgbClr val="242424"/>
                </a:solidFill>
                <a:effectLst/>
                <a:latin typeface="Aptos Narrow" panose="020B0004020202020204" pitchFamily="34" charset="0"/>
              </a:rPr>
              <a:t>Innovaspas</a:t>
            </a:r>
            <a:r>
              <a:rPr lang="fr-FR" sz="1600" b="1" i="0" dirty="0">
                <a:solidFill>
                  <a:srgbClr val="242424"/>
                </a:solidFill>
                <a:effectLst/>
                <a:latin typeface="Aptos Narrow" panose="020B0004020202020204" pitchFamily="34" charset="0"/>
              </a:rPr>
              <a:t>, obtenez une marche </a:t>
            </a:r>
            <a:r>
              <a:rPr lang="fr-FR" sz="1600" b="1" i="0" dirty="0" err="1">
                <a:solidFill>
                  <a:srgbClr val="242424"/>
                </a:solidFill>
                <a:effectLst/>
                <a:latin typeface="Aptos Narrow" panose="020B0004020202020204" pitchFamily="34" charset="0"/>
              </a:rPr>
              <a:t>deluxe</a:t>
            </a:r>
            <a:r>
              <a:rPr lang="fr-FR" sz="1600" b="1" i="0" dirty="0">
                <a:solidFill>
                  <a:srgbClr val="242424"/>
                </a:solidFill>
                <a:effectLst/>
                <a:latin typeface="Aptos Narrow" panose="020B0004020202020204" pitchFamily="34" charset="0"/>
              </a:rPr>
              <a:t> gratuite </a:t>
            </a:r>
            <a:r>
              <a:rPr lang="fr-FR" sz="1600" i="0" dirty="0">
                <a:solidFill>
                  <a:srgbClr val="242424"/>
                </a:solidFill>
                <a:effectLst/>
                <a:latin typeface="Aptos Narrow" panose="020B0004020202020204" pitchFamily="34" charset="0"/>
              </a:rPr>
              <a:t>(valeur de 499$)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Concours Gagnez votre spa </a:t>
            </a:r>
            <a:r>
              <a:rPr lang="fr-CA" sz="1400" dirty="0" err="1">
                <a:latin typeface="Nunito" pitchFamily="2" charset="0"/>
              </a:rPr>
              <a:t>Moonsoon</a:t>
            </a:r>
            <a:r>
              <a:rPr lang="fr-CA" sz="1400" dirty="0">
                <a:latin typeface="Nunito" pitchFamily="2" charset="0"/>
              </a:rPr>
              <a:t>. Détail au clubpiscine.ca/concours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Spa Blizzard édition limitée en promotion à 6999$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Aucun rabais sur les autres modèles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Le levier, la marche et le chimique sont vendus séparément.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La livraison n’est pas incluse.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>
                <a:latin typeface="Nunito" pitchFamily="2" charset="0"/>
              </a:rPr>
              <a:t>Financement: </a:t>
            </a:r>
            <a:r>
              <a:rPr lang="fr-FR" sz="1400" dirty="0">
                <a:latin typeface="Nunito" pitchFamily="2" charset="0"/>
              </a:rPr>
              <a:t>Il n’y a pas de promotion de financement mais vous pouvez offrir l’un des plans réguliers qui se trouvent à la dernière page des instructions de vente.</a:t>
            </a:r>
          </a:p>
          <a:p>
            <a:endParaRPr lang="fr-CA" sz="1400" dirty="0">
              <a:latin typeface="Nunito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3</a:t>
            </a:fld>
            <a:endParaRPr lang="fr-CA"/>
          </a:p>
        </p:txBody>
      </p:sp>
      <p:pic>
        <p:nvPicPr>
          <p:cNvPr id="3" name="Image 2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7C6CA8B6-F6D3-0B7F-1920-ACB8FA7910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9" name="Zone de texte 28">
            <a:extLst>
              <a:ext uri="{FF2B5EF4-FFF2-40B4-BE49-F238E27FC236}">
                <a16:creationId xmlns:a16="http://schemas.microsoft.com/office/drawing/2014/main" id="{DD06B021-6AF8-E12B-F76A-1801672E7A2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D7BAEE-A4DA-F4F1-9BDE-F27C81344C9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SPAS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6855BF8-9912-892D-C2CA-F1623A1A65DF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30 avril au 27 mai 2025</a:t>
            </a:r>
          </a:p>
        </p:txBody>
      </p:sp>
    </p:spTree>
    <p:extLst>
      <p:ext uri="{BB962C8B-B14F-4D97-AF65-F5344CB8AC3E}">
        <p14:creationId xmlns:p14="http://schemas.microsoft.com/office/powerpoint/2010/main" val="3180937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6" y="2267744"/>
            <a:ext cx="6408713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>
                <a:latin typeface="Nunito" pitchFamily="2" charset="0"/>
              </a:rPr>
              <a:t>SPA DE NAGE JACUZZI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1000$ de rabais sur les spa de nage.</a:t>
            </a:r>
            <a:endParaRPr lang="fr-FR" sz="1600" b="1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Nunito" pitchFamily="2" charset="0"/>
              </a:rPr>
              <a:t>La livraison et frais de grue </a:t>
            </a:r>
            <a:r>
              <a:rPr lang="fr-CA" sz="1600" b="1" dirty="0">
                <a:latin typeface="Nunito" pitchFamily="2" charset="0"/>
              </a:rPr>
              <a:t>NE SONT PAS INCLUS.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latin typeface="Nunito" pitchFamily="2" charset="0"/>
              </a:rPr>
              <a:t>Financement: </a:t>
            </a:r>
            <a:r>
              <a:rPr lang="fr-FR" sz="1600" dirty="0">
                <a:latin typeface="Nunito" pitchFamily="2" charset="0"/>
              </a:rPr>
              <a:t>Il n’y a pas de promotion de financement mais vous pouvez offrir l’un des plans réguliers qui se trouvent à la dernière page des instructions de vente. </a:t>
            </a:r>
            <a:r>
              <a:rPr lang="fr-FR" sz="1600" b="1" dirty="0">
                <a:latin typeface="Nunito" pitchFamily="2" charset="0"/>
              </a:rPr>
              <a:t>Attention:</a:t>
            </a:r>
            <a:r>
              <a:rPr lang="fr-FR" sz="1600" dirty="0">
                <a:latin typeface="Nunito" pitchFamily="2" charset="0"/>
              </a:rPr>
              <a:t> maximum de 20 000 ou 30 000$ selon la limite de crédit du client.</a:t>
            </a:r>
            <a:endParaRPr lang="fr-CA" sz="1600" b="1" dirty="0">
              <a:latin typeface="Nunito" pitchFamily="2" charset="0"/>
            </a:endParaRPr>
          </a:p>
          <a:p>
            <a:endParaRPr lang="fr-CA" sz="1600" b="1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4</a:t>
            </a:fld>
            <a:endParaRPr lang="fr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88D168-C6BD-83A0-A7A2-5C74FEE645C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1334" y="4699173"/>
            <a:ext cx="6408713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Nunito" pitchFamily="2" charset="0"/>
              </a:rPr>
              <a:t>Voir </a:t>
            </a:r>
            <a:r>
              <a:rPr lang="fr-CA" sz="1600" b="1" dirty="0">
                <a:latin typeface="Nunito" pitchFamily="2" charset="0"/>
              </a:rPr>
              <a:t>nouveaux rabais en cours </a:t>
            </a:r>
            <a:r>
              <a:rPr lang="fr-CA" sz="1600" dirty="0">
                <a:latin typeface="Nunito" pitchFamily="2" charset="0"/>
              </a:rPr>
              <a:t>sur tous les PURE CUBE.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Nunito" pitchFamily="2" charset="0"/>
              </a:rPr>
              <a:t>Comme il y a des prix MAP, ces rabais sont valides en magasins seulement et non en ligne.</a:t>
            </a:r>
            <a:endParaRPr lang="fr-CA" sz="2000" dirty="0">
              <a:latin typeface="Nunito" pitchFamily="2" charset="0"/>
            </a:endParaRPr>
          </a:p>
          <a:p>
            <a:endParaRPr lang="fr-CA" sz="1600" b="1" dirty="0"/>
          </a:p>
        </p:txBody>
      </p:sp>
      <p:pic>
        <p:nvPicPr>
          <p:cNvPr id="7" name="Image 6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7F116E73-58FD-C6F8-E221-1B211D4230B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5" name="Zone de texte 28">
            <a:extLst>
              <a:ext uri="{FF2B5EF4-FFF2-40B4-BE49-F238E27FC236}">
                <a16:creationId xmlns:a16="http://schemas.microsoft.com/office/drawing/2014/main" id="{803D3DD9-0B1A-2A12-6DE0-70C14288669F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B0C2A7-721D-11B3-CB7C-19ACD845385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SPAS DE NAGE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52C64BA-8CAE-8C04-5537-DA47EC75BA46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30 avril au 27 mai 2025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D80F65-8900-D6B8-DB06-977F8F09247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5" y="4159237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SAUNAS</a:t>
            </a:r>
          </a:p>
        </p:txBody>
      </p:sp>
    </p:spTree>
    <p:extLst>
      <p:ext uri="{BB962C8B-B14F-4D97-AF65-F5344CB8AC3E}">
        <p14:creationId xmlns:p14="http://schemas.microsoft.com/office/powerpoint/2010/main" val="247866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5</a:t>
            </a:fld>
            <a:endParaRPr lang="fr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D5E6B-810F-498E-B14D-305B2F9FD92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7" y="2232318"/>
            <a:ext cx="6408713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200" b="1" dirty="0">
                <a:latin typeface="Nunito" pitchFamily="2" charset="0"/>
                <a:sym typeface="Wingdings" panose="05000000000000000000" pitchFamily="2" charset="2"/>
              </a:rPr>
              <a:t>LATHAM ACIER et IMPERIAL POOL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FR" sz="12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PROMO</a:t>
            </a:r>
            <a:r>
              <a:rPr lang="fr-FR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 Jusqu’à 4000$ de rabais sur les piscines en acier  + marche VOS 10pi INCLUSE (installation de la marche NON incluse).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Voir Annexes CREUSÉE pour le détail des rabais.</a:t>
            </a:r>
          </a:p>
          <a:p>
            <a:endParaRPr lang="fr-CA" sz="1200" dirty="0">
              <a:latin typeface="Nunito" pitchFamily="2" charset="0"/>
            </a:endParaRPr>
          </a:p>
          <a:p>
            <a:r>
              <a:rPr lang="fr-CA" sz="1200" b="1" dirty="0">
                <a:latin typeface="Nunito" pitchFamily="2" charset="0"/>
              </a:rPr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Bracelet SURVEILLANT DÉSIGNÉ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2 serviettes Club Piscine</a:t>
            </a:r>
          </a:p>
          <a:p>
            <a:pPr marL="285750" indent="-285750">
              <a:buFontTx/>
              <a:buChar char="-"/>
            </a:pPr>
            <a:endParaRPr lang="fr-CA" sz="1200" dirty="0">
              <a:latin typeface="Nunito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7BCA58-4012-A7FA-44D3-BA017B8DA66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60647" y="4983137"/>
            <a:ext cx="6408713" cy="36009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200" b="1" dirty="0">
                <a:latin typeface="Nunito" pitchFamily="2" charset="0"/>
                <a:sym typeface="Wingdings" panose="05000000000000000000" pitchFamily="2" charset="2"/>
              </a:rPr>
              <a:t>MOVA</a:t>
            </a:r>
            <a:endParaRPr lang="fr-CA" sz="12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Voir nouveaux prix en cours. Rabais de jusqu’à 4500$ </a:t>
            </a:r>
            <a:r>
              <a:rPr lang="fr-CA" sz="1200" dirty="0">
                <a:latin typeface="Nunito" pitchFamily="2" charset="0"/>
              </a:rPr>
              <a:t>sur certains modèles MOVA équipées et installées (rabais de 2500$ si piscine seule).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COMBO </a:t>
            </a:r>
            <a:r>
              <a:rPr lang="fr-CA" sz="1200" b="1" dirty="0" err="1">
                <a:latin typeface="Nunito" pitchFamily="2" charset="0"/>
              </a:rPr>
              <a:t>Chlorinateur+Thermopome</a:t>
            </a:r>
            <a:r>
              <a:rPr lang="fr-CA" sz="1200" b="1" dirty="0">
                <a:latin typeface="Nunito" pitchFamily="2" charset="0"/>
              </a:rPr>
              <a:t> offert à 50% de rabais: </a:t>
            </a:r>
            <a:r>
              <a:rPr lang="fr-CA" sz="1200" dirty="0">
                <a:latin typeface="Nunito" pitchFamily="2" charset="0"/>
              </a:rPr>
              <a:t>Comprend le combo Thermopompe Solstice 50k BTU et le </a:t>
            </a:r>
            <a:r>
              <a:rPr lang="fr-CA" sz="1200" dirty="0" err="1">
                <a:latin typeface="Nunito" pitchFamily="2" charset="0"/>
              </a:rPr>
              <a:t>chlorinateur</a:t>
            </a:r>
            <a:r>
              <a:rPr lang="fr-CA" sz="1200" dirty="0">
                <a:latin typeface="Nunito" pitchFamily="2" charset="0"/>
              </a:rPr>
              <a:t> au sel MOOV </a:t>
            </a:r>
            <a:r>
              <a:rPr lang="fr-CA" sz="1200" dirty="0" err="1">
                <a:latin typeface="Nunito" pitchFamily="2" charset="0"/>
              </a:rPr>
              <a:t>minisalt</a:t>
            </a:r>
            <a:r>
              <a:rPr lang="fr-CA" sz="1200" dirty="0">
                <a:latin typeface="Nunito" pitchFamily="2" charset="0"/>
              </a:rPr>
              <a:t> 50k L (ou équivalent).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Aucune promotion de financement.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Note:  Le frais d’extra au détail pour une couleur est de 5000$</a:t>
            </a:r>
          </a:p>
          <a:p>
            <a:endParaRPr lang="fr-CA" sz="1200" b="1" dirty="0">
              <a:latin typeface="Nunito" pitchFamily="2" charset="0"/>
              <a:sym typeface="Wingdings" panose="05000000000000000000" pitchFamily="2" charset="2"/>
            </a:endParaRPr>
          </a:p>
          <a:p>
            <a:r>
              <a:rPr lang="fr-CA" sz="1200" b="1" dirty="0">
                <a:latin typeface="Nunito" pitchFamily="2" charset="0"/>
                <a:sym typeface="Wingdings" panose="05000000000000000000" pitchFamily="2" charset="2"/>
              </a:rPr>
              <a:t>AQUARINO</a:t>
            </a:r>
            <a:endParaRPr lang="fr-CA" sz="12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Voir nouveaux prix en cours. Rabais jusqu’à 7500$ </a:t>
            </a:r>
            <a:r>
              <a:rPr lang="fr-CA" sz="1200" dirty="0">
                <a:latin typeface="Nunito" pitchFamily="2" charset="0"/>
              </a:rPr>
              <a:t>sur certaines piscines AQUARINO équipées et installées (rabais de 3500$ si piscine seule).</a:t>
            </a:r>
            <a:endParaRPr lang="fr-CA" sz="1200" b="1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COMBO </a:t>
            </a:r>
            <a:r>
              <a:rPr lang="fr-CA" sz="1200" b="1" dirty="0" err="1">
                <a:latin typeface="Nunito" pitchFamily="2" charset="0"/>
              </a:rPr>
              <a:t>Chlorinateur+Thermopome</a:t>
            </a:r>
            <a:r>
              <a:rPr lang="fr-CA" sz="1200" b="1" dirty="0">
                <a:latin typeface="Nunito" pitchFamily="2" charset="0"/>
              </a:rPr>
              <a:t> offert à 50% de rabais: </a:t>
            </a:r>
            <a:r>
              <a:rPr lang="fr-CA" sz="1200" dirty="0">
                <a:latin typeface="Nunito" pitchFamily="2" charset="0"/>
              </a:rPr>
              <a:t>Comprend le combo Thermopompe Solstice 50k BTU et le </a:t>
            </a:r>
            <a:r>
              <a:rPr lang="fr-CA" sz="1200" dirty="0" err="1">
                <a:latin typeface="Nunito" pitchFamily="2" charset="0"/>
              </a:rPr>
              <a:t>chlorinateur</a:t>
            </a:r>
            <a:r>
              <a:rPr lang="fr-CA" sz="1200" dirty="0">
                <a:latin typeface="Nunito" pitchFamily="2" charset="0"/>
              </a:rPr>
              <a:t> au sel MOOV </a:t>
            </a:r>
            <a:r>
              <a:rPr lang="fr-CA" sz="1200" dirty="0" err="1">
                <a:latin typeface="Nunito" pitchFamily="2" charset="0"/>
              </a:rPr>
              <a:t>minisalt</a:t>
            </a:r>
            <a:r>
              <a:rPr lang="fr-CA" sz="1200" dirty="0">
                <a:latin typeface="Nunito" pitchFamily="2" charset="0"/>
              </a:rPr>
              <a:t> 50k L (ou équivalent). Modèle TANZA exclu de la promotion.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200" dirty="0">
              <a:latin typeface="Nunito" pitchFamily="2" charset="0"/>
            </a:endParaRPr>
          </a:p>
          <a:p>
            <a:r>
              <a:rPr lang="fr-CA" sz="1200" b="1" dirty="0">
                <a:latin typeface="Nunito" pitchFamily="2" charset="0"/>
              </a:rPr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Bracelet SURVEILLANT DÉSIGNÉ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2 serviettes Club Piscine</a:t>
            </a:r>
          </a:p>
        </p:txBody>
      </p:sp>
      <p:pic>
        <p:nvPicPr>
          <p:cNvPr id="5" name="Image 4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7F9DE325-0305-1050-A35E-EDF95C503DD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9F8DB24-94C9-3783-C097-D47CC67D9AB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1692521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PISCINE CREUSÉE</a:t>
            </a:r>
          </a:p>
        </p:txBody>
      </p:sp>
      <p:sp>
        <p:nvSpPr>
          <p:cNvPr id="13" name="Zone de texte 28">
            <a:extLst>
              <a:ext uri="{FF2B5EF4-FFF2-40B4-BE49-F238E27FC236}">
                <a16:creationId xmlns:a16="http://schemas.microsoft.com/office/drawing/2014/main" id="{207F974E-CDE1-B3D2-4AF4-D970DF8EF676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9B8EF34-1CF2-9BEE-3BB0-D103FE85E517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30 avril au 27 mai 2025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289DE9-E0BA-D962-9F41-6A66F25ACECF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7" y="4427984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FIBRE</a:t>
            </a:r>
          </a:p>
        </p:txBody>
      </p:sp>
    </p:spTree>
    <p:extLst>
      <p:ext uri="{BB962C8B-B14F-4D97-AF65-F5344CB8AC3E}">
        <p14:creationId xmlns:p14="http://schemas.microsoft.com/office/powerpoint/2010/main" val="2562470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433DA19-C6A4-4697-B85F-7F129DA9B7C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6</a:t>
            </a:fld>
            <a:endParaRPr lang="fr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78D544-23DE-4DBE-ABBE-33607EA8AFE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6" y="2233479"/>
            <a:ext cx="6408713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>
                <a:latin typeface="Nunito" pitchFamily="2" charset="0"/>
                <a:sym typeface="Wingdings" panose="05000000000000000000" pitchFamily="2" charset="2"/>
              </a:rPr>
              <a:t>CARVIN  &amp; TRENDIUM (VOGUE) </a:t>
            </a:r>
            <a:endParaRPr lang="fr-CA" sz="1600" dirty="0">
              <a:latin typeface="Nunito" pitchFamily="2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DE 800$ </a:t>
            </a:r>
            <a:r>
              <a:rPr lang="fr-CA" sz="1200" dirty="0">
                <a:latin typeface="Nunito" pitchFamily="2" charset="0"/>
              </a:rPr>
              <a:t>sur toutes les piscines hors terre Seules, Équipées et Équipées &amp; Installées.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ICO gratuit </a:t>
            </a:r>
            <a:r>
              <a:rPr lang="fr-CA" sz="1200" dirty="0">
                <a:latin typeface="Nunito" pitchFamily="2" charset="0"/>
              </a:rPr>
              <a:t>à l’achat d’une piscine équipée et installée (valeur de 559.99)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CA" sz="1200" dirty="0">
                <a:latin typeface="Nunito" pitchFamily="2" charset="0"/>
              </a:rPr>
              <a:t>Si le client ne prend pas le ICO, on offre 500$ de rabais. NOTE: Avant de proposer le rabais,  prenez le temps de bien présenter les avantages du ICO. Ce produit exclusif est un véritable allié pour l’entretien facile et une eau parfaite.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de 300$</a:t>
            </a:r>
            <a:r>
              <a:rPr lang="fr-CA" sz="1200" dirty="0">
                <a:latin typeface="Nunito" pitchFamily="2" charset="0"/>
              </a:rPr>
              <a:t> sur prix régulier d’une thermopompe SOLSTICE, TTI ou Nirvana. L’installation de la Thermopompe et le By-pass ne </a:t>
            </a:r>
            <a:r>
              <a:rPr lang="fr-CA" sz="1200" b="1" dirty="0">
                <a:latin typeface="Nunito" pitchFamily="2" charset="0"/>
              </a:rPr>
              <a:t>sont pas inclus.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dirty="0">
                <a:latin typeface="Nunito" pitchFamily="2" charset="0"/>
              </a:rPr>
              <a:t>Financement: </a:t>
            </a:r>
            <a:r>
              <a:rPr lang="fr-FR" sz="1200" dirty="0">
                <a:latin typeface="Nunito" pitchFamily="2" charset="0"/>
              </a:rPr>
              <a:t>Il n’y a pas de promotion de financement mais vous pouvez offrir l’un des plans réguliers qui se trouvent à la dernière page des instructions de vente.</a:t>
            </a:r>
          </a:p>
          <a:p>
            <a:pPr lvl="1"/>
            <a:endParaRPr lang="fr-CA" sz="1200" b="1" dirty="0">
              <a:latin typeface="Nunito" pitchFamily="2" charset="0"/>
            </a:endParaRPr>
          </a:p>
          <a:p>
            <a:endParaRPr lang="fr-CA" sz="1200" b="1" dirty="0"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CA" sz="1200" b="1" dirty="0">
              <a:latin typeface="Nunito" pitchFamily="2" charset="0"/>
            </a:endParaRPr>
          </a:p>
          <a:p>
            <a:r>
              <a:rPr lang="fr-CA" sz="1200" b="1" dirty="0">
                <a:latin typeface="Nunito" pitchFamily="2" charset="0"/>
              </a:rPr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Bracelet SURVEILLANT DÉSIGNÉ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2 serviettes Club Piscine</a:t>
            </a:r>
            <a:endParaRPr lang="fr-CA" sz="1600" dirty="0">
              <a:latin typeface="Nunito" pitchFamily="2" charset="0"/>
            </a:endParaRPr>
          </a:p>
        </p:txBody>
      </p:sp>
      <p:pic>
        <p:nvPicPr>
          <p:cNvPr id="3" name="Image 2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1BC1BC2A-9BCB-D60B-BEF6-5F447431DE7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8" name="Zone de texte 28">
            <a:extLst>
              <a:ext uri="{FF2B5EF4-FFF2-40B4-BE49-F238E27FC236}">
                <a16:creationId xmlns:a16="http://schemas.microsoft.com/office/drawing/2014/main" id="{A18FB2CC-34EB-41CF-B693-31551C652A8D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7E8781-0BEE-9A81-2F83-51A7DA7432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HORS TERRE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71AE4CF-D514-F8DF-1114-475CE61A90C3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30 avril au 27 mai 2025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DB68E0-6050-2D62-4CF0-827C096C22F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8" y="6603901"/>
            <a:ext cx="6408713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400" b="1" dirty="0">
                <a:latin typeface="Nunito" pitchFamily="2" charset="0"/>
                <a:sym typeface="Wingdings" panose="05000000000000000000" pitchFamily="2" charset="2"/>
              </a:rPr>
              <a:t>AQUABOIS </a:t>
            </a:r>
            <a:endParaRPr lang="fr-CA" sz="1400" dirty="0">
              <a:latin typeface="Nunito" pitchFamily="2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DE 750$ </a:t>
            </a:r>
            <a:r>
              <a:rPr lang="fr-CA" sz="1200" dirty="0">
                <a:latin typeface="Nunito" pitchFamily="2" charset="0"/>
              </a:rPr>
              <a:t>sur le prix régulier de toutes les piscines de bois hors sol ou semi-creusées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Exception: La </a:t>
            </a:r>
            <a:r>
              <a:rPr lang="fr-CA" sz="1200" dirty="0" err="1">
                <a:latin typeface="Nunito" pitchFamily="2" charset="0"/>
              </a:rPr>
              <a:t>Tundra</a:t>
            </a:r>
            <a:r>
              <a:rPr lang="fr-CA" sz="1200" dirty="0">
                <a:latin typeface="Nunito" pitchFamily="2" charset="0"/>
              </a:rPr>
              <a:t> hors sol a 1250$ de rabais.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de 300$</a:t>
            </a:r>
            <a:r>
              <a:rPr lang="fr-CA" sz="1200" dirty="0">
                <a:latin typeface="Nunito" pitchFamily="2" charset="0"/>
              </a:rPr>
              <a:t> sur prix régulier d’une thermopompe SOLSTICE de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L’installation de la Thermopompe et le By-pass ne </a:t>
            </a:r>
            <a:r>
              <a:rPr lang="fr-CA" sz="1200" b="1" dirty="0">
                <a:latin typeface="Nunito" pitchFamily="2" charset="0"/>
              </a:rPr>
              <a:t>sont pas inclus.</a:t>
            </a:r>
            <a:endParaRPr lang="fr-CA" sz="12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La teinture est incluse sur toutes les piscines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Aucune promotion de financement. Vous référez aux plans de financement réguliers.</a:t>
            </a:r>
            <a:endParaRPr lang="fr-CA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32EE72-7192-6E45-BD4C-7FDB69B43BF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8" y="6084168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BOIS</a:t>
            </a:r>
          </a:p>
        </p:txBody>
      </p:sp>
    </p:spTree>
    <p:extLst>
      <p:ext uri="{BB962C8B-B14F-4D97-AF65-F5344CB8AC3E}">
        <p14:creationId xmlns:p14="http://schemas.microsoft.com/office/powerpoint/2010/main" val="419775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7" y="2233479"/>
            <a:ext cx="6408713" cy="9387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100" b="1" dirty="0">
                <a:latin typeface="Nunito" pitchFamily="2" charset="0"/>
              </a:rPr>
              <a:t>SOLSTICE: </a:t>
            </a:r>
            <a:r>
              <a:rPr lang="fr-CA" sz="1100" dirty="0">
                <a:latin typeface="Nunito" pitchFamily="2" charset="0"/>
              </a:rPr>
              <a:t>Rabais de 200$ sur le prix RÉGULIER de toutes les Thermopompes SOLSTICE.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100" b="1" dirty="0">
                <a:latin typeface="Nunito" pitchFamily="2" charset="0"/>
              </a:rPr>
              <a:t>NIRVANA: </a:t>
            </a:r>
            <a:r>
              <a:rPr lang="fr-FR" sz="1100" dirty="0">
                <a:latin typeface="Nunito" pitchFamily="2" charset="0"/>
              </a:rPr>
              <a:t>Du 15 mai au 15 juin, obtenez une housse </a:t>
            </a:r>
            <a:r>
              <a:rPr lang="fr-FR" sz="1100" dirty="0" err="1">
                <a:latin typeface="Nunito" pitchFamily="2" charset="0"/>
              </a:rPr>
              <a:t>deluxe</a:t>
            </a:r>
            <a:r>
              <a:rPr lang="fr-FR" sz="1100" dirty="0">
                <a:latin typeface="Nunito" pitchFamily="2" charset="0"/>
              </a:rPr>
              <a:t> et WIFI gratuitement à l'achat d'une thermopompe des séries FC ou PV</a:t>
            </a:r>
            <a:endParaRPr lang="fr-CA" sz="11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100" b="1" dirty="0">
                <a:latin typeface="Nunito" pitchFamily="2" charset="0"/>
              </a:rPr>
              <a:t>TTI : </a:t>
            </a:r>
            <a:r>
              <a:rPr lang="fr-CA" sz="1100" dirty="0">
                <a:latin typeface="Nunito" pitchFamily="2" charset="0"/>
              </a:rPr>
              <a:t>Rabais de 300$ sur tous les modèles TTI ECOLO du </a:t>
            </a:r>
            <a:r>
              <a:rPr lang="fr-FR" sz="1100" dirty="0">
                <a:latin typeface="Nunito" pitchFamily="2" charset="0"/>
              </a:rPr>
              <a:t>30 avril au 13 mai</a:t>
            </a:r>
            <a:r>
              <a:rPr lang="fr-CA" sz="1100" dirty="0">
                <a:latin typeface="Nunito" pitchFamily="2" charset="0"/>
              </a:rPr>
              <a:t>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CA" sz="1100" dirty="0">
                <a:latin typeface="Nunito" pitchFamily="2" charset="0"/>
              </a:rPr>
              <a:t>Le fournisseur finance 200$</a:t>
            </a:r>
            <a:r>
              <a:rPr lang="fr-FR" sz="1100" dirty="0">
                <a:latin typeface="Nunito" pitchFamily="2" charset="0"/>
              </a:rPr>
              <a:t>. Le rabais revient à 100$ après cette période.</a:t>
            </a:r>
            <a:endParaRPr lang="fr-CA" sz="1200" dirty="0">
              <a:latin typeface="Nunito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9BEC494-D4C8-48DB-B968-4FEB2152C3A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7</a:t>
            </a:fld>
            <a:endParaRPr lang="fr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5624A4-969B-1056-5A11-C3594EF3D29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75719" y="3880371"/>
            <a:ext cx="6408713" cy="2923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POLARIS et SPLASH</a:t>
            </a:r>
            <a:r>
              <a:rPr lang="fr-CA" sz="1200" dirty="0">
                <a:latin typeface="Nunito" pitchFamily="2" charset="0"/>
              </a:rPr>
              <a:t>: Nouveau rabais en cours sur la pompe et filtreur. Voir Annexes ACC HORS TERRE.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200" b="1" dirty="0">
                <a:latin typeface="Nunito" pitchFamily="2" charset="0"/>
              </a:rPr>
              <a:t>MAYTRONICS: </a:t>
            </a:r>
            <a:r>
              <a:rPr lang="en-CA" sz="1200" dirty="0" err="1">
                <a:latin typeface="Nunito" pitchFamily="2" charset="0"/>
              </a:rPr>
              <a:t>Rabais</a:t>
            </a:r>
            <a:r>
              <a:rPr lang="en-CA" sz="1200" dirty="0">
                <a:latin typeface="Nunito" pitchFamily="2" charset="0"/>
              </a:rPr>
              <a:t> postal pour le client (</a:t>
            </a:r>
            <a:r>
              <a:rPr lang="en-CA" sz="1200" dirty="0" err="1">
                <a:latin typeface="Nunito" pitchFamily="2" charset="0"/>
              </a:rPr>
              <a:t>voir</a:t>
            </a:r>
            <a:r>
              <a:rPr lang="en-CA" sz="1200" dirty="0">
                <a:latin typeface="Nunito" pitchFamily="2" charset="0"/>
              </a:rPr>
              <a:t> affiche </a:t>
            </a:r>
            <a:r>
              <a:rPr lang="en-CA" sz="1200" b="1" dirty="0">
                <a:latin typeface="Nunito" pitchFamily="2" charset="0"/>
              </a:rPr>
              <a:t>à </a:t>
            </a:r>
            <a:r>
              <a:rPr lang="en-CA" sz="1200" b="1" dirty="0" err="1">
                <a:latin typeface="Nunito" pitchFamily="2" charset="0"/>
              </a:rPr>
              <a:t>imprimer</a:t>
            </a:r>
            <a:r>
              <a:rPr lang="en-CA" sz="1200" b="1" dirty="0">
                <a:latin typeface="Nunito" pitchFamily="2" charset="0"/>
              </a:rPr>
              <a:t> </a:t>
            </a:r>
            <a:r>
              <a:rPr lang="en-CA" sz="1200" dirty="0">
                <a:latin typeface="Nunito" pitchFamily="2" charset="0"/>
              </a:rPr>
              <a:t>sur le </a:t>
            </a:r>
            <a:r>
              <a:rPr lang="en-CA" sz="1200" dirty="0" err="1">
                <a:latin typeface="Nunito" pitchFamily="2" charset="0"/>
              </a:rPr>
              <a:t>Sharepoint</a:t>
            </a:r>
            <a:r>
              <a:rPr lang="en-CA" sz="1200" dirty="0">
                <a:latin typeface="Nunito" pitchFamily="2" charset="0"/>
              </a:rPr>
              <a:t>). Les </a:t>
            </a:r>
            <a:r>
              <a:rPr lang="en-CA" sz="1200" dirty="0" err="1">
                <a:latin typeface="Nunito" pitchFamily="2" charset="0"/>
              </a:rPr>
              <a:t>rabais</a:t>
            </a:r>
            <a:r>
              <a:rPr lang="en-CA" sz="1200" dirty="0">
                <a:latin typeface="Nunito" pitchFamily="2" charset="0"/>
              </a:rPr>
              <a:t> </a:t>
            </a:r>
            <a:r>
              <a:rPr lang="en-CA" sz="1200" dirty="0" err="1">
                <a:latin typeface="Nunito" pitchFamily="2" charset="0"/>
              </a:rPr>
              <a:t>demeurent</a:t>
            </a:r>
            <a:r>
              <a:rPr lang="en-CA" sz="1200" dirty="0">
                <a:latin typeface="Nunito" pitchFamily="2" charset="0"/>
              </a:rPr>
              <a:t> les </a:t>
            </a:r>
            <a:r>
              <a:rPr lang="en-CA" sz="1200" dirty="0" err="1">
                <a:latin typeface="Nunito" pitchFamily="2" charset="0"/>
              </a:rPr>
              <a:t>mêmes</a:t>
            </a:r>
            <a:r>
              <a:rPr lang="en-CA" sz="1200" dirty="0">
                <a:latin typeface="Nunito" pitchFamily="2" charset="0"/>
              </a:rPr>
              <a:t> toute </a:t>
            </a:r>
            <a:r>
              <a:rPr lang="en-CA" sz="1200" dirty="0" err="1">
                <a:latin typeface="Nunito" pitchFamily="2" charset="0"/>
              </a:rPr>
              <a:t>l’année</a:t>
            </a:r>
            <a:r>
              <a:rPr lang="en-CA" sz="1200" dirty="0">
                <a:latin typeface="Nunito" pitchFamily="2" charset="0"/>
              </a:rPr>
              <a:t> </a:t>
            </a:r>
            <a:r>
              <a:rPr lang="en-CA" sz="1200" dirty="0" err="1">
                <a:latin typeface="Nunito" pitchFamily="2" charset="0"/>
              </a:rPr>
              <a:t>mais</a:t>
            </a:r>
            <a:r>
              <a:rPr lang="en-CA" sz="1200" dirty="0">
                <a:latin typeface="Nunito" pitchFamily="2" charset="0"/>
              </a:rPr>
              <a:t> le code promo change pour le client. Une nouvelle affiche sera </a:t>
            </a:r>
            <a:r>
              <a:rPr lang="en-CA" sz="1200" dirty="0" err="1">
                <a:latin typeface="Nunito" pitchFamily="2" charset="0"/>
              </a:rPr>
              <a:t>deposée</a:t>
            </a:r>
            <a:r>
              <a:rPr lang="en-CA" sz="1200" dirty="0">
                <a:latin typeface="Nunito" pitchFamily="2" charset="0"/>
              </a:rPr>
              <a:t> </a:t>
            </a:r>
            <a:r>
              <a:rPr lang="en-CA" sz="1200" dirty="0" err="1">
                <a:latin typeface="Nunito" pitchFamily="2" charset="0"/>
              </a:rPr>
              <a:t>chaque</a:t>
            </a:r>
            <a:r>
              <a:rPr lang="en-CA" sz="1200" dirty="0">
                <a:latin typeface="Nunito" pitchFamily="2" charset="0"/>
              </a:rPr>
              <a:t> </a:t>
            </a:r>
            <a:r>
              <a:rPr lang="en-CA" sz="1200" dirty="0" err="1">
                <a:latin typeface="Nunito" pitchFamily="2" charset="0"/>
              </a:rPr>
              <a:t>mois</a:t>
            </a:r>
            <a:r>
              <a:rPr lang="en-CA" sz="1200" dirty="0">
                <a:latin typeface="Nunito" pitchFamily="2" charset="0"/>
              </a:rPr>
              <a:t>. </a:t>
            </a:r>
            <a:r>
              <a:rPr lang="en-CA" sz="1200" b="1" dirty="0">
                <a:latin typeface="Nunito" pitchFamily="2" charset="0"/>
              </a:rPr>
              <a:t>Promotion </a:t>
            </a:r>
            <a:r>
              <a:rPr lang="en-CA" sz="1200" b="1" dirty="0" err="1">
                <a:latin typeface="Nunito" pitchFamily="2" charset="0"/>
              </a:rPr>
              <a:t>en</a:t>
            </a:r>
            <a:r>
              <a:rPr lang="en-CA" sz="1200" b="1" dirty="0">
                <a:latin typeface="Nunito" pitchFamily="2" charset="0"/>
              </a:rPr>
              <a:t> </a:t>
            </a:r>
            <a:r>
              <a:rPr lang="en-CA" sz="1200" b="1" dirty="0" err="1">
                <a:latin typeface="Nunito" pitchFamily="2" charset="0"/>
              </a:rPr>
              <a:t>magasin</a:t>
            </a:r>
            <a:r>
              <a:rPr lang="en-CA" sz="1200" b="1" dirty="0">
                <a:latin typeface="Nunito" pitchFamily="2" charset="0"/>
              </a:rPr>
              <a:t> </a:t>
            </a:r>
            <a:r>
              <a:rPr lang="en-CA" sz="1200" b="1" dirty="0" err="1">
                <a:latin typeface="Nunito" pitchFamily="2" charset="0"/>
              </a:rPr>
              <a:t>seulement</a:t>
            </a:r>
            <a:r>
              <a:rPr lang="en-CA" sz="1200" dirty="0">
                <a:latin typeface="Nunito" pitchFamily="2" charset="0"/>
              </a:rPr>
              <a:t>. </a:t>
            </a:r>
            <a:r>
              <a:rPr lang="en-CA" sz="1200" dirty="0" err="1">
                <a:latin typeface="Nunito" pitchFamily="2" charset="0"/>
              </a:rPr>
              <a:t>Voici</a:t>
            </a:r>
            <a:r>
              <a:rPr lang="en-CA" sz="1200" dirty="0">
                <a:latin typeface="Nunito" pitchFamily="2" charset="0"/>
              </a:rPr>
              <a:t> les </a:t>
            </a:r>
            <a:r>
              <a:rPr lang="en-CA" sz="1200" dirty="0" err="1">
                <a:latin typeface="Nunito" pitchFamily="2" charset="0"/>
              </a:rPr>
              <a:t>modèles</a:t>
            </a:r>
            <a:r>
              <a:rPr lang="en-CA" sz="1200" dirty="0">
                <a:latin typeface="Nunito" pitchFamily="2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>
              <a:latin typeface="Nunito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1760E0-A153-8420-8A21-63003B6588C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97807" y="7417045"/>
            <a:ext cx="6408713" cy="16158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b="1" dirty="0">
                <a:latin typeface="Nunito" pitchFamily="2" charset="0"/>
              </a:rPr>
              <a:t>CHLORE CP:  </a:t>
            </a:r>
            <a:r>
              <a:rPr lang="fr-CA" sz="1100" dirty="0">
                <a:latin typeface="Nunito" pitchFamily="2" charset="0"/>
              </a:rPr>
              <a:t>Rabais sur le chlore (voir Annexes) et retour de la promotion COMBO CHLORE serviette GRATUITE sur le chlore Club Piscine en granule et rondelles.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b="1" dirty="0">
                <a:latin typeface="Nunito" pitchFamily="2" charset="0"/>
              </a:rPr>
              <a:t>CHLORE HTH:</a:t>
            </a:r>
            <a:r>
              <a:rPr lang="fr-CA" sz="1100" dirty="0">
                <a:latin typeface="Nunito" pitchFamily="2" charset="0"/>
              </a:rPr>
              <a:t> 10$ de rabais sur le Super 70 du 1</a:t>
            </a:r>
            <a:r>
              <a:rPr lang="fr-CA" sz="1100" baseline="30000" dirty="0">
                <a:latin typeface="Nunito" pitchFamily="2" charset="0"/>
              </a:rPr>
              <a:t>er</a:t>
            </a:r>
            <a:r>
              <a:rPr lang="fr-CA" sz="1100" dirty="0">
                <a:latin typeface="Nunito" pitchFamily="2" charset="0"/>
              </a:rPr>
              <a:t> au 22 mai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b="1" dirty="0">
                <a:latin typeface="Nunito" pitchFamily="2" charset="0"/>
              </a:rPr>
              <a:t>TROUSSE</a:t>
            </a:r>
            <a:r>
              <a:rPr lang="fr-CA" sz="1100" dirty="0">
                <a:latin typeface="Nunito" pitchFamily="2" charset="0"/>
              </a:rPr>
              <a:t>: Rabais de 10% sur toutes les trousses d’ouverture d</a:t>
            </a:r>
            <a:r>
              <a:rPr lang="fr-FR" sz="1100" dirty="0">
                <a:latin typeface="Nunito" pitchFamily="2" charset="0"/>
              </a:rPr>
              <a:t>u 30 avril au 13 mai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b="1" dirty="0">
                <a:latin typeface="Nunito" pitchFamily="2" charset="0"/>
              </a:rPr>
              <a:t>NATURE WORK</a:t>
            </a:r>
            <a:r>
              <a:rPr lang="fr-FR" sz="1100" dirty="0">
                <a:latin typeface="Nunito" pitchFamily="2" charset="0"/>
              </a:rPr>
              <a:t>: 10$ de rabais sur les pierres de filtration Nature Work 162033</a:t>
            </a:r>
            <a:endParaRPr lang="fr-CA" sz="1100" dirty="0">
              <a:latin typeface="Nunito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CA" sz="1200" dirty="0">
              <a:latin typeface="Nunito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B4B115-CDE3-3FA8-DFF6-9AEC5F50A0E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1692521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THERMOPOMPES</a:t>
            </a:r>
          </a:p>
        </p:txBody>
      </p:sp>
      <p:sp>
        <p:nvSpPr>
          <p:cNvPr id="16" name="Zone de texte 28">
            <a:extLst>
              <a:ext uri="{FF2B5EF4-FFF2-40B4-BE49-F238E27FC236}">
                <a16:creationId xmlns:a16="http://schemas.microsoft.com/office/drawing/2014/main" id="{B5902CBF-27FA-CBD1-D98B-09085064DC0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E13C3C7-498F-2868-F3E7-23E8CD387CD5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30 avril au 27 mai 2025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37B070-540C-54E1-A4A0-1A8D25F2F9C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8" y="3348705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ACCESSOIRES PISCINES ET SPAS 2025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44A4F1-67C6-4528-BA78-0C668B1C8B8F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86575" y="6876256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CHIMIQUE et AUTRES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4880EE53-481B-1866-46DA-9AA950A25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069753"/>
              </p:ext>
            </p:extLst>
          </p:nvPr>
        </p:nvGraphicFramePr>
        <p:xfrm>
          <a:off x="410081" y="5019303"/>
          <a:ext cx="6172200" cy="1603044"/>
        </p:xfrm>
        <a:graphic>
          <a:graphicData uri="http://schemas.openxmlformats.org/drawingml/2006/table">
            <a:tbl>
              <a:tblPr/>
              <a:tblGrid>
                <a:gridCol w="705041">
                  <a:extLst>
                    <a:ext uri="{9D8B030D-6E8A-4147-A177-3AD203B41FA5}">
                      <a16:colId xmlns:a16="http://schemas.microsoft.com/office/drawing/2014/main" val="3816012488"/>
                    </a:ext>
                  </a:extLst>
                </a:gridCol>
                <a:gridCol w="1051377">
                  <a:extLst>
                    <a:ext uri="{9D8B030D-6E8A-4147-A177-3AD203B41FA5}">
                      <a16:colId xmlns:a16="http://schemas.microsoft.com/office/drawing/2014/main" val="248184699"/>
                    </a:ext>
                  </a:extLst>
                </a:gridCol>
                <a:gridCol w="581349">
                  <a:extLst>
                    <a:ext uri="{9D8B030D-6E8A-4147-A177-3AD203B41FA5}">
                      <a16:colId xmlns:a16="http://schemas.microsoft.com/office/drawing/2014/main" val="1751352317"/>
                    </a:ext>
                  </a:extLst>
                </a:gridCol>
                <a:gridCol w="2350136">
                  <a:extLst>
                    <a:ext uri="{9D8B030D-6E8A-4147-A177-3AD203B41FA5}">
                      <a16:colId xmlns:a16="http://schemas.microsoft.com/office/drawing/2014/main" val="143401683"/>
                    </a:ext>
                  </a:extLst>
                </a:gridCol>
                <a:gridCol w="717410">
                  <a:extLst>
                    <a:ext uri="{9D8B030D-6E8A-4147-A177-3AD203B41FA5}">
                      <a16:colId xmlns:a16="http://schemas.microsoft.com/office/drawing/2014/main" val="170166655"/>
                    </a:ext>
                  </a:extLst>
                </a:gridCol>
                <a:gridCol w="766887">
                  <a:extLst>
                    <a:ext uri="{9D8B030D-6E8A-4147-A177-3AD203B41FA5}">
                      <a16:colId xmlns:a16="http://schemas.microsoft.com/office/drawing/2014/main" val="4133413113"/>
                    </a:ext>
                  </a:extLst>
                </a:gridCol>
              </a:tblGrid>
              <a:tr h="178116"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Fournisseur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Numéro d'article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PTR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Prix détail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RABAIS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957353"/>
                  </a:ext>
                </a:extLst>
              </a:tr>
              <a:tr h="178116"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MAYTR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99996134-PR1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176164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Robot nettoyeur Premium 10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779.99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60.00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841221"/>
                  </a:ext>
                </a:extLst>
              </a:tr>
              <a:tr h="178116"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MAYTR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99996137-PR2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176165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Robot nettoyeur Premium 20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999.99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60.00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394490"/>
                  </a:ext>
                </a:extLst>
              </a:tr>
              <a:tr h="178116"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MAYTR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99996240-PR3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181920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Robot nettoyeur Premium 30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1,449.99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125.00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8554571"/>
                  </a:ext>
                </a:extLst>
              </a:tr>
              <a:tr h="178116"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MAYTR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99996241-PR4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176166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Robot nettoyeur Premium 40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1,799.99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90.00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015733"/>
                  </a:ext>
                </a:extLst>
              </a:tr>
              <a:tr h="178116"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MAYTR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99996612-PR6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176167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Robot nettoyeur Premium 60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2,599.99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125.00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435446"/>
                  </a:ext>
                </a:extLst>
              </a:tr>
              <a:tr h="178116"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MAYTR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99998100-US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176407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Robot nettoyeur sans fil Liberty 200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1,299.99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250.00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183283"/>
                  </a:ext>
                </a:extLst>
              </a:tr>
              <a:tr h="178116"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MAYTR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99998150-US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181656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Robot nettoyeur sans fil Liberty 300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1,599.99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125.00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188563"/>
                  </a:ext>
                </a:extLst>
              </a:tr>
              <a:tr h="178116"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MAYTR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99998140-US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181658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Robot nettoyeur sans fil Liberty 400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1,849.99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125.00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809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7360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7" y="2223026"/>
            <a:ext cx="6408713" cy="3539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400" b="1" dirty="0">
                <a:latin typeface="Nunito" pitchFamily="2" charset="0"/>
              </a:rPr>
              <a:t>MEUBLES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RABAIS TAXES: </a:t>
            </a:r>
            <a:r>
              <a:rPr lang="fr-CA" sz="1400" dirty="0">
                <a:latin typeface="Nunito" pitchFamily="2" charset="0"/>
              </a:rPr>
              <a:t>Nous payons l’équivalent des 2 taxes + 12 mois sans paiement ni intérêt </a:t>
            </a:r>
            <a:r>
              <a:rPr lang="fr-FR" sz="1400" dirty="0">
                <a:latin typeface="Nunito" pitchFamily="2" charset="0"/>
              </a:rPr>
              <a:t>(</a:t>
            </a:r>
            <a:r>
              <a:rPr lang="fr-FR" sz="1400" b="1" dirty="0">
                <a:latin typeface="Nunito" pitchFamily="2" charset="0"/>
              </a:rPr>
              <a:t>code 12120</a:t>
            </a:r>
            <a:r>
              <a:rPr lang="fr-FR" sz="1400" dirty="0">
                <a:latin typeface="Nunito" pitchFamily="2" charset="0"/>
              </a:rPr>
              <a:t>) sur les meubles, parasols, table-foyer et accessoires sélectionnés à prix réguliers. Voir annexes pour produits éligibles.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FR" sz="1400" dirty="0">
                <a:latin typeface="Nunito" pitchFamily="2" charset="0"/>
              </a:rPr>
              <a:t>Aucun rabais additionnel si le client ne prend pas le financement.</a:t>
            </a:r>
            <a:endParaRPr lang="fr-CA" sz="14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DUO NETTOYANT ET PROTECTEUR GRATUIT: </a:t>
            </a:r>
            <a:r>
              <a:rPr lang="fr-CA" sz="1400" dirty="0">
                <a:latin typeface="Nunito" pitchFamily="2" charset="0"/>
              </a:rPr>
              <a:t>On offre 2 produits d’entretien Club Piscine au choix du client (1 nettoyant et 1 protecteur) avec tout achat de meuble de 500$ et plus (valeur de 75$). Les produits Teck étant plus dispendieux que 75$, la différence devra </a:t>
            </a:r>
            <a:r>
              <a:rPr lang="fr-CA" sz="1400">
                <a:latin typeface="Nunito" pitchFamily="2" charset="0"/>
              </a:rPr>
              <a:t>être facturée </a:t>
            </a:r>
            <a:r>
              <a:rPr lang="fr-CA" sz="1400" dirty="0">
                <a:latin typeface="Nunito" pitchFamily="2" charset="0"/>
              </a:rPr>
              <a:t>au client.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EXCLUSION: Les imbattables (EDLP), CR plastic et </a:t>
            </a:r>
            <a:r>
              <a:rPr lang="fr-CA" sz="1400" b="1" dirty="0" err="1">
                <a:latin typeface="Nunito" pitchFamily="2" charset="0"/>
              </a:rPr>
              <a:t>Treasure</a:t>
            </a:r>
            <a:r>
              <a:rPr lang="fr-CA" sz="1400" b="1" dirty="0">
                <a:latin typeface="Nunito" pitchFamily="2" charset="0"/>
              </a:rPr>
              <a:t> Garden </a:t>
            </a:r>
            <a:r>
              <a:rPr lang="fr-CA" sz="1400" dirty="0">
                <a:latin typeface="Nunito" pitchFamily="2" charset="0"/>
              </a:rPr>
              <a:t>sont</a:t>
            </a:r>
            <a:r>
              <a:rPr lang="fr-CA" sz="1400" b="1" dirty="0">
                <a:latin typeface="Nunito" pitchFamily="2" charset="0"/>
              </a:rPr>
              <a:t> </a:t>
            </a:r>
            <a:r>
              <a:rPr lang="fr-CA" sz="1400" dirty="0">
                <a:latin typeface="Nunito" pitchFamily="2" charset="0"/>
              </a:rPr>
              <a:t>toujours exclus des promotions.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Meubles LIQUIDATION 2024: </a:t>
            </a:r>
            <a:r>
              <a:rPr lang="fr-CA" altLang="fr-FR" sz="1400" dirty="0">
                <a:latin typeface="Nunito" pitchFamily="2" charset="0"/>
              </a:rPr>
              <a:t>même prix que février pour le reste de la saison</a:t>
            </a:r>
            <a:r>
              <a:rPr lang="fr-CA" sz="1400" dirty="0">
                <a:latin typeface="Nunito" pitchFamily="2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dirty="0">
              <a:latin typeface="Nunito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8</a:t>
            </a:fld>
            <a:endParaRPr lang="fr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CDE7EB-7AB5-218C-2913-A99998CCDDA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60647" y="6187822"/>
            <a:ext cx="6372710" cy="22006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Jusqu’à 1000$ de rabais. Voir rabais en cours dans l’Annexe.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1400" b="1" dirty="0">
                <a:latin typeface="Nunito" pitchFamily="2" charset="0"/>
              </a:rPr>
              <a:t>Obtenez un luminaire Valence GRATUIT </a:t>
            </a:r>
            <a:r>
              <a:rPr lang="fr-FR" sz="1400" dirty="0">
                <a:latin typeface="Nunito" pitchFamily="2" charset="0"/>
              </a:rPr>
              <a:t>à l'achat d'un gazebo ou solarium (PTR 180423 et 180425)</a:t>
            </a:r>
            <a:endParaRPr lang="fr-CA" sz="1400" dirty="0">
              <a:latin typeface="Nunito" pitchFamily="2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PROMO</a:t>
            </a:r>
            <a:r>
              <a:rPr lang="fr-CA" sz="1400" dirty="0">
                <a:latin typeface="Nunito" pitchFamily="2" charset="0"/>
              </a:rPr>
              <a:t>: 50% de rabais sur les housses hivernales à l’achat d’un gazebo (exclu </a:t>
            </a:r>
            <a:r>
              <a:rPr lang="fr-CA" sz="1400" dirty="0" err="1">
                <a:latin typeface="Nunito" pitchFamily="2" charset="0"/>
              </a:rPr>
              <a:t>Visscher</a:t>
            </a:r>
            <a:r>
              <a:rPr lang="fr-CA" sz="1400" dirty="0">
                <a:latin typeface="Nunito" pitchFamily="2" charset="0"/>
              </a:rPr>
              <a:t>).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15% de rabais sur les housses si achetée seule (</a:t>
            </a:r>
            <a:r>
              <a:rPr lang="fr-CA" sz="1400" dirty="0" err="1">
                <a:latin typeface="Nunito" pitchFamily="2" charset="0"/>
              </a:rPr>
              <a:t>aftermarket</a:t>
            </a:r>
            <a:r>
              <a:rPr lang="fr-CA" sz="1400" dirty="0">
                <a:latin typeface="Nunito" pitchFamily="2" charset="0"/>
              </a:rPr>
              <a:t>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VISSCHER: </a:t>
            </a:r>
            <a:r>
              <a:rPr lang="fr-CA" sz="1400" dirty="0">
                <a:latin typeface="Nunito" pitchFamily="2" charset="0"/>
              </a:rPr>
              <a:t>25% de rabais sur les accessoires </a:t>
            </a:r>
            <a:r>
              <a:rPr lang="fr-CA" sz="1400" dirty="0" err="1">
                <a:latin typeface="Nunito" pitchFamily="2" charset="0"/>
              </a:rPr>
              <a:t>Visscher</a:t>
            </a:r>
            <a:r>
              <a:rPr lang="fr-CA" sz="1400" dirty="0">
                <a:latin typeface="Nunito" pitchFamily="2" charset="0"/>
              </a:rPr>
              <a:t>. Voir Annexe GAZEBO pour plus de détail.</a:t>
            </a:r>
          </a:p>
          <a:p>
            <a:pPr lvl="1"/>
            <a:endParaRPr lang="fr-CA" sz="1400" dirty="0">
              <a:latin typeface="Nunito" pitchFamily="2" charset="0"/>
            </a:endParaRPr>
          </a:p>
          <a:p>
            <a:pPr lvl="1"/>
            <a:endParaRPr lang="fr-CA" sz="1100" b="1" dirty="0">
              <a:latin typeface="Nunito" pitchFamily="2" charset="0"/>
            </a:endParaRPr>
          </a:p>
        </p:txBody>
      </p:sp>
      <p:pic>
        <p:nvPicPr>
          <p:cNvPr id="4" name="Image 3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620E8829-9DC2-D3D4-EA48-AB5FDCED929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3" name="Zone de texte 28">
            <a:extLst>
              <a:ext uri="{FF2B5EF4-FFF2-40B4-BE49-F238E27FC236}">
                <a16:creationId xmlns:a16="http://schemas.microsoft.com/office/drawing/2014/main" id="{07EEBC24-3491-8F2D-25BF-360F93269222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234DBF-13A6-9C41-C200-4478E6C117B0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MEUBLES ET PARASOLS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BDFD338-3E98-30C2-7ED8-786F487F1F66}"/>
              </a:ext>
            </a:extLst>
          </p:cNvPr>
          <p:cNvSpPr txBox="1"/>
          <p:nvPr/>
        </p:nvSpPr>
        <p:spPr>
          <a:xfrm>
            <a:off x="1232754" y="1139855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30 avril au 27 mai 2025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1209DE-3E0C-E8D3-0FED-7F3EDBC87A22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6" y="5650266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GAZEBOS</a:t>
            </a:r>
          </a:p>
        </p:txBody>
      </p:sp>
    </p:spTree>
    <p:extLst>
      <p:ext uri="{BB962C8B-B14F-4D97-AF65-F5344CB8AC3E}">
        <p14:creationId xmlns:p14="http://schemas.microsoft.com/office/powerpoint/2010/main" val="2125114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7" y="2195736"/>
            <a:ext cx="6408713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PROMO BROIL KING valide du 29 avril au 28 mai: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CA" sz="1600" dirty="0">
                <a:latin typeface="Nunito" pitchFamily="2" charset="0"/>
              </a:rPr>
              <a:t>Rabais de 100$ sur certains modèles. Voir Annexes.</a:t>
            </a:r>
            <a:endParaRPr lang="fr-CA" sz="1600" b="1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b="1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PROMO NAPOLEON valide du 14 mai au 9 juillet. </a:t>
            </a:r>
            <a:r>
              <a:rPr lang="fr-CA" sz="1600" dirty="0">
                <a:latin typeface="Nunito" pitchFamily="2" charset="0"/>
              </a:rPr>
              <a:t>Affiche à venir.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CA" sz="1600" dirty="0">
                <a:latin typeface="Nunito" pitchFamily="2" charset="0"/>
              </a:rPr>
              <a:t>100$ de rabais dur le Freestyle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CA" sz="1600" dirty="0">
                <a:latin typeface="Nunito" pitchFamily="2" charset="0"/>
              </a:rPr>
              <a:t>Accessoire gratuit à l’achat d’un BBQ sélectionné.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CA" sz="16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FOYER: </a:t>
            </a:r>
            <a:r>
              <a:rPr lang="fr-CA" sz="1600" dirty="0">
                <a:latin typeface="Nunito" pitchFamily="2" charset="0"/>
              </a:rPr>
              <a:t>Rabais en cours. Voir Annexes.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B2DBC70-3186-48CE-819F-361D4296B67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9</a:t>
            </a:fld>
            <a:endParaRPr lang="fr-CA"/>
          </a:p>
        </p:txBody>
      </p:sp>
      <p:pic>
        <p:nvPicPr>
          <p:cNvPr id="4" name="Image 3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6A14F4BD-2395-E12B-B62F-0DB73684AD0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0" name="Zone de texte 28">
            <a:extLst>
              <a:ext uri="{FF2B5EF4-FFF2-40B4-BE49-F238E27FC236}">
                <a16:creationId xmlns:a16="http://schemas.microsoft.com/office/drawing/2014/main" id="{8C4CC44E-B3E2-FBE5-ECEC-76835D374A16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16C8E2-CB0B-54B5-EC51-C98B5E5D383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BBQ et FOYER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F5DB1DE-87AD-3650-0C01-6A8DB30EC7DE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30 avril au 27 mai 2025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2E98BB-9009-DF24-A94E-E723BDD87E2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4486" y="7443609"/>
            <a:ext cx="6408713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Nunito" pitchFamily="2" charset="0"/>
              </a:rPr>
              <a:t>Aucun changement. Voir annexes pour les nouveaux rabais en cours. </a:t>
            </a: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135805-4BAC-ECDD-5998-3EF13EB4E48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4486" y="6880005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FITNESS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6D1C5A-2F6E-7925-ADF0-941F37012D3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54183" y="5288556"/>
            <a:ext cx="6408713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 err="1">
                <a:latin typeface="Nunito" pitchFamily="2" charset="0"/>
              </a:rPr>
              <a:t>Black+Decker</a:t>
            </a:r>
            <a:r>
              <a:rPr lang="fr-CA" sz="1600" dirty="0">
                <a:latin typeface="Nunito" pitchFamily="2" charset="0"/>
              </a:rPr>
              <a:t>: 15% de rabais sur les produits d’arrosage.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Fiberwood</a:t>
            </a:r>
            <a:r>
              <a:rPr lang="fr-CA" sz="1600" dirty="0">
                <a:latin typeface="Nunito" pitchFamily="2" charset="0"/>
              </a:rPr>
              <a:t>: Jusqu’à 1500$ de rabais sur les cabanons, voir prix dans l’Annexe de vente. Valide du 20 mai au 22 juin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A45505-249B-76D9-F452-1D907D961CB8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54183" y="4724952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AMÉNAGEMENT</a:t>
            </a:r>
          </a:p>
        </p:txBody>
      </p:sp>
    </p:spTree>
    <p:extLst>
      <p:ext uri="{BB962C8B-B14F-4D97-AF65-F5344CB8AC3E}">
        <p14:creationId xmlns:p14="http://schemas.microsoft.com/office/powerpoint/2010/main" val="534054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7" y="2261929"/>
            <a:ext cx="6408713" cy="54784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400" b="1" dirty="0">
                <a:latin typeface="Nunito" pitchFamily="2" charset="0"/>
              </a:rPr>
              <a:t>FAIRSTONE </a:t>
            </a:r>
          </a:p>
          <a:p>
            <a:r>
              <a:rPr lang="fr-CA" sz="1200" b="1" dirty="0">
                <a:latin typeface="Nunito" pitchFamily="2" charset="0"/>
              </a:rPr>
              <a:t>Promotion MEUBLE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Nunito" pitchFamily="2" charset="0"/>
              </a:rPr>
              <a:t>12 mois sans paiement ni intérêt (code 12120)</a:t>
            </a:r>
            <a:endParaRPr lang="fr-CA" sz="1200" b="1" dirty="0">
              <a:latin typeface="Nunito" pitchFamily="2" charset="0"/>
            </a:endParaRPr>
          </a:p>
          <a:p>
            <a:endParaRPr lang="fr-CA" sz="1200" b="1" dirty="0">
              <a:latin typeface="Nunito" pitchFamily="2" charset="0"/>
            </a:endParaRPr>
          </a:p>
          <a:p>
            <a:r>
              <a:rPr lang="fr-CA" sz="1200" b="1" dirty="0">
                <a:latin typeface="Nunito" pitchFamily="2" charset="0"/>
              </a:rPr>
              <a:t>Plans de financement réguliers</a:t>
            </a:r>
          </a:p>
          <a:p>
            <a:r>
              <a:rPr lang="fr-CA" sz="1200" dirty="0">
                <a:latin typeface="Nunito" pitchFamily="2" charset="0"/>
              </a:rPr>
              <a:t>Il est possible d’offrir l’un de ces plans </a:t>
            </a:r>
            <a:r>
              <a:rPr lang="fr-CA" sz="1200" u="sng" dirty="0">
                <a:latin typeface="Nunito" pitchFamily="2" charset="0"/>
              </a:rPr>
              <a:t>en tout temps et sur toutes les catégories* </a:t>
            </a:r>
            <a:r>
              <a:rPr lang="fr-CA" sz="1200" dirty="0">
                <a:latin typeface="Nunito" pitchFamily="2" charset="0"/>
              </a:rPr>
              <a:t>à l’achat de 500$ et+ . Voir votre gestionnaire pour plus de détail.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dirty="0">
              <a:latin typeface="Nunito" pitchFamily="2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r>
              <a:rPr lang="fr-CA" sz="1200" dirty="0">
                <a:effectLst/>
                <a:latin typeface="Nunito" pitchFamily="2" charset="0"/>
                <a:ea typeface="Calibri" panose="020F0502020204030204" pitchFamily="34" charset="0"/>
              </a:rPr>
              <a:t>*Maximum de 30 000$ selon l’approbation du crédit du client. Voir </a:t>
            </a:r>
            <a:r>
              <a:rPr lang="fr-CA" sz="1200" dirty="0">
                <a:latin typeface="Nunito" pitchFamily="2" charset="0"/>
                <a:ea typeface="Calibri" panose="020F0502020204030204" pitchFamily="34" charset="0"/>
              </a:rPr>
              <a:t>conditions et p</a:t>
            </a:r>
            <a:r>
              <a:rPr lang="fr-CA" sz="1200" dirty="0">
                <a:effectLst/>
                <a:latin typeface="Nunito" pitchFamily="2" charset="0"/>
                <a:ea typeface="Calibri" panose="020F0502020204030204" pitchFamily="34" charset="0"/>
              </a:rPr>
              <a:t>lans aussi offerts en ligne: </a:t>
            </a:r>
            <a:r>
              <a:rPr lang="fr-CA" sz="1200" dirty="0">
                <a:effectLst/>
                <a:latin typeface="Nunito" pitchFamily="2" charset="0"/>
                <a:ea typeface="Calibri" panose="020F0502020204030204" pitchFamily="34" charset="0"/>
                <a:hlinkClick r:id="rId6"/>
              </a:rPr>
              <a:t>https://www.clubpiscine.ca/fr/financement</a:t>
            </a:r>
            <a:endParaRPr lang="fr-CA" sz="1200" dirty="0">
              <a:effectLst/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Nunito" pitchFamily="2" charset="0"/>
              <a:ea typeface="Calibri" panose="020F0502020204030204" pitchFamily="34" charset="0"/>
            </a:endParaRPr>
          </a:p>
          <a:p>
            <a:r>
              <a:rPr lang="fr-CA" sz="1400" b="1" dirty="0">
                <a:latin typeface="Nunito" pitchFamily="2" charset="0"/>
              </a:rPr>
              <a:t>FINANCE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PISCINE CREUSÉE &amp; FIBRE : </a:t>
            </a:r>
            <a:r>
              <a:rPr lang="fr-CA" sz="1200" dirty="0">
                <a:latin typeface="Nunito" pitchFamily="2" charset="0"/>
              </a:rPr>
              <a:t>Aucun financement inclus dans la promotion du mois mais il est suggéré d’utiliser le Financement </a:t>
            </a:r>
            <a:r>
              <a:rPr lang="fr-CA" sz="1200" b="1" dirty="0">
                <a:latin typeface="Nunito" pitchFamily="2" charset="0"/>
              </a:rPr>
              <a:t>FINANCE IT </a:t>
            </a:r>
            <a:r>
              <a:rPr lang="fr-CA" sz="1200" dirty="0">
                <a:latin typeface="Nunito" pitchFamily="2" charset="0"/>
              </a:rPr>
              <a:t>car le plafond de financement n’est pas limité à 30K$. Suggestion : Promo 6 mois sans paiement.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Prêt ouvert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Financement sur terme @ 12.99% pour le consommateur.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Le 6 mois débute à la livraison/installation.</a:t>
            </a:r>
            <a:endParaRPr lang="fr-CA" sz="1400" b="1" dirty="0">
              <a:latin typeface="Nunito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52F2973-F05A-4798-9E29-20BCA9224E8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10</a:t>
            </a:fld>
            <a:endParaRPr lang="fr-CA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D2FA01D-61E9-0D86-8EE9-8402F412E3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9964" y="4044240"/>
            <a:ext cx="3115136" cy="1097455"/>
          </a:xfrm>
          <a:prstGeom prst="rect">
            <a:avLst/>
          </a:prstGeom>
        </p:spPr>
      </p:pic>
      <p:pic>
        <p:nvPicPr>
          <p:cNvPr id="3" name="Image 2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707E4CC5-9C01-2FD9-BE61-0C133BDE5E4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A65FB58-477F-301C-29F9-9474F7D06CD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60647" y="1692521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FINANCEMENT</a:t>
            </a:r>
          </a:p>
        </p:txBody>
      </p:sp>
      <p:sp>
        <p:nvSpPr>
          <p:cNvPr id="18" name="Zone de texte 28">
            <a:extLst>
              <a:ext uri="{FF2B5EF4-FFF2-40B4-BE49-F238E27FC236}">
                <a16:creationId xmlns:a16="http://schemas.microsoft.com/office/drawing/2014/main" id="{07B3D34E-E7F4-CF77-C250-4E92C29B6C38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F3ECDB9-7358-B3D5-33DD-01E04A1910F5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30 avril au 27 mai 2025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0069E2AA-A66C-9BA6-98B6-6D33AFAC89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659" y="3923928"/>
            <a:ext cx="3057604" cy="156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567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365B9-9196-5186-A420-DC7240363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1CB1EC5-A2FD-003E-2477-631220A235C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0647" y="2261929"/>
            <a:ext cx="6408713" cy="57092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100" b="1" dirty="0">
                <a:highlight>
                  <a:srgbClr val="7FCDE9"/>
                </a:highlight>
                <a:latin typeface="Nunito" pitchFamily="2" charset="0"/>
              </a:rPr>
              <a:t>WEEKEND EN FOLIE – Édition MEUBLES les 4-5 mai</a:t>
            </a:r>
          </a:p>
          <a:p>
            <a:r>
              <a:rPr lang="fr-CA" sz="1100" b="1" dirty="0">
                <a:latin typeface="Nunito" pitchFamily="2" charset="0"/>
              </a:rPr>
              <a:t>Ne manquez pas les Weekend en folie de retour cette année! </a:t>
            </a:r>
            <a:r>
              <a:rPr lang="fr-CA" sz="1100" dirty="0">
                <a:latin typeface="Nunito" pitchFamily="2" charset="0"/>
              </a:rPr>
              <a:t>La prochaine édition aura lieu les 4-5 mai. Veuillez vous référer à l’instruction de vente spéciale déposées sur le </a:t>
            </a:r>
            <a:r>
              <a:rPr lang="fr-CA" sz="1100" dirty="0" err="1">
                <a:latin typeface="Nunito" pitchFamily="2" charset="0"/>
              </a:rPr>
              <a:t>Sharepoint</a:t>
            </a:r>
            <a:r>
              <a:rPr lang="fr-CA" sz="1100" dirty="0">
                <a:latin typeface="Nunito" pitchFamily="2" charset="0"/>
              </a:rPr>
              <a:t>.</a:t>
            </a:r>
          </a:p>
          <a:p>
            <a:endParaRPr lang="fr-CA" sz="1100" dirty="0">
              <a:latin typeface="Nunito" pitchFamily="2" charset="0"/>
            </a:endParaRPr>
          </a:p>
          <a:p>
            <a:endParaRPr lang="fr-CA" sz="1100" b="1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100" b="1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100" b="1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100" b="1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100" b="1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100" b="1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100" b="1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100" b="1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100" b="1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100" b="1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100" b="1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100" b="1" dirty="0">
              <a:highlight>
                <a:srgbClr val="7FCDE9"/>
              </a:highlight>
              <a:latin typeface="Nunito" pitchFamily="2" charset="0"/>
            </a:endParaRPr>
          </a:p>
          <a:p>
            <a:endParaRPr lang="fr-CA" sz="1100" dirty="0">
              <a:latin typeface="Nunito" pitchFamily="2" charset="0"/>
            </a:endParaRPr>
          </a:p>
          <a:p>
            <a:endParaRPr lang="fr-CA" sz="1100" dirty="0">
              <a:latin typeface="Nunito" pitchFamily="2" charset="0"/>
            </a:endParaRPr>
          </a:p>
          <a:p>
            <a:endParaRPr lang="fr-CA" sz="1100" dirty="0">
              <a:latin typeface="Nunito" pitchFamily="2" charset="0"/>
            </a:endParaRPr>
          </a:p>
          <a:p>
            <a:endParaRPr lang="fr-CA" sz="1100" dirty="0">
              <a:latin typeface="Nunito" pitchFamily="2" charset="0"/>
            </a:endParaRPr>
          </a:p>
          <a:p>
            <a:endParaRPr lang="fr-CA" sz="1200" b="1" dirty="0">
              <a:latin typeface="Nunito" pitchFamily="2" charset="0"/>
            </a:endParaRPr>
          </a:p>
          <a:p>
            <a:endParaRPr lang="fr-CA" sz="1200" b="1" dirty="0">
              <a:highlight>
                <a:srgbClr val="7FCDE9"/>
              </a:highlight>
              <a:latin typeface="Nunito" pitchFamily="2" charset="0"/>
            </a:endParaRPr>
          </a:p>
          <a:p>
            <a:r>
              <a:rPr lang="fr-CA" sz="1100" b="1" dirty="0">
                <a:highlight>
                  <a:srgbClr val="7FCDE9"/>
                </a:highlight>
                <a:latin typeface="Nunito" pitchFamily="2" charset="0"/>
              </a:rPr>
              <a:t>CLUB PISCINE X KASEME</a:t>
            </a:r>
          </a:p>
          <a:p>
            <a:r>
              <a:rPr lang="fr-CA" sz="1100" dirty="0">
                <a:latin typeface="Nunito" pitchFamily="2" charset="0"/>
              </a:rPr>
              <a:t>Tel qu’annoncé en primeur lors de la journée « La vente c’est cool! », ne manquez pas la toute nouvelle </a:t>
            </a:r>
            <a:r>
              <a:rPr lang="fr-CA" sz="1100" b="1" dirty="0">
                <a:latin typeface="Nunito" pitchFamily="2" charset="0"/>
              </a:rPr>
              <a:t>collection d’étuis à cellulaire Club Piscine en collaboration avec </a:t>
            </a:r>
            <a:r>
              <a:rPr lang="fr-CA" sz="1100" b="1" dirty="0" err="1">
                <a:latin typeface="Nunito" pitchFamily="2" charset="0"/>
              </a:rPr>
              <a:t>Kaseme</a:t>
            </a:r>
            <a:r>
              <a:rPr lang="fr-CA" sz="1100" dirty="0">
                <a:latin typeface="Nunito" pitchFamily="2" charset="0"/>
              </a:rPr>
              <a:t>! Lancement prévu en mai sur nos différentes plateformes web. Détails à venir.</a:t>
            </a:r>
          </a:p>
          <a:p>
            <a:endParaRPr lang="fr-CA" sz="1100" dirty="0">
              <a:latin typeface="Nunito" pitchFamily="2" charset="0"/>
            </a:endParaRPr>
          </a:p>
          <a:p>
            <a:endParaRPr lang="fr-CA" sz="1100" dirty="0">
              <a:latin typeface="Nunito" pitchFamily="2" charset="0"/>
            </a:endParaRPr>
          </a:p>
          <a:p>
            <a:endParaRPr lang="fr-CA" sz="1100" dirty="0">
              <a:latin typeface="Nunito" pitchFamily="2" charset="0"/>
            </a:endParaRPr>
          </a:p>
          <a:p>
            <a:endParaRPr lang="fr-CA" sz="1100" dirty="0">
              <a:latin typeface="Nunito" pitchFamily="2" charset="0"/>
            </a:endParaRPr>
          </a:p>
          <a:p>
            <a:endParaRPr lang="fr-CA" sz="1100" dirty="0">
              <a:latin typeface="Nunito" pitchFamily="2" charset="0"/>
            </a:endParaRPr>
          </a:p>
          <a:p>
            <a:endParaRPr lang="fr-CA" sz="1100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C06594-EEB8-8872-9F65-C5A86603442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7" y="1692521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NOUVELLES DU MARKETING!</a:t>
            </a:r>
          </a:p>
        </p:txBody>
      </p:sp>
      <p:sp>
        <p:nvSpPr>
          <p:cNvPr id="18" name="Zone de texte 28">
            <a:extLst>
              <a:ext uri="{FF2B5EF4-FFF2-40B4-BE49-F238E27FC236}">
                <a16:creationId xmlns:a16="http://schemas.microsoft.com/office/drawing/2014/main" id="{AE22E7C4-1F48-2858-8980-37A78E5BDC3A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2BEFDB0-1EC6-6275-8251-CED65AA7DB61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2 au 29 avril 2025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7812005-BC41-EB41-2F24-BADC864F4E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5201" y="6830901"/>
            <a:ext cx="1484097" cy="1105179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EC244F33-6F75-4A03-BC0C-71470A779C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8368" y="3023976"/>
            <a:ext cx="2101264" cy="278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888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7642783BF5F549AD8264003DAC5479" ma:contentTypeVersion="3" ma:contentTypeDescription="Crée un document." ma:contentTypeScope="" ma:versionID="dce298f75874831ad4b69d3856d448b0">
  <xsd:schema xmlns:xsd="http://www.w3.org/2001/XMLSchema" xmlns:xs="http://www.w3.org/2001/XMLSchema" xmlns:p="http://schemas.microsoft.com/office/2006/metadata/properties" xmlns:ns2="be3f775b-911d-49d5-9e9c-70e93af7b92b" targetNamespace="http://schemas.microsoft.com/office/2006/metadata/properties" ma:root="true" ma:fieldsID="b29a77cbcb573c1061bfa2edeefbf14c" ns2:_="">
    <xsd:import namespace="be3f775b-911d-49d5-9e9c-70e93af7b9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f775b-911d-49d5-9e9c-70e93af7b9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1E1C49C-B943-4250-BB39-87973E798E95}">
  <ds:schemaRefs>
    <ds:schemaRef ds:uri="http://schemas.microsoft.com/office/infopath/2007/PartnerControls"/>
    <ds:schemaRef ds:uri="http://purl.org/dc/dcmitype/"/>
    <ds:schemaRef ds:uri="http://www.w3.org/XML/1998/namespace"/>
    <ds:schemaRef ds:uri="http://schemas.microsoft.com/office/2006/documentManagement/types"/>
    <ds:schemaRef ds:uri="8682f7ec-9bef-4d6d-8d5c-0ec39e002ff3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93C392B-F690-4267-8D4E-0D4DB769B8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594D6E-935B-45F9-B983-D4B743A71E71}"/>
</file>

<file path=docProps/app.xml><?xml version="1.0" encoding="utf-8"?>
<Properties xmlns="http://schemas.openxmlformats.org/officeDocument/2006/extended-properties" xmlns:vt="http://schemas.openxmlformats.org/officeDocument/2006/docPropsVTypes">
  <TotalTime>53381</TotalTime>
  <Words>2172</Words>
  <Application>Microsoft Office PowerPoint</Application>
  <PresentationFormat>Affichage à l'écran (4:3)</PresentationFormat>
  <Paragraphs>291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20" baseType="lpstr">
      <vt:lpstr>Aptos Narrow</vt:lpstr>
      <vt:lpstr>Arial</vt:lpstr>
      <vt:lpstr>Calibri</vt:lpstr>
      <vt:lpstr>Calibri Light</vt:lpstr>
      <vt:lpstr>Courier New</vt:lpstr>
      <vt:lpstr>Nunito</vt:lpstr>
      <vt:lpstr>Symbol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Cindy Angelini</dc:creator>
  <cp:lastModifiedBy>Veronique Dion</cp:lastModifiedBy>
  <cp:revision>1710</cp:revision>
  <cp:lastPrinted>2022-04-27T14:46:34Z</cp:lastPrinted>
  <dcterms:created xsi:type="dcterms:W3CDTF">2017-05-24T18:44:46Z</dcterms:created>
  <dcterms:modified xsi:type="dcterms:W3CDTF">2025-05-20T16:53:08Z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0x010100DF7642783BF5F549AD8264003DAC5479</vt:lpwstr>
  </property>
  <property fmtid="{D5CDD505-2E9C-101B-9397-08002B2CF9AE}" pid="3" name="CPProgramYearTaxo">
    <vt:lpwstr>395;#2021|67d85b28-9b94-4781-b0e7-a14780e90c05</vt:lpwstr>
  </property>
  <property fmtid="{D5CDD505-2E9C-101B-9397-08002B2CF9AE}" pid="4" name="CPDivisionTaxo">
    <vt:lpwstr>25;#Marketing / Marketing|0ce858d0-7a7f-4510-bcd3-2b6f6fd047da</vt:lpwstr>
  </property>
  <property fmtid="{D5CDD505-2E9C-101B-9397-08002B2CF9AE}" pid="5" name="CPLanguageTaxos">
    <vt:lpwstr>4;#FR|5610c2fe-5657-4d60-b756-13a60f4693e4</vt:lpwstr>
  </property>
  <property fmtid="{D5CDD505-2E9C-101B-9397-08002B2CF9AE}" pid="6" name="CPProviderTaxo">
    <vt:lpwstr/>
  </property>
  <property fmtid="{D5CDD505-2E9C-101B-9397-08002B2CF9AE}" pid="7" name="CPTargetDepartmentTaxos">
    <vt:lpwstr/>
  </property>
</Properties>
</file>