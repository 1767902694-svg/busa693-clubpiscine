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5" r:id="rId5"/>
    <p:sldId id="281" r:id="rId6"/>
    <p:sldId id="276" r:id="rId7"/>
    <p:sldId id="285" r:id="rId8"/>
    <p:sldId id="275" r:id="rId9"/>
    <p:sldId id="267" r:id="rId10"/>
    <p:sldId id="270" r:id="rId11"/>
    <p:sldId id="266" r:id="rId12"/>
    <p:sldId id="273" r:id="rId13"/>
    <p:sldId id="272" r:id="rId14"/>
    <p:sldId id="286" r:id="rId15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1447AB"/>
    <a:srgbClr val="3068D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>
      <p:cViewPr varScale="1">
        <p:scale>
          <a:sx n="79" d="100"/>
          <a:sy n="79" d="100"/>
        </p:scale>
        <p:origin x="3144" y="9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26/05/2025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2025-05-26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2025-05-26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2025-05-26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2025-05-26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2025-05-26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4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10" Type="http://schemas.openxmlformats.org/officeDocument/2006/relationships/image" Target="../media/image1.png"/><Relationship Id="rId4" Type="http://schemas.openxmlformats.org/officeDocument/2006/relationships/tags" Target="../tags/tag48.xml"/><Relationship Id="rId9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55.xml"/><Relationship Id="rId7" Type="http://schemas.openxmlformats.org/officeDocument/2006/relationships/image" Target="../media/image2.pn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hyperlink" Target="https://www.clubpiscine.ca/fr/financement" TargetMode="Externa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6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image" Target="../media/image5.png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4.png"/><Relationship Id="rId5" Type="http://schemas.openxmlformats.org/officeDocument/2006/relationships/hyperlink" Target="https://www.kasemedesign.ca/fr/collections/club-piscine" TargetMode="Externa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252637"/>
            <a:ext cx="6408713" cy="62574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SPA 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1000$ de rabais sur les Solstice et Jacuzzi. Inclus spa de nage.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Spa de nage: 50% de rabais sur le </a:t>
            </a:r>
            <a:r>
              <a:rPr kumimoji="0" lang="fr-FR" altLang="fr-FR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Rollawa</a:t>
            </a:r>
            <a:r>
              <a:rPr lang="fr-FR" altLang="fr-FR" sz="1200" dirty="0" err="1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r>
              <a:rPr lang="fr-FR" altLang="fr-FR" sz="1200" dirty="0">
                <a:solidFill>
                  <a:srgbClr val="000000"/>
                </a:solidFill>
                <a:latin typeface="Nunito" pitchFamily="2" charset="0"/>
                <a:ea typeface="Aptos" panose="020B0004020202020204" pitchFamily="34" charset="0"/>
                <a:cs typeface="Times New Roman" panose="02020603050405020304" pitchFamily="18" charset="0"/>
              </a:rPr>
              <a:t> du 4 au 17 juin. J13 exclus de la promotion.</a:t>
            </a:r>
            <a:endParaRPr kumimoji="0" lang="fr-FR" altLang="fr-FR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Nunito" pitchFamily="2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SAUNA: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Offre de lancement de 20% de rabais sur les saunas </a:t>
            </a:r>
            <a:r>
              <a:rPr lang="fr-CA" sz="12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Visscher</a:t>
            </a:r>
            <a:endParaRPr lang="fr-CA" sz="12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1200$ sur toutes les piscines hors terre chauffée   +  robot </a:t>
            </a:r>
            <a:r>
              <a:rPr lang="fr-CA" sz="12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AquaSol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GRATUIT.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6000$ sur  les piscines creusées.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FIBRE: 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Aucun changement.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cs typeface="Times New Roman" panose="02020603050405020304" pitchFamily="18" charset="0"/>
              </a:rPr>
              <a:t>MEUBLE</a:t>
            </a:r>
            <a:r>
              <a:rPr lang="fr-CA" sz="1200" dirty="0">
                <a:latin typeface="Nunito" pitchFamily="2" charset="0"/>
                <a:cs typeface="Times New Roman" panose="02020603050405020304" pitchFamily="18" charset="0"/>
              </a:rPr>
              <a:t>: Rabais de taxes + jusqu’à 20% de rabais sur certains modèles.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GAZEBO: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Jusqu’à 1000$ + carte promo jusqu’à 750$ à l’achat d’un </a:t>
            </a:r>
            <a:r>
              <a:rPr lang="fr-CA" sz="12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Visscher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BBQ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Voir promo du manufacturier en cours.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AUTRES: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Promotion sur les </a:t>
            </a:r>
            <a:r>
              <a:rPr lang="fr-CA" sz="1100" dirty="0" err="1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Meaters</a:t>
            </a: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29 mai au 18 juin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1500$ de rabais sur les cabanons Fiberwood – du 20 mai au 22 juin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de rabais sur les toiles creusée Latham sélectionnées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10% de rabais sur le spa gonflable Miami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de rabais sur les jeux et gonflables (exclut aide à la nage et sport) - 18 juin au 7 juillet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10% sur les chaises de camping CGI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15% sur les produits nettoyant pour meuble Club Piscine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81EABBC-C49F-FFC2-4E49-3F25AF558C54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011CA4-D025-2CF7-B847-8536ABDB2C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8B0C627-E33D-56E6-4D72-651D6EA52AA9}"/>
              </a:ext>
            </a:extLst>
          </p:cNvPr>
          <p:cNvSpPr txBox="1"/>
          <p:nvPr/>
        </p:nvSpPr>
        <p:spPr>
          <a:xfrm>
            <a:off x="1016731" y="8700357"/>
            <a:ext cx="482453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fr-FR" sz="8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toutes les promotions détaillées dans les pages suivantes.</a:t>
            </a:r>
            <a:endParaRPr lang="fr-FR" sz="800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JACUZZI </a:t>
            </a:r>
            <a:endParaRPr lang="fr-CA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Rabais de 1000$ </a:t>
            </a:r>
            <a:r>
              <a:rPr lang="fr-FR" sz="1400" dirty="0">
                <a:latin typeface="Nunito" pitchFamily="2" charset="0"/>
              </a:rPr>
              <a:t>sur tous les JACUZZI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50% sur l’option de </a:t>
            </a:r>
            <a:r>
              <a:rPr lang="fr-FR" sz="1400" b="1" dirty="0">
                <a:latin typeface="Nunito" pitchFamily="2" charset="0"/>
              </a:rPr>
              <a:t>couleur mat Canyon </a:t>
            </a:r>
            <a:r>
              <a:rPr lang="fr-FR" sz="1400" dirty="0">
                <a:latin typeface="Nunito" pitchFamily="2" charset="0"/>
              </a:rPr>
              <a:t>PTR 182471, 182472, 182473 et 182474 (valeur de 500$ donc rabais de 250$). Promotion non diffusée.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et le GFCI standards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  <a:endParaRPr lang="fr-FR" sz="1400" b="1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La livraison </a:t>
            </a:r>
            <a:r>
              <a:rPr lang="fr-FR" sz="1400" b="1" dirty="0">
                <a:latin typeface="Nunito" pitchFamily="2" charset="0"/>
              </a:rPr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(suggestion): </a:t>
            </a:r>
            <a:r>
              <a:rPr lang="fr-FR" sz="1400" dirty="0">
                <a:latin typeface="Nunito" pitchFamily="2" charset="0"/>
              </a:rPr>
              <a:t>24 mois sans intérêt (code 13240).</a:t>
            </a:r>
          </a:p>
          <a:p>
            <a:endParaRPr lang="fr-CA" sz="1400" b="1" dirty="0">
              <a:latin typeface="Nunito" pitchFamily="2" charset="0"/>
            </a:endParaRPr>
          </a:p>
          <a:p>
            <a:r>
              <a:rPr lang="fr-FR" sz="1400" b="1" dirty="0">
                <a:effectLst/>
                <a:latin typeface="Nunito" pitchFamily="2" charset="0"/>
              </a:rPr>
              <a:t>TROUSSE 2025</a:t>
            </a:r>
          </a:p>
          <a:p>
            <a:r>
              <a:rPr lang="fr-FR" sz="1400" dirty="0">
                <a:effectLst/>
                <a:latin typeface="Nunito" pitchFamily="2" charset="0"/>
              </a:rPr>
              <a:t>Tous les modèles viennent avec la promotion ‘’Trousse énergétique </a:t>
            </a:r>
            <a:r>
              <a:rPr lang="fr-FR" sz="1400" dirty="0" err="1">
                <a:effectLst/>
                <a:latin typeface="Nunito" pitchFamily="2" charset="0"/>
              </a:rPr>
              <a:t>SmartTub</a:t>
            </a:r>
            <a:r>
              <a:rPr lang="fr-FR" sz="1400" dirty="0">
                <a:effectLst/>
                <a:latin typeface="Nunito" pitchFamily="2" charset="0"/>
              </a:rPr>
              <a:t> </a:t>
            </a:r>
            <a:r>
              <a:rPr lang="fr-FR" sz="1400" dirty="0" err="1">
                <a:effectLst/>
                <a:latin typeface="Nunito" pitchFamily="2" charset="0"/>
              </a:rPr>
              <a:t>play</a:t>
            </a:r>
            <a:r>
              <a:rPr lang="fr-FR" sz="1400" dirty="0">
                <a:effectLst/>
                <a:latin typeface="Nunito" pitchFamily="2" charset="0"/>
              </a:rPr>
              <a:t>’’ d’une valeur ajoutée de 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1998$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999$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b="1" dirty="0">
                <a:latin typeface="Nunito" pitchFamily="2" charset="0"/>
                <a:cs typeface="Times New Roman" panose="02020603050405020304" pitchFamily="18" charset="0"/>
              </a:rPr>
              <a:t>300$ 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Prolast</a:t>
            </a:r>
            <a:r>
              <a:rPr lang="fr-FR" sz="1400" dirty="0">
                <a:latin typeface="Nunito" pitchFamily="2" charset="0"/>
                <a:cs typeface="Times New Roman" panose="02020603050405020304" pitchFamily="18" charset="0"/>
              </a:rPr>
              <a:t> </a:t>
            </a:r>
            <a:r>
              <a:rPr lang="fr-FR" sz="1400" dirty="0" err="1">
                <a:latin typeface="Nunito" pitchFamily="2" charset="0"/>
                <a:cs typeface="Times New Roman" panose="02020603050405020304" pitchFamily="18" charset="0"/>
              </a:rPr>
              <a:t>Extreme</a:t>
            </a:r>
            <a:endParaRPr lang="fr-FR" sz="1400" dirty="0">
              <a:latin typeface="Nunito" pitchFamily="2" charset="0"/>
              <a:cs typeface="Times New Roman" panose="02020603050405020304" pitchFamily="18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PUBLICITÉ</a:t>
            </a:r>
            <a:r>
              <a:rPr lang="fr-CA" sz="1400" dirty="0">
                <a:latin typeface="Nunito" pitchFamily="2" charset="0"/>
              </a:rPr>
              <a:t>: La promotion jusqu’à 2998$ de rabais et avantages comprend 1000$ de rabais + 1998$ Trousse d’économie d’énergie sur la série 300.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sp>
        <p:nvSpPr>
          <p:cNvPr id="9" name="Zone de texte 28">
            <a:extLst>
              <a:ext uri="{FF2B5EF4-FFF2-40B4-BE49-F238E27FC236}">
                <a16:creationId xmlns:a16="http://schemas.microsoft.com/office/drawing/2014/main" id="{BF7464D2-8A1C-6390-AFDD-26707DAEF7F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90023B-B8AE-62B5-EBA4-FD4F7CFFF51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pic>
        <p:nvPicPr>
          <p:cNvPr id="15" name="Image 1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FBDB696A-4C0C-3F06-1951-1FFE6A5440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EC90878E-C259-7E50-05ED-F152041D84BD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5816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2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SOLSTICE 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dirty="0">
                <a:latin typeface="Nunito" pitchFamily="2" charset="0"/>
              </a:rPr>
              <a:t>Rabais de 1000$ sur tous les SOLSTICE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Kit Premium GRATUIT </a:t>
            </a:r>
            <a:r>
              <a:rPr lang="fr-FR" sz="1400" dirty="0">
                <a:latin typeface="Nunito" pitchFamily="2" charset="0"/>
              </a:rPr>
              <a:t>: à l’achat d’un spa, obtenez un kit premium gratuitement (valeur de 489.89$). Comprend: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FR" sz="1200" dirty="0">
                <a:latin typeface="Nunito" pitchFamily="2" charset="0"/>
              </a:rPr>
              <a:t>Levier Standard Mount 171826 (valeur de 319.99$)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fr-FR" sz="1200" dirty="0">
                <a:latin typeface="Nunito" pitchFamily="2" charset="0"/>
              </a:rPr>
              <a:t>Marche avec rangement 180232 (valeur de 169.99$)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endParaRPr lang="fr-FR" sz="1400" dirty="0">
              <a:latin typeface="Nunito" pitchFamily="2" charset="0"/>
            </a:endParaRP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(suggestion): </a:t>
            </a:r>
            <a:r>
              <a:rPr lang="fr-FR" sz="1400" dirty="0">
                <a:latin typeface="Nunito" pitchFamily="2" charset="0"/>
              </a:rPr>
              <a:t>24 mois sans intérêt (code 13240).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>
                <a:latin typeface="Nunito" pitchFamily="2" charset="0"/>
              </a:rPr>
              <a:t>PROMO: OBTENEZ 2 SERVIETTES SOLSTICE À L’ACHAT D’UN SPA </a:t>
            </a:r>
            <a:r>
              <a:rPr lang="fr-CA" sz="1400" dirty="0">
                <a:latin typeface="Nunito" pitchFamily="2" charset="0"/>
              </a:rPr>
              <a:t>(</a:t>
            </a:r>
            <a:r>
              <a:rPr lang="fr-CA" sz="1400" i="1" dirty="0">
                <a:latin typeface="Nunito" pitchFamily="2" charset="0"/>
              </a:rPr>
              <a:t>PTR 173988)</a:t>
            </a:r>
            <a:r>
              <a:rPr lang="fr-CA" sz="1400" dirty="0">
                <a:latin typeface="Nunito" pitchFamily="2" charset="0"/>
              </a:rPr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Le levier, la marche, le GFCI sont </a:t>
            </a:r>
            <a:r>
              <a:rPr lang="fr-CA" sz="1400" b="1" dirty="0">
                <a:latin typeface="Nunito" pitchFamily="2" charset="0"/>
              </a:rPr>
              <a:t>INCLUS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>
                <a:latin typeface="Nunito" pitchFamily="2" charset="0"/>
              </a:rPr>
              <a:t>La livraison </a:t>
            </a:r>
            <a:r>
              <a:rPr lang="fr-CA" sz="1400" b="1" dirty="0">
                <a:latin typeface="Nunito" pitchFamily="2" charset="0"/>
              </a:rPr>
              <a:t>N’EST PAS INCLUSE</a:t>
            </a:r>
          </a:p>
          <a:p>
            <a:pPr lvl="0"/>
            <a:endParaRPr lang="fr-CA" sz="1400" b="1" dirty="0">
              <a:latin typeface="Nunito" pitchFamily="2" charset="0"/>
            </a:endParaRPr>
          </a:p>
          <a:p>
            <a:endParaRPr lang="fr-CA" sz="1400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400" dirty="0">
              <a:latin typeface="Nunito" pitchFamily="2" charset="0"/>
            </a:endParaRPr>
          </a:p>
          <a:p>
            <a:r>
              <a:rPr lang="fr-CA" sz="1400" b="1" dirty="0">
                <a:latin typeface="Nunito" pitchFamily="2" charset="0"/>
              </a:rPr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Concours Gagnez votre spa </a:t>
            </a:r>
            <a:r>
              <a:rPr lang="fr-CA" sz="1400" dirty="0" err="1">
                <a:latin typeface="Nunito" pitchFamily="2" charset="0"/>
              </a:rPr>
              <a:t>Moonsoon</a:t>
            </a:r>
            <a:r>
              <a:rPr lang="fr-CA" sz="1400" dirty="0">
                <a:latin typeface="Nunito" pitchFamily="2" charset="0"/>
              </a:rPr>
              <a:t>. Détail au clubpiscine.ca/concours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Spa Blizzard édition limitée en promotion à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La livraison n’est pas incluse.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Financement: </a:t>
            </a:r>
            <a:r>
              <a:rPr lang="fr-FR" sz="1400" dirty="0">
                <a:latin typeface="Nunito" pitchFamily="2" charset="0"/>
              </a:rPr>
              <a:t>Il n’y a pas de promotion de financement mais vous pouvez offrir l’un des plans réguliers qui se trouvent à la dernière page des instructions de vente.</a:t>
            </a:r>
          </a:p>
          <a:p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C6CA8B6-F6D3-0B7F-1920-ACB8FA7910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9" name="Zone de texte 28">
            <a:extLst>
              <a:ext uri="{FF2B5EF4-FFF2-40B4-BE49-F238E27FC236}">
                <a16:creationId xmlns:a16="http://schemas.microsoft.com/office/drawing/2014/main" id="{DD06B021-6AF8-E12B-F76A-1801672E7A2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7BAEE-A4DA-F4F1-9BDE-F27C81344C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6855BF8-9912-892D-C2CA-F1623A1A65DF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6" y="2267744"/>
            <a:ext cx="6408713" cy="32932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</a:rPr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1000$ de rabais </a:t>
            </a:r>
            <a:r>
              <a:rPr lang="fr-CA" sz="1600" dirty="0">
                <a:latin typeface="Nunito" pitchFamily="2" charset="0"/>
              </a:rPr>
              <a:t>sur tous les spas de nage.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VIP - valide du 4 au 17 juin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 50% de rabais sur le couvercle </a:t>
            </a:r>
            <a:r>
              <a:rPr lang="fr-CA" sz="1600" dirty="0" err="1">
                <a:latin typeface="Nunito" pitchFamily="2" charset="0"/>
              </a:rPr>
              <a:t>Rollaway</a:t>
            </a:r>
            <a:r>
              <a:rPr lang="fr-CA" sz="1600" dirty="0">
                <a:latin typeface="Nunito" pitchFamily="2" charset="0"/>
              </a:rPr>
              <a:t> à l’achat d’un spa de nage Jacuzzi. J13 exclu de la promotion.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Carte promo Club Piscine de 500$ à l’achat d’un spa de nage.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PUBLICITÉ</a:t>
            </a:r>
            <a:r>
              <a:rPr lang="fr-CA" sz="1600" dirty="0">
                <a:latin typeface="Nunito" pitchFamily="2" charset="0"/>
              </a:rPr>
              <a:t>: La promotion jusqu’à 4000$ de rabais et avantages comprend 1000$ de rabais + 2500$ (valeur de 50% du </a:t>
            </a:r>
            <a:r>
              <a:rPr lang="fr-CA" sz="1600" dirty="0" err="1">
                <a:latin typeface="Nunito" pitchFamily="2" charset="0"/>
              </a:rPr>
              <a:t>Rollaway</a:t>
            </a:r>
            <a:r>
              <a:rPr lang="fr-CA" sz="1600" dirty="0">
                <a:latin typeface="Nunito" pitchFamily="2" charset="0"/>
              </a:rPr>
              <a:t>) + carte promo de 500$.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La livraison et frais de grue </a:t>
            </a:r>
            <a:r>
              <a:rPr lang="fr-CA" sz="1600" b="1" dirty="0">
                <a:latin typeface="Nunito" pitchFamily="2" charset="0"/>
              </a:rPr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1334" y="6242700"/>
            <a:ext cx="640871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 err="1">
                <a:latin typeface="Nunito" pitchFamily="2" charset="0"/>
              </a:rPr>
              <a:t>Visscher</a:t>
            </a:r>
            <a:r>
              <a:rPr lang="fr-CA" sz="1600" dirty="0">
                <a:latin typeface="Nunito" pitchFamily="2" charset="0"/>
              </a:rPr>
              <a:t>: Nouveauté! Offre de lancement à 9599 .99$ (reg. 11 999.99$). Arrivée prévue mi-juin en magasin.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Pure Cube</a:t>
            </a:r>
            <a:r>
              <a:rPr lang="fr-CA" sz="1600" dirty="0">
                <a:latin typeface="Nunito" pitchFamily="2" charset="0"/>
              </a:rPr>
              <a:t>: Les rabais se poursuivent. Comme il y a des prix MAP, ces rabais sont valides en magasins seulement et non en ligne.</a:t>
            </a:r>
            <a:endParaRPr lang="fr-CA" sz="2000" dirty="0">
              <a:latin typeface="Nunito" pitchFamily="2" charset="0"/>
            </a:endParaRPr>
          </a:p>
          <a:p>
            <a:endParaRPr lang="fr-CA" sz="1600" b="1" dirty="0"/>
          </a:p>
        </p:txBody>
      </p:sp>
      <p:pic>
        <p:nvPicPr>
          <p:cNvPr id="7" name="Image 6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116E73-58FD-C6F8-E221-1B211D4230B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5" name="Zone de texte 28">
            <a:extLst>
              <a:ext uri="{FF2B5EF4-FFF2-40B4-BE49-F238E27FC236}">
                <a16:creationId xmlns:a16="http://schemas.microsoft.com/office/drawing/2014/main" id="{803D3DD9-0B1A-2A12-6DE0-70C14288669F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B0C2A7-721D-11B3-CB7C-19ACD845385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SPAS DE NAGE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52C64BA-8CAE-8C04-5537-DA47EC75BA46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D80F65-8900-D6B8-DB06-977F8F09247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5" y="570276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SAUNAS</a:t>
            </a:r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232318"/>
            <a:ext cx="640871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LATHAM ACIER et IMPERIAL POOL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PROMO</a:t>
            </a:r>
            <a:r>
              <a:rPr lang="fr-FR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: Jusqu’à 6000$ de rabais sur les piscines en acier.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200" dirty="0"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Voir Annexes CREUSÉE pour le détail des rabais.</a:t>
            </a:r>
          </a:p>
          <a:p>
            <a:endParaRPr lang="fr-CA" sz="1200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TOILE LATHAM: </a:t>
            </a:r>
            <a:r>
              <a:rPr lang="fr-CA" sz="1200" dirty="0">
                <a:latin typeface="Nunito" pitchFamily="2" charset="0"/>
              </a:rPr>
              <a:t>15% de rabais sur les toiles creusées Latham. Voir affiche ci-jointe pour modèles inclus dans la promotion. Jusqu'à puisement des stocks.</a:t>
            </a: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  <a:p>
            <a:pPr marL="285750" indent="-285750">
              <a:buFontTx/>
              <a:buChar char="-"/>
            </a:pPr>
            <a:endParaRPr lang="fr-CA" sz="1200" dirty="0">
              <a:latin typeface="Nunito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4983137"/>
            <a:ext cx="6408713" cy="3600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MOVA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jusqu’à 4500$ </a:t>
            </a:r>
            <a:r>
              <a:rPr lang="fr-CA" sz="1200" dirty="0">
                <a:latin typeface="Nunito" pitchFamily="2" charset="0"/>
              </a:rPr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Note:  Le frais d’extra au détail pour une couleur est de 5000$</a:t>
            </a:r>
          </a:p>
          <a:p>
            <a:endParaRPr lang="fr-CA" sz="1200" b="1" dirty="0">
              <a:latin typeface="Nunito" pitchFamily="2" charset="0"/>
              <a:sym typeface="Wingdings" panose="05000000000000000000" pitchFamily="2" charset="2"/>
            </a:endParaRPr>
          </a:p>
          <a:p>
            <a:r>
              <a:rPr lang="fr-CA" sz="1200" b="1" dirty="0">
                <a:latin typeface="Nunito" pitchFamily="2" charset="0"/>
                <a:sym typeface="Wingdings" panose="05000000000000000000" pitchFamily="2" charset="2"/>
              </a:rPr>
              <a:t>AQUARINO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jusqu’à 7500$ </a:t>
            </a:r>
            <a:r>
              <a:rPr lang="fr-CA" sz="1200" dirty="0">
                <a:latin typeface="Nunito" pitchFamily="2" charset="0"/>
              </a:rPr>
              <a:t>sur certaines piscines AQUARINO équipées et installées (rabais de 3500$ si piscine seule).</a:t>
            </a:r>
            <a:endParaRPr lang="fr-CA" sz="12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COMBO </a:t>
            </a:r>
            <a:r>
              <a:rPr lang="fr-CA" sz="1200" b="1" dirty="0" err="1">
                <a:latin typeface="Nunito" pitchFamily="2" charset="0"/>
              </a:rPr>
              <a:t>Chlorinateur+Thermopome</a:t>
            </a:r>
            <a:r>
              <a:rPr lang="fr-CA" sz="1200" b="1" dirty="0">
                <a:latin typeface="Nunito" pitchFamily="2" charset="0"/>
              </a:rPr>
              <a:t> offert à 50% de rabais: </a:t>
            </a:r>
            <a:r>
              <a:rPr lang="fr-CA" sz="1200" dirty="0">
                <a:latin typeface="Nunito" pitchFamily="2" charset="0"/>
              </a:rPr>
              <a:t>Comprend le combo Thermopompe Solstice 50k BTU et le </a:t>
            </a:r>
            <a:r>
              <a:rPr lang="fr-CA" sz="1200" dirty="0" err="1">
                <a:latin typeface="Nunito" pitchFamily="2" charset="0"/>
              </a:rPr>
              <a:t>chlorinateur</a:t>
            </a:r>
            <a:r>
              <a:rPr lang="fr-CA" sz="1200" dirty="0">
                <a:latin typeface="Nunito" pitchFamily="2" charset="0"/>
              </a:rPr>
              <a:t> au sel MOOV </a:t>
            </a:r>
            <a:r>
              <a:rPr lang="fr-CA" sz="1200" dirty="0" err="1">
                <a:latin typeface="Nunito" pitchFamily="2" charset="0"/>
              </a:rPr>
              <a:t>minisalt</a:t>
            </a:r>
            <a:r>
              <a:rPr lang="fr-CA" sz="1200" dirty="0">
                <a:latin typeface="Nunito" pitchFamily="2" charset="0"/>
              </a:rPr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200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</a:p>
        </p:txBody>
      </p:sp>
      <p:pic>
        <p:nvPicPr>
          <p:cNvPr id="5" name="Image 4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F9DE325-0305-1050-A35E-EDF95C503DD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9F8DB24-94C9-3783-C097-D47CC67D9AB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PISCINE CREUSÉE</a:t>
            </a:r>
          </a:p>
        </p:txBody>
      </p:sp>
      <p:sp>
        <p:nvSpPr>
          <p:cNvPr id="13" name="Zone de texte 28">
            <a:extLst>
              <a:ext uri="{FF2B5EF4-FFF2-40B4-BE49-F238E27FC236}">
                <a16:creationId xmlns:a16="http://schemas.microsoft.com/office/drawing/2014/main" id="{207F974E-CDE1-B3D2-4AF4-D970DF8EF676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9B8EF34-1CF2-9BEE-3BB0-D103FE85E517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289DE9-E0BA-D962-9F41-6A66F25ACEC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427984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FIBRE</a:t>
            </a:r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6" y="2233479"/>
            <a:ext cx="6408713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>
                <a:latin typeface="Nunito" pitchFamily="2" charset="0"/>
                <a:sym typeface="Wingdings" panose="05000000000000000000" pitchFamily="2" charset="2"/>
              </a:rPr>
              <a:t>CARVIN  &amp; TRENDIUM (VOGUE) </a:t>
            </a:r>
            <a:endParaRPr lang="fr-CA" sz="16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1200$ </a:t>
            </a:r>
            <a:r>
              <a:rPr lang="fr-CA" sz="1200" dirty="0">
                <a:latin typeface="Nunito" pitchFamily="2" charset="0"/>
              </a:rPr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Robot </a:t>
            </a:r>
            <a:r>
              <a:rPr lang="fr-CA" sz="1200" b="1" dirty="0" err="1">
                <a:latin typeface="Nunito" pitchFamily="2" charset="0"/>
              </a:rPr>
              <a:t>AquaSol</a:t>
            </a:r>
            <a:r>
              <a:rPr lang="fr-CA" sz="1200" b="1" dirty="0">
                <a:latin typeface="Nunito" pitchFamily="2" charset="0"/>
              </a:rPr>
              <a:t> GRATUIT </a:t>
            </a:r>
            <a:r>
              <a:rPr lang="fr-CA" sz="1200" dirty="0">
                <a:latin typeface="Nunito" pitchFamily="2" charset="0"/>
              </a:rPr>
              <a:t>(179035) à l’achat d’une piscine équipée et installée (valeur de 559.99$)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200" dirty="0">
                <a:latin typeface="Nunito" pitchFamily="2" charset="0"/>
              </a:rPr>
              <a:t>Si le client ne prend pas le robot, on offre 300$ de rabais.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SOLSTICE, TTI ou Nirvana. 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200" b="1" dirty="0">
                <a:latin typeface="Nunito" pitchFamily="2" charset="0"/>
              </a:rPr>
              <a:t>Financement (suggestion): </a:t>
            </a:r>
            <a:r>
              <a:rPr lang="fr-FR" sz="1200" dirty="0">
                <a:latin typeface="Nunito" pitchFamily="2" charset="0"/>
              </a:rPr>
              <a:t>24 mois sans intérêt (code 13240).</a:t>
            </a:r>
          </a:p>
          <a:p>
            <a:pPr lvl="1"/>
            <a:endParaRPr lang="fr-CA" sz="1200" b="1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Bracelet SURVEILLANT DÉSIGNÉ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>
                <a:latin typeface="Nunito" pitchFamily="2" charset="0"/>
              </a:rPr>
              <a:t>2 serviettes Club Piscine</a:t>
            </a:r>
            <a:endParaRPr lang="fr-CA" sz="1600" dirty="0">
              <a:latin typeface="Nunito" pitchFamily="2" charset="0"/>
            </a:endParaRPr>
          </a:p>
        </p:txBody>
      </p:sp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1BC1BC2A-9BCB-D60B-BEF6-5F447431DE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8" name="Zone de texte 28">
            <a:extLst>
              <a:ext uri="{FF2B5EF4-FFF2-40B4-BE49-F238E27FC236}">
                <a16:creationId xmlns:a16="http://schemas.microsoft.com/office/drawing/2014/main" id="{A18FB2CC-34EB-41CF-B693-31551C652A8D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E8781-0BEE-9A81-2F83-51A7DA7432A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HORS TERRE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71AE4CF-D514-F8DF-1114-475CE61A90C3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DB68E0-6050-2D62-4CF0-827C096C22F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8" y="6603901"/>
            <a:ext cx="6408713" cy="1785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  <a:sym typeface="Wingdings" panose="05000000000000000000" pitchFamily="2" charset="2"/>
              </a:rPr>
              <a:t>AQUABOIS </a:t>
            </a:r>
            <a:endParaRPr lang="fr-CA" sz="1400" dirty="0">
              <a:latin typeface="Nunito" pitchFamily="2" charset="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750$ </a:t>
            </a:r>
            <a:r>
              <a:rPr lang="fr-CA" sz="1200" dirty="0">
                <a:latin typeface="Nunito" pitchFamily="2" charset="0"/>
              </a:rPr>
              <a:t>sur le prix régulier de toutes les piscines de bois hors sol ou semi-creusées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Exception: La </a:t>
            </a:r>
            <a:r>
              <a:rPr lang="fr-CA" sz="1200" dirty="0" err="1">
                <a:latin typeface="Nunito" pitchFamily="2" charset="0"/>
              </a:rPr>
              <a:t>Tundra</a:t>
            </a:r>
            <a:r>
              <a:rPr lang="fr-CA" sz="1200" dirty="0">
                <a:latin typeface="Nunito" pitchFamily="2" charset="0"/>
              </a:rPr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Rabais de 300$</a:t>
            </a:r>
            <a:r>
              <a:rPr lang="fr-CA" sz="1200" dirty="0">
                <a:latin typeface="Nunito" pitchFamily="2" charset="0"/>
              </a:rPr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L’installation de la Thermopompe et le By-pass ne </a:t>
            </a:r>
            <a:r>
              <a:rPr lang="fr-CA" sz="1200" b="1" dirty="0">
                <a:latin typeface="Nunito" pitchFamily="2" charset="0"/>
              </a:rPr>
              <a:t>sont pas inclus.</a:t>
            </a:r>
            <a:endParaRPr lang="fr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Aucune promotion de financement. Vous référez aux plans de financement réguliers.</a:t>
            </a:r>
            <a:endParaRPr lang="fr-CA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2EE72-7192-6E45-BD4C-7FDB69B43BF4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8" y="6084168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BOIS</a:t>
            </a: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33479"/>
            <a:ext cx="640871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SOLSTICE: </a:t>
            </a:r>
            <a:r>
              <a:rPr lang="fr-CA" sz="1200" dirty="0">
                <a:latin typeface="Nunito" pitchFamily="2" charset="0"/>
              </a:rPr>
              <a:t>Rabais de 200$ sur le prix RÉGULIER de toutes les Thermopompes SOLSTICE.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TTI : </a:t>
            </a:r>
            <a:r>
              <a:rPr lang="fr-CA" sz="1200" dirty="0">
                <a:latin typeface="Nunito" pitchFamily="2" charset="0"/>
              </a:rPr>
              <a:t>Rabais de 200$ sur tous les modèles TTI ECOLO.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NIRVANA: </a:t>
            </a:r>
            <a:r>
              <a:rPr lang="fr-FR" sz="1200" dirty="0">
                <a:latin typeface="Nunito" pitchFamily="2" charset="0"/>
              </a:rPr>
              <a:t>Du 15 mai au 15 juin, obtenez une housse </a:t>
            </a:r>
            <a:r>
              <a:rPr lang="fr-FR" sz="1200" dirty="0" err="1">
                <a:latin typeface="Nunito" pitchFamily="2" charset="0"/>
              </a:rPr>
              <a:t>deluxe</a:t>
            </a:r>
            <a:r>
              <a:rPr lang="fr-FR" sz="1200" dirty="0">
                <a:latin typeface="Nunito" pitchFamily="2" charset="0"/>
              </a:rPr>
              <a:t> et WIFI gratuitement à l'achat d'une thermopompe des séries FC ou PV</a:t>
            </a:r>
            <a:endParaRPr lang="fr-CA" sz="12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5719" y="3880371"/>
            <a:ext cx="6408713" cy="37548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POLARIS et SPLASH</a:t>
            </a:r>
            <a:r>
              <a:rPr lang="fr-CA" sz="1200" dirty="0">
                <a:latin typeface="Nunito" pitchFamily="2" charset="0"/>
              </a:rPr>
              <a:t>: Rabais se poursuit sur la pompe et filtreur.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SALUSPA: </a:t>
            </a:r>
            <a:r>
              <a:rPr lang="fr-CA" sz="1200" dirty="0">
                <a:latin typeface="Nunito" pitchFamily="2" charset="0"/>
              </a:rPr>
              <a:t>10% de rabais sur le spa gonflable Miami (179088 )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1</a:t>
            </a:r>
            <a:r>
              <a:rPr lang="fr-FR" sz="1200" b="1" dirty="0">
                <a:latin typeface="Nunito" pitchFamily="2" charset="0"/>
              </a:rPr>
              <a:t>5% de rabais sur les jeux et gonflables (exclut aide à la nage et sport) - </a:t>
            </a:r>
            <a:r>
              <a:rPr lang="fr-FR" sz="1200" dirty="0">
                <a:latin typeface="Nunito" pitchFamily="2" charset="0"/>
              </a:rPr>
              <a:t>18 juin au 7 juillet</a:t>
            </a:r>
            <a:endParaRPr lang="en-CA" sz="12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2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200" b="1" dirty="0">
                <a:latin typeface="Nunito" pitchFamily="2" charset="0"/>
              </a:rPr>
              <a:t>MAYTRONICS: </a:t>
            </a:r>
            <a:r>
              <a:rPr lang="en-CA" sz="1200" dirty="0" err="1">
                <a:latin typeface="Nunito" pitchFamily="2" charset="0"/>
              </a:rPr>
              <a:t>Rabais</a:t>
            </a:r>
            <a:r>
              <a:rPr lang="en-CA" sz="1200" dirty="0">
                <a:latin typeface="Nunito" pitchFamily="2" charset="0"/>
              </a:rPr>
              <a:t> postal pour le client (</a:t>
            </a:r>
            <a:r>
              <a:rPr lang="en-CA" sz="1200" dirty="0" err="1">
                <a:latin typeface="Nunito" pitchFamily="2" charset="0"/>
              </a:rPr>
              <a:t>voir</a:t>
            </a:r>
            <a:r>
              <a:rPr lang="en-CA" sz="1200" dirty="0">
                <a:latin typeface="Nunito" pitchFamily="2" charset="0"/>
              </a:rPr>
              <a:t> affiche </a:t>
            </a:r>
            <a:r>
              <a:rPr lang="en-CA" sz="1200" b="1" dirty="0">
                <a:latin typeface="Nunito" pitchFamily="2" charset="0"/>
              </a:rPr>
              <a:t>à </a:t>
            </a:r>
            <a:r>
              <a:rPr lang="en-CA" sz="1200" b="1" dirty="0" err="1">
                <a:latin typeface="Nunito" pitchFamily="2" charset="0"/>
              </a:rPr>
              <a:t>imprimer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dirty="0">
                <a:latin typeface="Nunito" pitchFamily="2" charset="0"/>
              </a:rPr>
              <a:t>sur le </a:t>
            </a:r>
            <a:r>
              <a:rPr lang="en-CA" sz="1200" dirty="0" err="1">
                <a:latin typeface="Nunito" pitchFamily="2" charset="0"/>
              </a:rPr>
              <a:t>Sharepoint</a:t>
            </a:r>
            <a:r>
              <a:rPr lang="en-CA" sz="1200" dirty="0">
                <a:latin typeface="Nunito" pitchFamily="2" charset="0"/>
              </a:rPr>
              <a:t>). Les </a:t>
            </a:r>
            <a:r>
              <a:rPr lang="en-CA" sz="1200" dirty="0" err="1">
                <a:latin typeface="Nunito" pitchFamily="2" charset="0"/>
              </a:rPr>
              <a:t>rabais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demeurent</a:t>
            </a:r>
            <a:r>
              <a:rPr lang="en-CA" sz="1200" dirty="0">
                <a:latin typeface="Nunito" pitchFamily="2" charset="0"/>
              </a:rPr>
              <a:t> les </a:t>
            </a:r>
            <a:r>
              <a:rPr lang="en-CA" sz="1200" dirty="0" err="1">
                <a:latin typeface="Nunito" pitchFamily="2" charset="0"/>
              </a:rPr>
              <a:t>mêmes</a:t>
            </a:r>
            <a:r>
              <a:rPr lang="en-CA" sz="1200" dirty="0">
                <a:latin typeface="Nunito" pitchFamily="2" charset="0"/>
              </a:rPr>
              <a:t> toute </a:t>
            </a:r>
            <a:r>
              <a:rPr lang="en-CA" sz="1200" dirty="0" err="1">
                <a:latin typeface="Nunito" pitchFamily="2" charset="0"/>
              </a:rPr>
              <a:t>l’année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mais</a:t>
            </a:r>
            <a:r>
              <a:rPr lang="en-CA" sz="1200" dirty="0">
                <a:latin typeface="Nunito" pitchFamily="2" charset="0"/>
              </a:rPr>
              <a:t> le code promo change pour le client. Une nouvelle affiche sera </a:t>
            </a:r>
            <a:r>
              <a:rPr lang="en-CA" sz="1200" dirty="0" err="1">
                <a:latin typeface="Nunito" pitchFamily="2" charset="0"/>
              </a:rPr>
              <a:t>deposée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chaque</a:t>
            </a:r>
            <a:r>
              <a:rPr lang="en-CA" sz="1200" dirty="0">
                <a:latin typeface="Nunito" pitchFamily="2" charset="0"/>
              </a:rPr>
              <a:t> </a:t>
            </a:r>
            <a:r>
              <a:rPr lang="en-CA" sz="1200" dirty="0" err="1">
                <a:latin typeface="Nunito" pitchFamily="2" charset="0"/>
              </a:rPr>
              <a:t>mois</a:t>
            </a:r>
            <a:r>
              <a:rPr lang="en-CA" sz="1200" dirty="0">
                <a:latin typeface="Nunito" pitchFamily="2" charset="0"/>
              </a:rPr>
              <a:t>. </a:t>
            </a:r>
            <a:r>
              <a:rPr lang="en-CA" sz="1200" b="1" dirty="0">
                <a:latin typeface="Nunito" pitchFamily="2" charset="0"/>
              </a:rPr>
              <a:t>Promotion </a:t>
            </a:r>
            <a:r>
              <a:rPr lang="en-CA" sz="1200" b="1" dirty="0" err="1">
                <a:latin typeface="Nunito" pitchFamily="2" charset="0"/>
              </a:rPr>
              <a:t>en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b="1" dirty="0" err="1">
                <a:latin typeface="Nunito" pitchFamily="2" charset="0"/>
              </a:rPr>
              <a:t>magasin</a:t>
            </a:r>
            <a:r>
              <a:rPr lang="en-CA" sz="1200" b="1" dirty="0">
                <a:latin typeface="Nunito" pitchFamily="2" charset="0"/>
              </a:rPr>
              <a:t> </a:t>
            </a:r>
            <a:r>
              <a:rPr lang="en-CA" sz="1200" b="1" dirty="0" err="1">
                <a:latin typeface="Nunito" pitchFamily="2" charset="0"/>
              </a:rPr>
              <a:t>seulement</a:t>
            </a:r>
            <a:r>
              <a:rPr lang="en-CA" sz="1200" dirty="0">
                <a:latin typeface="Nunito" pitchFamily="2" charset="0"/>
              </a:rPr>
              <a:t>. </a:t>
            </a:r>
            <a:r>
              <a:rPr lang="en-CA" sz="1200" dirty="0" err="1">
                <a:latin typeface="Nunito" pitchFamily="2" charset="0"/>
              </a:rPr>
              <a:t>Voici</a:t>
            </a:r>
            <a:r>
              <a:rPr lang="en-CA" sz="1200" dirty="0">
                <a:latin typeface="Nunito" pitchFamily="2" charset="0"/>
              </a:rPr>
              <a:t> les </a:t>
            </a:r>
            <a:r>
              <a:rPr lang="en-CA" sz="1200" dirty="0" err="1">
                <a:latin typeface="Nunito" pitchFamily="2" charset="0"/>
              </a:rPr>
              <a:t>modèles</a:t>
            </a:r>
            <a:r>
              <a:rPr lang="en-CA" sz="1200" dirty="0">
                <a:latin typeface="Nunito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Nunito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7807" y="8097451"/>
            <a:ext cx="6408713" cy="579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Nunito" pitchFamily="2" charset="0"/>
              </a:rPr>
              <a:t>CHLORE CP:  </a:t>
            </a:r>
            <a:r>
              <a:rPr lang="fr-CA" sz="1100" dirty="0">
                <a:latin typeface="Nunito" pitchFamily="2" charset="0"/>
              </a:rPr>
              <a:t>Fin de la promo de la serviette gratuite mais le chlore reste en promotion au même prix..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B4B115-CDE3-3FA8-DFF6-9AEC5F50A0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THERMOPOMPES</a:t>
            </a:r>
          </a:p>
        </p:txBody>
      </p:sp>
      <p:sp>
        <p:nvSpPr>
          <p:cNvPr id="16" name="Zone de texte 28">
            <a:extLst>
              <a:ext uri="{FF2B5EF4-FFF2-40B4-BE49-F238E27FC236}">
                <a16:creationId xmlns:a16="http://schemas.microsoft.com/office/drawing/2014/main" id="{B5902CBF-27FA-CBD1-D98B-09085064DC0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E13C3C7-498F-2868-F3E7-23E8CD387CD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37B070-540C-54E1-A4A0-1A8D25F2F9C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8" y="3348705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ACCESSOIRES PISCINES ET SPAS 2025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44A4F1-67C6-4528-BA78-0C668B1C8B8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86575" y="7597177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CHIMIQUE et AUTRES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880EE53-481B-1866-46DA-9AA950A25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977302"/>
              </p:ext>
            </p:extLst>
          </p:nvPr>
        </p:nvGraphicFramePr>
        <p:xfrm>
          <a:off x="427441" y="5800019"/>
          <a:ext cx="6172200" cy="1603044"/>
        </p:xfrm>
        <a:graphic>
          <a:graphicData uri="http://schemas.openxmlformats.org/drawingml/2006/table">
            <a:tbl>
              <a:tblPr/>
              <a:tblGrid>
                <a:gridCol w="705041">
                  <a:extLst>
                    <a:ext uri="{9D8B030D-6E8A-4147-A177-3AD203B41FA5}">
                      <a16:colId xmlns:a16="http://schemas.microsoft.com/office/drawing/2014/main" val="3816012488"/>
                    </a:ext>
                  </a:extLst>
                </a:gridCol>
                <a:gridCol w="1051377">
                  <a:extLst>
                    <a:ext uri="{9D8B030D-6E8A-4147-A177-3AD203B41FA5}">
                      <a16:colId xmlns:a16="http://schemas.microsoft.com/office/drawing/2014/main" val="248184699"/>
                    </a:ext>
                  </a:extLst>
                </a:gridCol>
                <a:gridCol w="581349">
                  <a:extLst>
                    <a:ext uri="{9D8B030D-6E8A-4147-A177-3AD203B41FA5}">
                      <a16:colId xmlns:a16="http://schemas.microsoft.com/office/drawing/2014/main" val="1751352317"/>
                    </a:ext>
                  </a:extLst>
                </a:gridCol>
                <a:gridCol w="2350136">
                  <a:extLst>
                    <a:ext uri="{9D8B030D-6E8A-4147-A177-3AD203B41FA5}">
                      <a16:colId xmlns:a16="http://schemas.microsoft.com/office/drawing/2014/main" val="143401683"/>
                    </a:ext>
                  </a:extLst>
                </a:gridCol>
                <a:gridCol w="717410">
                  <a:extLst>
                    <a:ext uri="{9D8B030D-6E8A-4147-A177-3AD203B41FA5}">
                      <a16:colId xmlns:a16="http://schemas.microsoft.com/office/drawing/2014/main" val="170166655"/>
                    </a:ext>
                  </a:extLst>
                </a:gridCol>
                <a:gridCol w="766887">
                  <a:extLst>
                    <a:ext uri="{9D8B030D-6E8A-4147-A177-3AD203B41FA5}">
                      <a16:colId xmlns:a16="http://schemas.microsoft.com/office/drawing/2014/main" val="4133413113"/>
                    </a:ext>
                  </a:extLst>
                </a:gridCol>
              </a:tblGrid>
              <a:tr h="178116"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Fournisseur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Numéro d'article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Prix détail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RABAIS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C7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95735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99996134-PR1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176164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10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779.99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41221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99996137-PR2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176165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20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999.99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60.00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394490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99996240-PR3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181920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30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1,449.99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554571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99996241-PR4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40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1,799.99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90.00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01573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99996612-PR6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176167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Premium 60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2,599.99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435446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99998100-US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176407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200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1,299.99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250.00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18328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99998150-US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181656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300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1,599.99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188563"/>
                  </a:ext>
                </a:extLst>
              </a:tr>
              <a:tr h="178116"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MAYTR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99998140-US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181658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Robot nettoyeur sans fil Liberty 400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fr-CA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1,849.99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125.00  $ </a:t>
                      </a:r>
                    </a:p>
                  </a:txBody>
                  <a:tcPr marL="7421" marR="7421" marT="7421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7809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23026"/>
            <a:ext cx="6408713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MEUBLES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RABAIS TAXES: </a:t>
            </a:r>
            <a:r>
              <a:rPr lang="fr-CA" sz="1400" dirty="0">
                <a:latin typeface="Nunito" pitchFamily="2" charset="0"/>
              </a:rPr>
              <a:t>Nous payons l’équivalent des 2 taxes </a:t>
            </a:r>
            <a:r>
              <a:rPr lang="fr-FR" sz="1400" dirty="0">
                <a:latin typeface="Nunito" pitchFamily="2" charset="0"/>
              </a:rPr>
              <a:t>sur les meubles, parasols, table-foyer et accessoires sélectionnés à prix réguliers. Voir annexes pour produits éligibles.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b="1" dirty="0">
                <a:latin typeface="Nunito" pitchFamily="2" charset="0"/>
              </a:rPr>
              <a:t>Rabais additionnel jusqu’à 20% </a:t>
            </a:r>
            <a:r>
              <a:rPr lang="fr-FR" sz="1400" dirty="0">
                <a:latin typeface="Nunito" pitchFamily="2" charset="0"/>
              </a:rPr>
              <a:t>sur certains PTR, voir Annexes MEUBLES.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>
                <a:latin typeface="Nunito" pitchFamily="2" charset="0"/>
              </a:rPr>
              <a:t>Financement (suggestion): </a:t>
            </a:r>
            <a:r>
              <a:rPr lang="fr-FR" sz="1400" dirty="0">
                <a:latin typeface="Nunito" pitchFamily="2" charset="0"/>
              </a:rPr>
              <a:t>24 mois sans intérêt (code 13240).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EXCLUSION: Les imbattables (EDLP), CR plastic et </a:t>
            </a:r>
            <a:r>
              <a:rPr lang="fr-CA" sz="1400" b="1" dirty="0" err="1">
                <a:latin typeface="Nunito" pitchFamily="2" charset="0"/>
              </a:rPr>
              <a:t>Treasure</a:t>
            </a:r>
            <a:r>
              <a:rPr lang="fr-CA" sz="1400" b="1" dirty="0">
                <a:latin typeface="Nunito" pitchFamily="2" charset="0"/>
              </a:rPr>
              <a:t> Garden </a:t>
            </a:r>
            <a:r>
              <a:rPr lang="fr-CA" sz="1400" dirty="0">
                <a:latin typeface="Nunito" pitchFamily="2" charset="0"/>
              </a:rPr>
              <a:t>sont</a:t>
            </a:r>
            <a:r>
              <a:rPr lang="fr-CA" sz="1400" b="1" dirty="0">
                <a:latin typeface="Nunito" pitchFamily="2" charset="0"/>
              </a:rPr>
              <a:t> </a:t>
            </a:r>
            <a:r>
              <a:rPr lang="fr-CA" sz="1400" dirty="0">
                <a:latin typeface="Nunito" pitchFamily="2" charset="0"/>
              </a:rPr>
              <a:t>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Meubles LIQUIDATION 2024: </a:t>
            </a:r>
            <a:r>
              <a:rPr lang="fr-CA" altLang="fr-FR" sz="1400" dirty="0">
                <a:latin typeface="Nunito" pitchFamily="2" charset="0"/>
              </a:rPr>
              <a:t>même prix que février pour le reste de la saison</a:t>
            </a:r>
            <a:r>
              <a:rPr lang="fr-CA" sz="1400" dirty="0">
                <a:latin typeface="Nunito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highlight>
                <a:srgbClr val="FFFF00"/>
              </a:highlight>
              <a:latin typeface="Nunito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AUTRE: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10% sur les chaises de camping CGI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15% de rabais sur les produits nettoyants Club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6187822"/>
            <a:ext cx="6372710" cy="13388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Jusqu’à 1000$ de rabais. Voir rabais en cours dans l’Annexe.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400" b="1" dirty="0">
                <a:latin typeface="Nunito" pitchFamily="2" charset="0"/>
              </a:rPr>
              <a:t>VISSCHER: Carte promo de…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750$ à l’achat d’un SOFIA ou OSLO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CA" sz="1400" dirty="0">
                <a:latin typeface="Nunito" pitchFamily="2" charset="0"/>
              </a:rPr>
              <a:t>500$ à l’achat du ADELA</a:t>
            </a:r>
          </a:p>
          <a:p>
            <a:pPr lvl="1"/>
            <a:endParaRPr lang="fr-CA" sz="1400" dirty="0">
              <a:latin typeface="Nunito" pitchFamily="2" charset="0"/>
            </a:endParaRPr>
          </a:p>
          <a:p>
            <a:pPr lvl="1"/>
            <a:endParaRPr lang="fr-CA" sz="1100" b="1" dirty="0">
              <a:latin typeface="Nunito" pitchFamily="2" charset="0"/>
            </a:endParaRPr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20E8829-9DC2-D3D4-EA48-AB5FDCED929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3" name="Zone de texte 28">
            <a:extLst>
              <a:ext uri="{FF2B5EF4-FFF2-40B4-BE49-F238E27FC236}">
                <a16:creationId xmlns:a16="http://schemas.microsoft.com/office/drawing/2014/main" id="{07EEBC24-3491-8F2D-25BF-360F93269222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234DBF-13A6-9C41-C200-4478E6C117B0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MEUBLES ET PARASOLS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BDFD338-3E98-30C2-7ED8-786F487F1F66}"/>
              </a:ext>
            </a:extLst>
          </p:cNvPr>
          <p:cNvSpPr txBox="1"/>
          <p:nvPr/>
        </p:nvSpPr>
        <p:spPr>
          <a:xfrm>
            <a:off x="1232754" y="1139855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1209DE-3E0C-E8D3-0FED-7F3EDBC87A2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6" y="5650266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GAZEBOS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195736"/>
            <a:ext cx="6408713" cy="3354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BROIL KING valide du 27 mai au 25 juin: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Rabais jusqu’à 200$ sur certains modèles. Voir Annexes.</a:t>
            </a: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b="1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PROMO NAPOLEON valide du 14 mai au 9 juillet. </a:t>
            </a:r>
            <a:r>
              <a:rPr lang="fr-CA" sz="1600" dirty="0">
                <a:latin typeface="Nunito" pitchFamily="2" charset="0"/>
              </a:rPr>
              <a:t>Affiche à venir.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100$ de rabais dur le Freestyle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600" dirty="0">
                <a:latin typeface="Nunito" pitchFamily="2" charset="0"/>
              </a:rPr>
              <a:t>Accessoire gratuit à l’achat d’un BBQ sélectionné.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fr-CA" sz="1600" dirty="0">
              <a:latin typeface="Nunito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KAMADO LG: </a:t>
            </a:r>
            <a:r>
              <a:rPr lang="fr-FR" sz="1600" dirty="0">
                <a:latin typeface="Nunito" pitchFamily="2" charset="0"/>
              </a:rPr>
              <a:t>En promo à 1399.99$ + m</a:t>
            </a:r>
            <a:r>
              <a:rPr lang="fr-FR" dirty="0"/>
              <a:t>orceaux de bois à fumer Domaine </a:t>
            </a:r>
            <a:r>
              <a:rPr lang="fr-FR" dirty="0" err="1"/>
              <a:t>Hatley</a:t>
            </a:r>
            <a:r>
              <a:rPr lang="fr-FR" dirty="0"/>
              <a:t> (</a:t>
            </a:r>
            <a:r>
              <a:rPr lang="fr-CA" dirty="0"/>
              <a:t>178725) </a:t>
            </a:r>
            <a:r>
              <a:rPr lang="fr-FR" dirty="0"/>
              <a:t>GRATUIT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MEATERS</a:t>
            </a:r>
            <a:r>
              <a:rPr lang="fr-CA" sz="1600" dirty="0">
                <a:latin typeface="Nunito" pitchFamily="2" charset="0"/>
              </a:rPr>
              <a:t>: Rabais sur les thermomètres de cuisson MEATERS. Voir Annexes BBQ pour les rabais. Du 29 mai au 18 juin.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FOYER: </a:t>
            </a:r>
            <a:r>
              <a:rPr lang="fr-CA" sz="1600" dirty="0">
                <a:latin typeface="Nunito" pitchFamily="2" charset="0"/>
              </a:rPr>
              <a:t>Rabais en cours. Voir Annexes.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4" name="Image 3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6A14F4BD-2395-E12B-B62F-0DB73684AD0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8C4CC44E-B3E2-FBE5-ECEC-76835D374A1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6C8E2-CB0B-54B5-EC51-C98B5E5D383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1691680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BBQ et FOYER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5DB1DE-87AD-3650-0C01-6A8DB30EC7DE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2E98BB-9009-DF24-A94E-E723BDD87E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4486" y="7443609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>
                <a:latin typeface="Nunito" pitchFamily="2" charset="0"/>
              </a:rPr>
              <a:t>Aucun changement. Voir annexes pour les nouveaux rabais en cours. 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135805-4BAC-ECDD-5998-3EF13EB4E48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4486" y="6880005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FITNESS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D1C5A-2F6E-7925-ADF0-941F37012D3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54183" y="6219473"/>
            <a:ext cx="6408713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>
                <a:latin typeface="Nunito" pitchFamily="2" charset="0"/>
              </a:rPr>
              <a:t>Cabanon</a:t>
            </a:r>
            <a:r>
              <a:rPr lang="fr-CA" sz="1600" dirty="0">
                <a:latin typeface="Nunito" pitchFamily="2" charset="0"/>
              </a:rPr>
              <a:t>: Jusqu’à 1500$ de rabais sur les cabanons Fiberwood. Du 20 mai au 22 juin 2025.</a:t>
            </a: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45505-249B-76D9-F452-1D907D961CB8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54183" y="5655869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AMÉNAGEMENT</a:t>
            </a: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51090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>
                <a:latin typeface="Nunito" pitchFamily="2" charset="0"/>
              </a:rPr>
              <a:t>FAIRSTONE </a:t>
            </a:r>
          </a:p>
          <a:p>
            <a:endParaRPr lang="fr-CA" sz="1200" b="1" dirty="0">
              <a:latin typeface="Nunito" pitchFamily="2" charset="0"/>
            </a:endParaRPr>
          </a:p>
          <a:p>
            <a:r>
              <a:rPr lang="fr-CA" sz="1200" b="1" dirty="0">
                <a:latin typeface="Nunito" pitchFamily="2" charset="0"/>
              </a:rPr>
              <a:t>Plans de financement réguliers</a:t>
            </a:r>
          </a:p>
          <a:p>
            <a:r>
              <a:rPr lang="fr-CA" sz="1200" dirty="0">
                <a:latin typeface="Nunito" pitchFamily="2" charset="0"/>
              </a:rPr>
              <a:t>Il est possible d’offrir l’un de ces plans </a:t>
            </a:r>
            <a:r>
              <a:rPr lang="fr-CA" sz="1200" u="sng" dirty="0">
                <a:latin typeface="Nunito" pitchFamily="2" charset="0"/>
              </a:rPr>
              <a:t>en tout temps et sur toutes les catégories* </a:t>
            </a:r>
            <a:r>
              <a:rPr lang="fr-CA" sz="1200" dirty="0">
                <a:latin typeface="Nunito" pitchFamily="2" charset="0"/>
              </a:rPr>
              <a:t>à l’achat de 500$ et+ . Voir votre gestionnaire pour plus de détail.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>
              <a:latin typeface="Nunito" pitchFamily="2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*Maximum de 30 000$ selon l’approbation du crédit du client. Voir </a:t>
            </a:r>
            <a:r>
              <a:rPr lang="fr-CA" sz="1200" dirty="0">
                <a:latin typeface="Nunito" pitchFamily="2" charset="0"/>
                <a:ea typeface="Calibri" panose="020F0502020204030204" pitchFamily="34" charset="0"/>
              </a:rPr>
              <a:t>conditions et p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</a:rPr>
              <a:t>lans aussi offerts en ligne: </a:t>
            </a:r>
            <a:r>
              <a:rPr lang="fr-CA" sz="1200" dirty="0">
                <a:effectLst/>
                <a:latin typeface="Nunito" pitchFamily="2" charset="0"/>
                <a:ea typeface="Calibri" panose="020F0502020204030204" pitchFamily="34" charset="0"/>
                <a:hlinkClick r:id="rId6"/>
              </a:rPr>
              <a:t>https://www.clubpiscine.ca/fr/financement</a:t>
            </a:r>
            <a:endParaRPr lang="fr-CA" sz="12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Nunito" pitchFamily="2" charset="0"/>
              <a:ea typeface="Calibri" panose="020F0502020204030204" pitchFamily="34" charset="0"/>
            </a:endParaRPr>
          </a:p>
          <a:p>
            <a:r>
              <a:rPr lang="fr-CA" sz="1400" b="1" dirty="0">
                <a:latin typeface="Nunito" pitchFamily="2" charset="0"/>
              </a:rPr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Nunito" pitchFamily="2" charset="0"/>
              </a:rPr>
              <a:t>PISCINE CREUSÉE &amp; FIBRE : </a:t>
            </a:r>
            <a:r>
              <a:rPr lang="fr-CA" sz="1200" dirty="0">
                <a:latin typeface="Nunito" pitchFamily="2" charset="0"/>
              </a:rPr>
              <a:t>Aucun financement inclus dans la promotion du mois mais il est suggéré d’utiliser le Financement </a:t>
            </a:r>
            <a:r>
              <a:rPr lang="fr-CA" sz="1200" b="1" dirty="0">
                <a:latin typeface="Nunito" pitchFamily="2" charset="0"/>
              </a:rPr>
              <a:t>FINANCE IT </a:t>
            </a:r>
            <a:r>
              <a:rPr lang="fr-CA" sz="1200" dirty="0">
                <a:latin typeface="Nunito" pitchFamily="2" charset="0"/>
              </a:rPr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Nunito" pitchFamily="2" charset="0"/>
              </a:rPr>
              <a:t>Le 6 mois débute à la livraison/installation.</a:t>
            </a:r>
            <a:endParaRPr lang="fr-CA" sz="1400" b="1" dirty="0">
              <a:latin typeface="Nunito" pitchFamily="2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7240" y="3651380"/>
            <a:ext cx="3115136" cy="1097455"/>
          </a:xfrm>
          <a:prstGeom prst="rect">
            <a:avLst/>
          </a:prstGeom>
        </p:spPr>
      </p:pic>
      <p:pic>
        <p:nvPicPr>
          <p:cNvPr id="3" name="Image 2" descr="Une image contenant Graphique, Police, émoticône, texte&#10;&#10;Le contenu généré par l’IA peut être incorrect.">
            <a:extLst>
              <a:ext uri="{FF2B5EF4-FFF2-40B4-BE49-F238E27FC236}">
                <a16:creationId xmlns:a16="http://schemas.microsoft.com/office/drawing/2014/main" id="{707E4CC5-9C01-2FD9-BE61-0C133BDE5E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94" y="8525688"/>
            <a:ext cx="875098" cy="4375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A65FB58-477F-301C-29F9-9474F7D06CD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FINANCEMENT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07B3D34E-E7F4-CF77-C250-4E92C29B6C3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F3ECDB9-7358-B3D5-33DD-01E04A1910F5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0069E2AA-A66C-9BA6-98B6-6D33AFAC89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1416" y="3419872"/>
            <a:ext cx="3057604" cy="15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365B9-9196-5186-A420-DC7240363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1CB1EC5-A2FD-003E-2477-631220A235C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2261929"/>
            <a:ext cx="6408713" cy="65248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100" b="1" dirty="0">
                <a:highlight>
                  <a:srgbClr val="7FCDE9"/>
                </a:highlight>
                <a:latin typeface="Nunito" pitchFamily="2" charset="0"/>
              </a:rPr>
              <a:t>WEEKEND EN FOLIE – Édition SPA les 7-8 juin</a:t>
            </a:r>
          </a:p>
          <a:p>
            <a:r>
              <a:rPr lang="fr-CA" sz="1100" dirty="0">
                <a:latin typeface="Nunito" pitchFamily="2" charset="0"/>
              </a:rPr>
              <a:t>La prochaine édition aura lieu les 7-8 juin. Veuillez vous référer à l’instruction de vente spéciale déposées sur le </a:t>
            </a:r>
            <a:r>
              <a:rPr lang="fr-CA" sz="1100" dirty="0" err="1">
                <a:latin typeface="Nunito" pitchFamily="2" charset="0"/>
              </a:rPr>
              <a:t>Sharepoint</a:t>
            </a:r>
            <a:r>
              <a:rPr lang="fr-CA" sz="1100" dirty="0">
                <a:latin typeface="Nunito" pitchFamily="2" charset="0"/>
              </a:rPr>
              <a:t>.</a:t>
            </a:r>
          </a:p>
          <a:p>
            <a:endParaRPr lang="fr-CA" sz="1100" dirty="0"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7FCDE9"/>
              </a:highlight>
              <a:latin typeface="Nunito" pitchFamily="2" charset="0"/>
            </a:endParaRPr>
          </a:p>
          <a:p>
            <a:r>
              <a:rPr lang="fr-CA" sz="1050" b="1" dirty="0">
                <a:highlight>
                  <a:srgbClr val="7FCDE9"/>
                </a:highlight>
                <a:latin typeface="Nunito" pitchFamily="2" charset="0"/>
              </a:rPr>
              <a:t>CLUB PISCINE X KASEME</a:t>
            </a:r>
          </a:p>
          <a:p>
            <a:pPr>
              <a:buNone/>
            </a:pPr>
            <a:r>
              <a:rPr lang="fr-FR" sz="1200" dirty="0"/>
              <a:t>Découvrez notre collection exclusive de </a:t>
            </a:r>
            <a:r>
              <a:rPr lang="fr-FR" sz="1200" b="1" dirty="0"/>
              <a:t>9 étuis colorés</a:t>
            </a:r>
            <a:r>
              <a:rPr lang="fr-FR" sz="1200" dirty="0"/>
              <a:t> qui célèbrent le meilleur de l’été ! Utilisez le code </a:t>
            </a:r>
            <a:r>
              <a:rPr lang="fr-FR" sz="1200" b="1" dirty="0"/>
              <a:t>CLUB20</a:t>
            </a:r>
            <a:r>
              <a:rPr lang="fr-FR" sz="1200" dirty="0"/>
              <a:t> au panier pour obtenir </a:t>
            </a:r>
            <a:r>
              <a:rPr lang="fr-FR" sz="1200" b="1" dirty="0"/>
              <a:t>20 % de rabais</a:t>
            </a:r>
            <a:r>
              <a:rPr lang="fr-FR" sz="1200" dirty="0"/>
              <a:t> sur toute la boutique KASEME. De plus, </a:t>
            </a:r>
            <a:r>
              <a:rPr lang="fr-FR" sz="1200" b="1" dirty="0"/>
              <a:t>5 $ par étui Club Piscine vendu</a:t>
            </a:r>
            <a:r>
              <a:rPr lang="fr-FR" sz="1200" dirty="0"/>
              <a:t> seront remis à </a:t>
            </a:r>
            <a:r>
              <a:rPr lang="fr-FR" sz="1200" b="1" dirty="0"/>
              <a:t>Enfant Soleil</a:t>
            </a:r>
            <a:r>
              <a:rPr lang="fr-FR" sz="1200" dirty="0"/>
              <a:t>. 💛 </a:t>
            </a:r>
          </a:p>
          <a:p>
            <a:pPr>
              <a:buNone/>
            </a:pPr>
            <a:r>
              <a:rPr lang="fr-CA" sz="1050" dirty="0">
                <a:latin typeface="Nunito" pitchFamily="2" charset="0"/>
              </a:rPr>
              <a:t>Lien: </a:t>
            </a:r>
            <a:r>
              <a:rPr lang="fr-CA" sz="1050" dirty="0">
                <a:latin typeface="Nunito" pitchFamily="2" charset="0"/>
                <a:hlinkClick r:id="rId5"/>
              </a:rPr>
              <a:t>https://www.kasemedesign.ca/fr/collections/club-piscine</a:t>
            </a:r>
            <a:endParaRPr lang="fr-CA" sz="1050" dirty="0"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FFFF00"/>
              </a:highlight>
              <a:latin typeface="Nunito" pitchFamily="2" charset="0"/>
            </a:endParaRPr>
          </a:p>
          <a:p>
            <a:endParaRPr lang="fr-CA" sz="1100" b="1" dirty="0">
              <a:highlight>
                <a:srgbClr val="7FCDE9"/>
              </a:highlight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r>
              <a:rPr lang="fr-CA" sz="1100" b="1" dirty="0">
                <a:highlight>
                  <a:srgbClr val="7FCDE9"/>
                </a:highlight>
                <a:latin typeface="Nunito" pitchFamily="2" charset="0"/>
              </a:rPr>
              <a:t>TÉLÉTHON ENFANT SOLEIL</a:t>
            </a:r>
          </a:p>
          <a:p>
            <a:r>
              <a:rPr lang="fr-CA" sz="1100" dirty="0">
                <a:latin typeface="Nunito" pitchFamily="2" charset="0"/>
              </a:rPr>
              <a:t>Ne manquer pas le téléthon le </a:t>
            </a:r>
            <a:r>
              <a:rPr lang="fr-CA" sz="1100" b="1" dirty="0">
                <a:latin typeface="Nunito" pitchFamily="2" charset="0"/>
              </a:rPr>
              <a:t>31 mai </a:t>
            </a:r>
            <a:r>
              <a:rPr lang="fr-CA" sz="1100" dirty="0">
                <a:latin typeface="Nunito" pitchFamily="2" charset="0"/>
              </a:rPr>
              <a:t>prochain! Club Piscine sera présent aux alentours de </a:t>
            </a:r>
            <a:r>
              <a:rPr lang="fr-CA" sz="1100" b="1" dirty="0">
                <a:latin typeface="Nunito" pitchFamily="2" charset="0"/>
              </a:rPr>
              <a:t>18h28 </a:t>
            </a:r>
            <a:r>
              <a:rPr lang="fr-CA" sz="1100" dirty="0">
                <a:latin typeface="Nunito" pitchFamily="2" charset="0"/>
              </a:rPr>
              <a:t>pour le dévoilement du montant 2025!</a:t>
            </a: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200" b="1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dirty="0">
              <a:latin typeface="Nunito" pitchFamily="2" charset="0"/>
            </a:endParaRPr>
          </a:p>
          <a:p>
            <a:endParaRPr lang="fr-CA" sz="1100" b="1" dirty="0">
              <a:latin typeface="Nunito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06594-EEB8-8872-9F65-C5A86603442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1692521"/>
            <a:ext cx="6408713" cy="503215"/>
          </a:xfrm>
          <a:prstGeom prst="rect">
            <a:avLst/>
          </a:prstGeom>
          <a:solidFill>
            <a:srgbClr val="144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b="1" dirty="0">
                <a:solidFill>
                  <a:schemeClr val="bg1"/>
                </a:solidFill>
                <a:latin typeface="Nunito" pitchFamily="2" charset="0"/>
              </a:rPr>
              <a:t>NOUVELLES DU MARKETING!</a:t>
            </a:r>
          </a:p>
        </p:txBody>
      </p:sp>
      <p:sp>
        <p:nvSpPr>
          <p:cNvPr id="18" name="Zone de texte 28">
            <a:extLst>
              <a:ext uri="{FF2B5EF4-FFF2-40B4-BE49-F238E27FC236}">
                <a16:creationId xmlns:a16="http://schemas.microsoft.com/office/drawing/2014/main" id="{AE22E7C4-1F48-2858-8980-37A78E5BDC3A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91150" y="539552"/>
            <a:ext cx="6172200" cy="72008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b="1" dirty="0">
                <a:solidFill>
                  <a:srgbClr val="1447AB"/>
                </a:solidFill>
                <a:latin typeface="Nunito" pitchFamily="2" charset="0"/>
              </a:rPr>
              <a:t>Instructions de vente</a:t>
            </a:r>
            <a:endParaRPr lang="fr-CA" sz="2800" b="1" dirty="0">
              <a:solidFill>
                <a:srgbClr val="1447AB"/>
              </a:solidFill>
              <a:latin typeface="Nunito" pitchFamily="2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2BEFDB0-1EC6-6275-8251-CED65AA7DB61}"/>
              </a:ext>
            </a:extLst>
          </p:cNvPr>
          <p:cNvSpPr txBox="1"/>
          <p:nvPr/>
        </p:nvSpPr>
        <p:spPr>
          <a:xfrm>
            <a:off x="1196752" y="1154752"/>
            <a:ext cx="4392488" cy="434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28 mai au 1</a:t>
            </a:r>
            <a:r>
              <a:rPr lang="fr-CA" sz="2000" b="1" baseline="30000" dirty="0">
                <a:solidFill>
                  <a:srgbClr val="1447AB"/>
                </a:solidFill>
                <a:latin typeface="Nunito" pitchFamily="2" charset="0"/>
              </a:rPr>
              <a:t>er</a:t>
            </a:r>
            <a:r>
              <a:rPr lang="fr-CA" sz="2000" b="1" dirty="0">
                <a:solidFill>
                  <a:srgbClr val="1447AB"/>
                </a:solidFill>
                <a:latin typeface="Nunito" pitchFamily="2" charset="0"/>
              </a:rPr>
              <a:t> juillet 2025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77D555-930D-FCBF-F3A6-EB27E5511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96"/>
          <a:stretch/>
        </p:blipFill>
        <p:spPr bwMode="auto">
          <a:xfrm>
            <a:off x="2060848" y="4427984"/>
            <a:ext cx="2317875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F9CC30-A9CD-0EF4-8C9B-0D60516379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8774" y="7092280"/>
            <a:ext cx="4060451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8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C96C7C1-9402-4B6F-B5BB-47205E1E450A}"/>
</file>

<file path=customXml/itemProps2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documentManagement/types"/>
    <ds:schemaRef ds:uri="8682f7ec-9bef-4d6d-8d5c-0ec39e002ff3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56198</TotalTime>
  <Words>2146</Words>
  <Application>Microsoft Office PowerPoint</Application>
  <PresentationFormat>Affichage à l'écran (4:3)</PresentationFormat>
  <Paragraphs>309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20" baseType="lpstr">
      <vt:lpstr>Aptos Narrow</vt:lpstr>
      <vt:lpstr>Arial</vt:lpstr>
      <vt:lpstr>Calibri</vt:lpstr>
      <vt:lpstr>Calibri Light</vt:lpstr>
      <vt:lpstr>Courier New</vt:lpstr>
      <vt:lpstr>Nunito</vt:lpstr>
      <vt:lpstr>Symbol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1738</cp:revision>
  <cp:lastPrinted>2022-04-27T14:46:34Z</cp:lastPrinted>
  <dcterms:created xsi:type="dcterms:W3CDTF">2017-05-24T18:44:46Z</dcterms:created>
  <dcterms:modified xsi:type="dcterms:W3CDTF">2025-05-26T12:43:24Z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