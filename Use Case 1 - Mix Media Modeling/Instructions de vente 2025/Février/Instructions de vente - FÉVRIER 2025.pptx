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65" r:id="rId5"/>
    <p:sldId id="281" r:id="rId6"/>
    <p:sldId id="276" r:id="rId7"/>
    <p:sldId id="285" r:id="rId8"/>
    <p:sldId id="266" r:id="rId9"/>
    <p:sldId id="273" r:id="rId10"/>
    <p:sldId id="267" r:id="rId11"/>
    <p:sldId id="268" r:id="rId12"/>
    <p:sldId id="275" r:id="rId13"/>
    <p:sldId id="270" r:id="rId14"/>
    <p:sldId id="264" r:id="rId15"/>
    <p:sldId id="272" r:id="rId16"/>
    <p:sldId id="286" r:id="rId17"/>
    <p:sldId id="287" r:id="rId18"/>
  </p:sldIdLst>
  <p:sldSz cx="6858000" cy="9144000" type="screen4x3"/>
  <p:notesSz cx="6950075" cy="92360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CDE9"/>
    <a:srgbClr val="218BCB"/>
    <a:srgbClr val="229FCC"/>
    <a:srgbClr val="48B8E0"/>
    <a:srgbClr val="2FAF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94"/>
  </p:normalViewPr>
  <p:slideViewPr>
    <p:cSldViewPr>
      <p:cViewPr varScale="1">
        <p:scale>
          <a:sx n="59" d="100"/>
          <a:sy n="59" d="100"/>
        </p:scale>
        <p:origin x="2525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74EA55-1F88-4D33-948F-129C030CA228}" type="datetimeFigureOut">
              <a:rPr lang="fr-FR" smtClean="0"/>
              <a:t>14/02/2025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1154113"/>
            <a:ext cx="23399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95325" y="4445000"/>
            <a:ext cx="5559425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8FADA9-DAE0-49B2-8C03-98CBE54838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95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270F1-02CD-4B62-A24E-C50745FFF5F5}" type="datetime1">
              <a:rPr lang="fr-CA" smtClean="0"/>
              <a:t>2025-02-14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4804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3501-DB26-46B1-B49D-78AAEDB8FBB0}" type="datetime1">
              <a:rPr lang="fr-CA" smtClean="0"/>
              <a:t>2025-02-14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56885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D7A85-2AFD-4815-A0A7-D4B79870DF4B}" type="datetime1">
              <a:rPr lang="fr-CA" smtClean="0"/>
              <a:t>2025-02-14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97159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6F20-C377-4AED-9510-F5ADE3870E9C}" type="datetime1">
              <a:rPr lang="fr-CA" smtClean="0"/>
              <a:t>2025-02-14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6223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86B50-1D08-40D3-BECA-FFE7DEF4ECA0}" type="datetime1">
              <a:rPr lang="fr-CA" smtClean="0"/>
              <a:t>2025-02-14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151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DA913-A0AB-4357-9718-F642A4CB965C}" type="datetime1">
              <a:rPr lang="fr-CA" smtClean="0"/>
              <a:t>2025-02-14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12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8FFD-9EF2-4DF5-ADE3-0FA2D06B7D28}" type="datetime1">
              <a:rPr lang="fr-CA" smtClean="0"/>
              <a:t>2025-02-14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98377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A06B-BE77-4E72-9CCA-00E4DEE9532E}" type="datetime1">
              <a:rPr lang="fr-CA" smtClean="0"/>
              <a:t>2025-02-14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4551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BF81-A9BE-418D-9E78-24D0919B7A1C}" type="datetime1">
              <a:rPr lang="fr-CA" smtClean="0"/>
              <a:t>2025-02-14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8857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DEE61-C885-4A50-BEE7-C9DDDBD88187}" type="datetime1">
              <a:rPr lang="fr-CA" smtClean="0"/>
              <a:t>2025-02-14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30042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38EA-1C13-48D8-9A28-13347BB0C9CB}" type="datetime1">
              <a:rPr lang="fr-CA" smtClean="0"/>
              <a:t>2025-02-14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692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A8D5B-1515-4F97-901C-AB1B94820B7C}" type="datetime1">
              <a:rPr lang="fr-CA" smtClean="0"/>
              <a:t>2025-02-14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4C03E-007A-4FDF-9746-0F09F296E587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05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image" Target="../media/image1.png"/><Relationship Id="rId5" Type="http://schemas.openxmlformats.org/officeDocument/2006/relationships/tags" Target="../tags/tag2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7" Type="http://schemas.openxmlformats.org/officeDocument/2006/relationships/image" Target="../media/image1.png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1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9.xml"/><Relationship Id="rId4" Type="http://schemas.openxmlformats.org/officeDocument/2006/relationships/tags" Target="../tags/tag3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1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4.xml"/><Relationship Id="rId4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image" Target="../media/image2.png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image" Target="../media/image1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56.xml"/><Relationship Id="rId10" Type="http://schemas.openxmlformats.org/officeDocument/2006/relationships/tags" Target="../tags/tag61.xml"/><Relationship Id="rId4" Type="http://schemas.openxmlformats.org/officeDocument/2006/relationships/tags" Target="../tags/tag55.xml"/><Relationship Id="rId9" Type="http://schemas.openxmlformats.org/officeDocument/2006/relationships/tags" Target="../tags/tag6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4.xml"/><Relationship Id="rId7" Type="http://schemas.openxmlformats.org/officeDocument/2006/relationships/image" Target="../media/image1.png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69.xml"/><Relationship Id="rId7" Type="http://schemas.openxmlformats.org/officeDocument/2006/relationships/image" Target="../media/image1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74.xml"/><Relationship Id="rId7" Type="http://schemas.openxmlformats.org/officeDocument/2006/relationships/image" Target="../media/image1.png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571706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RÉSUMÉ DES PROMOS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334374"/>
            <a:ext cx="6408713" cy="6455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Voici les principaux changements:</a:t>
            </a:r>
            <a:endParaRPr lang="fr-CA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SOLSTICE : Rabais de 1250$ sur les inventaires 2024 et 750$ sur les mod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è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2025.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JACUZZI : Rabais jusqu’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à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1250$ sur les mod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è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 400 et JLX 2024 et rabais 500$ sur les s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</a:t>
            </a:r>
            <a:r>
              <a:rPr kumimoji="0" lang="fr-CA" altLang="fr-FR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ptos Narrow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ries J200 &amp; J300 2024 &amp; 2025.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solidFill>
                  <a:srgbClr val="000000"/>
                </a:solidFill>
                <a:latin typeface="Aptos Narrow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ICO gratuit à l’achat d’un spa Solstice ou Jacuzzi (176503).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SPA DE NAGE: 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Obtenez une carte promo de 1500$ à l’achat d’un spa de nage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AQUARINO:  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Même rabais en cours + combo </a:t>
            </a:r>
            <a:r>
              <a:rPr lang="fr-CA" sz="11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chlorinateur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Moov et thermopompe Solstice 50k BTU offerts GRATUITEMENT!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CREUSÉE: 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Jusqu’à 4000$ sur  les piscines creusées + thermopompe 50K BTU incluse (AVEC INSTALLATION) + ROBOT POLARIS EPIC 8642IQ GRATUIT!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THERMO</a:t>
            </a:r>
            <a:r>
              <a:rPr lang="fr-CA" sz="11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 300$ de rabais sur les thermopompes Solstice à prix régulier, 200$ de rabais sur les TTI ECOLO et 100$ sur les Nirvana NE.</a:t>
            </a:r>
            <a:endParaRPr lang="fr-CA" sz="1100" dirty="0">
              <a:solidFill>
                <a:schemeClr val="accent6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PISCINES HT :   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Rabais de 1000$ sur toutes les piscines hors terre + 400$ de rabais sur une thermopompe (toute thermopompe confondues).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Rabais additionnel de 200$ sur la NEWTOWN seulement (total 1200$)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Aucun paiement &amp; Intérêt pour 24 mois ou 60 mois @8.99% (non publicisé)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Nouveaux meubles  + ceux qui reviennent en 2025 idem qu’en janvier: Prix régulier + on paye l’équivalent des 2 taxes (promo silencieuse).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altLang="fr-FR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Meubles LIQUIDATION : Rabais additionnel sur certains modèles, voir Annexes.</a:t>
            </a:r>
            <a:endParaRPr lang="fr-CA" sz="1100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BBQ: 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Rabais </a:t>
            </a:r>
            <a:r>
              <a:rPr lang="fr-CA" sz="11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Kamado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1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Louisiana</a:t>
            </a:r>
            <a:r>
              <a:rPr lang="fr-CA" sz="11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Grill à 1399.99$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sz="110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FITNESS</a:t>
            </a:r>
            <a:r>
              <a:rPr lang="fr-CA" sz="1100" dirty="0">
                <a:latin typeface="Calibri Light" panose="020F0302020204030204" pitchFamily="34" charset="0"/>
                <a:cs typeface="Times New Roman" panose="02020603050405020304" pitchFamily="18" charset="0"/>
              </a:rPr>
              <a:t>: idem rabais janvier mais fin du concours.</a:t>
            </a:r>
            <a:endParaRPr lang="fr-CA" sz="10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/>
            <a:endParaRPr lang="fr-CA" sz="1100" dirty="0">
              <a:effectLst/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CA" sz="1050" i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Tous les détails des promotions aux pages suivantes. Les codes des plans de financement se trouvent à la dernière page.</a:t>
            </a:r>
            <a:endParaRPr lang="fr-CA" sz="1100" i="1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</a:t>
            </a:fld>
            <a:endParaRPr lang="fr-CA" dirty="0"/>
          </a:p>
        </p:txBody>
      </p:sp>
      <p:sp>
        <p:nvSpPr>
          <p:cNvPr id="7" name="Zone de texte 28">
            <a:extLst>
              <a:ext uri="{FF2B5EF4-FFF2-40B4-BE49-F238E27FC236}">
                <a16:creationId xmlns:a16="http://schemas.microsoft.com/office/drawing/2014/main" id="{9954BF8A-DD31-9DF8-A9CE-38C033095C3B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557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59862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100" b="1" dirty="0"/>
              <a:t>JACUZZI </a:t>
            </a:r>
            <a:endParaRPr lang="fr-CA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CA" altLang="fr-FR" sz="1100" b="1" dirty="0"/>
              <a:t>Modèles 2024: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altLang="fr-FR" sz="1100" dirty="0"/>
              <a:t>Rabais jusqu’à 1250$ sur les modèles 2024 série 400 et JLX.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CA" altLang="fr-FR" sz="1100" dirty="0"/>
              <a:t>Rabais 500$ sur les séries J200 &amp; J300 modèles 2024.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b="1" dirty="0"/>
              <a:t>Modèles 2025 **Attention nouveaux prix réguliers en cours : 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100" dirty="0"/>
              <a:t>500$ de rabais sur tous les modèles + voir Annexes 2025</a:t>
            </a:r>
            <a:endParaRPr lang="fr-FR" sz="1100" b="1" dirty="0"/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100" b="1" dirty="0"/>
              <a:t>Gratuité: </a:t>
            </a:r>
            <a:r>
              <a:rPr lang="fr-FR" sz="1100" dirty="0"/>
              <a:t>À l’achat d’un spa Jacuzzi ou Solstice, on donne l’analyseur d’eau intelligent ICO (PTR </a:t>
            </a:r>
            <a:r>
              <a:rPr lang="fr-CA" sz="1100" dirty="0">
                <a:solidFill>
                  <a:srgbClr val="000000"/>
                </a:solidFill>
                <a:latin typeface="Aptos Narrow" panose="020B00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176503)</a:t>
            </a:r>
            <a:r>
              <a:rPr lang="fr-FR" sz="1100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100" dirty="0"/>
              <a:t>Aucun rabais additionnel si le client ne le prend pas.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100" dirty="0"/>
              <a:t>Le levier, la marche, le GFCI sont </a:t>
            </a:r>
            <a:r>
              <a:rPr lang="fr-CA" sz="1100" b="1" dirty="0"/>
              <a:t>INCLUS</a:t>
            </a:r>
            <a:r>
              <a:rPr lang="fr-CA" sz="1100" dirty="0"/>
              <a:t>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100" dirty="0"/>
              <a:t>La livraison </a:t>
            </a:r>
            <a:r>
              <a:rPr lang="fr-FR" sz="1100" b="1" dirty="0"/>
              <a:t>N’EST PAS INCLUSE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100" dirty="0"/>
              <a:t>Aucune promo de financement.</a:t>
            </a:r>
          </a:p>
          <a:p>
            <a:endParaRPr lang="fr-CA" sz="1100" b="1" dirty="0"/>
          </a:p>
          <a:p>
            <a:r>
              <a:rPr lang="fr-CA" sz="1100" b="1" dirty="0"/>
              <a:t>Trousse 2024</a:t>
            </a:r>
          </a:p>
          <a:p>
            <a:r>
              <a:rPr lang="fr-CA" sz="1100" b="1" dirty="0"/>
              <a:t>Tous les modèles viennent avec la promotion ‘’Trousse énergétique </a:t>
            </a:r>
            <a:r>
              <a:rPr lang="fr-CA" sz="1100" b="1" dirty="0" err="1"/>
              <a:t>SmartTub</a:t>
            </a:r>
            <a:r>
              <a:rPr lang="fr-CA" sz="1100" b="1" dirty="0"/>
              <a:t> </a:t>
            </a:r>
            <a:r>
              <a:rPr lang="fr-CA" sz="1100" b="1" dirty="0" err="1"/>
              <a:t>play</a:t>
            </a:r>
            <a:r>
              <a:rPr lang="fr-CA" sz="1100" b="1" dirty="0"/>
              <a:t>’’ d’une valeur ajoutée de </a:t>
            </a:r>
            <a:r>
              <a:rPr lang="fr-CA" sz="1100" dirty="0"/>
              <a:t>: </a:t>
            </a:r>
            <a:endParaRPr lang="fr-CA" sz="1200" dirty="0"/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05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1899$ 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J-300 incluant </a:t>
            </a:r>
            <a:r>
              <a:rPr lang="fr-CA" sz="105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05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 + lumière extérieure</a:t>
            </a:r>
            <a:endParaRPr lang="fr-CA" sz="1000" dirty="0"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05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1599$ 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J-400 incluant </a:t>
            </a:r>
            <a:r>
              <a:rPr lang="fr-CA" sz="105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05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 + Smart Seal</a:t>
            </a:r>
            <a:endParaRPr lang="fr-CA" sz="1000" dirty="0"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050" b="1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1199$ 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 la série J-LX incluant </a:t>
            </a:r>
            <a:r>
              <a:rPr lang="fr-CA" sz="105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SmartTub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fr-CA" sz="1050" dirty="0" err="1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Prolast</a:t>
            </a: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extrême</a:t>
            </a:r>
            <a:endParaRPr lang="fr-CA" sz="1000" dirty="0"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fr-CA" sz="10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 n’y a plus de trousse incluse avec la série J-200, en option seulement.</a:t>
            </a:r>
            <a:endParaRPr lang="fr-CA" sz="1050" dirty="0">
              <a:highlight>
                <a:srgbClr val="FFFF00"/>
              </a:highlight>
              <a:latin typeface="Calibri Light" panose="020F03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fr-FR" sz="1100" b="1" dirty="0">
              <a:effectLst/>
              <a:latin typeface="-apple-system"/>
            </a:endParaRPr>
          </a:p>
          <a:p>
            <a:r>
              <a:rPr lang="fr-FR" sz="1100" b="1" dirty="0">
                <a:effectLst/>
                <a:latin typeface="-apple-system"/>
              </a:rPr>
              <a:t>Trousse 2025</a:t>
            </a:r>
          </a:p>
          <a:p>
            <a:r>
              <a:rPr lang="fr-FR" sz="1100" b="1" dirty="0">
                <a:effectLst/>
                <a:latin typeface="-apple-system"/>
              </a:rPr>
              <a:t>Tous les modèles viennent avec la promotion ‘’Trousse énergétique </a:t>
            </a:r>
            <a:r>
              <a:rPr lang="fr-FR" sz="1100" b="1" dirty="0" err="1">
                <a:effectLst/>
                <a:latin typeface="-apple-system"/>
              </a:rPr>
              <a:t>SmartTub</a:t>
            </a:r>
            <a:r>
              <a:rPr lang="fr-FR" sz="1100" b="1" dirty="0">
                <a:effectLst/>
                <a:latin typeface="-apple-system"/>
              </a:rPr>
              <a:t> </a:t>
            </a:r>
            <a:r>
              <a:rPr lang="fr-FR" sz="1100" b="1" dirty="0" err="1">
                <a:effectLst/>
                <a:latin typeface="-apple-system"/>
              </a:rPr>
              <a:t>play</a:t>
            </a:r>
            <a:r>
              <a:rPr lang="fr-FR" sz="1100" b="1" dirty="0">
                <a:effectLst/>
                <a:latin typeface="-apple-system"/>
              </a:rPr>
              <a:t>’’ d’une valeur ajoutée de </a:t>
            </a:r>
            <a:r>
              <a:rPr lang="fr-FR" sz="1100" dirty="0">
                <a:effectLst/>
                <a:latin typeface="-apple-system"/>
              </a:rPr>
              <a:t>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0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1998$ 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sur la série J-300 incluant l'application Smart Tub + la couverture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Prolast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Extreme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0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999$ 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sur la série J-400 incluant la couverture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Prolast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Extreme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 + l'isolation Smart Seal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050" b="1" dirty="0">
                <a:latin typeface="Calibri Light" panose="020F0302020204030204" pitchFamily="34" charset="0"/>
                <a:cs typeface="Times New Roman" panose="02020603050405020304" pitchFamily="18" charset="0"/>
              </a:rPr>
              <a:t>300$ 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sur la série J-LX incluant la couverture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Prolast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Extreme</a:t>
            </a:r>
            <a:endParaRPr lang="fr-FR" sz="105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Trousse en option sur la série J-200 d'une valeur de 1299$ incluant l'application Smart Tub et la couverture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Prolast</a:t>
            </a:r>
            <a:r>
              <a:rPr lang="fr-FR" sz="1050" dirty="0"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050" dirty="0" err="1">
                <a:latin typeface="Calibri Light" panose="020F0302020204030204" pitchFamily="34" charset="0"/>
                <a:cs typeface="Times New Roman" panose="02020603050405020304" pitchFamily="18" charset="0"/>
              </a:rPr>
              <a:t>Extreme</a:t>
            </a:r>
            <a:endParaRPr lang="fr-FR" sz="105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  <a:p>
            <a:r>
              <a:rPr lang="fr-FR" sz="1100" dirty="0">
                <a:effectLst/>
                <a:latin typeface="-apple-system"/>
              </a:rPr>
              <a:t> </a:t>
            </a:r>
            <a:endParaRPr lang="fr-CA" sz="1400" dirty="0"/>
          </a:p>
          <a:p>
            <a:r>
              <a:rPr lang="fr-CA" sz="1100" b="1" dirty="0"/>
              <a:t>TAPIS CHAUFFANTS</a:t>
            </a:r>
            <a:r>
              <a:rPr lang="fr-CA" sz="1100" dirty="0"/>
              <a:t>: Rabais de 20% sur tous les tapis chauffants à prix réguliers.</a:t>
            </a:r>
          </a:p>
          <a:p>
            <a:endParaRPr lang="fr-CA" sz="1100" dirty="0"/>
          </a:p>
          <a:p>
            <a:r>
              <a:rPr lang="fr-CA" sz="1100" b="1" dirty="0"/>
              <a:t>PUBLICITÉ</a:t>
            </a:r>
            <a:r>
              <a:rPr lang="fr-CA" sz="1100" dirty="0"/>
              <a:t>: La promotion jusqu’à 2850$ de rabais et avantages comprend 1250$ de rabais + 1599$ Trousse d’économie d’énergie sur la série 400 (</a:t>
            </a:r>
            <a:r>
              <a:rPr lang="fr-CA" sz="1100" b="1" dirty="0"/>
              <a:t>modèles 2024 seulement</a:t>
            </a:r>
            <a:r>
              <a:rPr lang="fr-CA" sz="1100" dirty="0"/>
              <a:t>).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2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8C7895C-4014-4298-99F6-5FEF6B83122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D8509D8C-343F-06AD-5CD6-AAFAF86F10B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245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44935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1600" dirty="0"/>
          </a:p>
          <a:p>
            <a:r>
              <a:rPr lang="fr-CA" sz="1400" b="1" dirty="0"/>
              <a:t>SOLSTICE SPAS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Modèles 2024: </a:t>
            </a:r>
            <a:r>
              <a:rPr lang="fr-CA" sz="1400" dirty="0"/>
              <a:t>1250$ de rabais sur les modèles en inventaire applicable sur le prix régulier.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Modèles 2025</a:t>
            </a:r>
            <a:r>
              <a:rPr lang="fr-CA" sz="1400" dirty="0"/>
              <a:t>: 750$ sur les modèles 2025.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FR" sz="1400" b="1" dirty="0"/>
              <a:t>Gratuité: </a:t>
            </a:r>
            <a:r>
              <a:rPr lang="fr-FR" sz="1400" dirty="0"/>
              <a:t>À l’achat d’un spa Jacuzzi ou Solstice, on donne l’analyseur d’eau intelligent ICO (PTR </a:t>
            </a:r>
            <a:r>
              <a:rPr lang="fr-CA" sz="1400" dirty="0"/>
              <a:t>176503)</a:t>
            </a:r>
            <a:r>
              <a:rPr lang="fr-FR" sz="1400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1400" dirty="0"/>
              <a:t>Aucun rabais additionnel si le client ne le prend pas.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b="1" dirty="0"/>
              <a:t>PROMO: OBTENEZ 2 SERVIETTES SOLSTICE À L’ACHAT D’UN SPA </a:t>
            </a:r>
            <a:r>
              <a:rPr lang="fr-CA" sz="1400" dirty="0"/>
              <a:t>(</a:t>
            </a:r>
            <a:r>
              <a:rPr lang="fr-CA" sz="1400" i="1" dirty="0"/>
              <a:t>PTR 173988)</a:t>
            </a:r>
            <a:r>
              <a:rPr lang="fr-CA" sz="1400" dirty="0"/>
              <a:t>. 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Le levier, la marche, le GFCI sont </a:t>
            </a:r>
            <a:r>
              <a:rPr lang="fr-CA" sz="1400" b="1" dirty="0"/>
              <a:t>INCLUS</a:t>
            </a:r>
            <a:r>
              <a:rPr lang="fr-CA" sz="1400" dirty="0"/>
              <a:t>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CA" sz="1400" dirty="0"/>
              <a:t>La livraison </a:t>
            </a:r>
            <a:r>
              <a:rPr lang="fr-CA" sz="1400" b="1" dirty="0"/>
              <a:t>N’EST PAS INCLUSE</a:t>
            </a:r>
          </a:p>
          <a:p>
            <a:pPr lvl="0"/>
            <a:endParaRPr lang="fr-CA" sz="1400" b="1" dirty="0"/>
          </a:p>
          <a:p>
            <a:r>
              <a:rPr lang="fr-CA" sz="1400" b="1" dirty="0"/>
              <a:t>TAPIS CHAUFFANTS</a:t>
            </a:r>
            <a:r>
              <a:rPr lang="fr-CA" sz="1400" dirty="0"/>
              <a:t>: Rabais de 20% sur tous les tapis chauffants à prix réguliers.</a:t>
            </a:r>
          </a:p>
          <a:p>
            <a:endParaRPr lang="fr-CA" sz="1400" dirty="0">
              <a:highlight>
                <a:srgbClr val="FFFF00"/>
              </a:highlight>
            </a:endParaRPr>
          </a:p>
          <a:p>
            <a:endParaRPr lang="fr-CA" sz="1400" dirty="0"/>
          </a:p>
          <a:p>
            <a:r>
              <a:rPr lang="fr-CA" sz="1200" b="1" dirty="0"/>
              <a:t>INNOVAPSA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Spa Blizzard édition limitée en promotion à  6999$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 rabais sur les autres modèles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Aucune promotion de financement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Le levier, la marche et le chimique sont vendus séparément.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/>
              <a:t>La livraison n’est pas incluse.</a:t>
            </a:r>
            <a:r>
              <a:rPr lang="fr-CA" sz="1400" dirty="0"/>
              <a:t> </a:t>
            </a:r>
            <a:endParaRPr lang="fr-CA" sz="20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3</a:t>
            </a:fld>
            <a:endParaRPr lang="fr-CA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9FEAEB21-924D-0BB3-2089-762DCFE95A2A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0937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SPAS DE NAGE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6" y="2128086"/>
            <a:ext cx="6408713" cy="18774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r>
              <a:rPr lang="fr-CA" sz="1600" b="1" dirty="0"/>
              <a:t>SPA DE NAGE JACUZZI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À l’achat d’un spa de nage, obtenez une carte promo de 1500$. </a:t>
            </a:r>
            <a:r>
              <a:rPr lang="fr-CA" sz="1600" dirty="0"/>
              <a:t>Les cartes promo sont valides 1 an à compter de la date d’émission. La carte doit être mise après la livraison du spa.</a:t>
            </a:r>
            <a:endParaRPr lang="fr-F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livraison et frais de grue </a:t>
            </a:r>
            <a:r>
              <a:rPr lang="fr-CA" sz="1600" b="1" dirty="0"/>
              <a:t>NE SONT PAS INCLUS.</a:t>
            </a:r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FD1B1F0-F189-40B3-A7CE-81CA96B9C51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4</a:t>
            </a:fld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1EECA49-570A-45D0-B3D2-36F8939D94C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75" y="8604448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A7F81D3D-448A-5C14-F6F4-BD6CB39D6DE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75FD9-3F53-F1C8-F75E-4C30132DD58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24644" y="399593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SAUNAS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88D168-C6BD-83A0-A7A2-5C74FEE645C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24643" y="4355976"/>
            <a:ext cx="640871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1"/>
            <a:endParaRPr lang="fr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rabais en cours sur tous les PURE CUBE.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Comme il y a des prix MAP, ces rabais sont valides en magasins seulement et non en ligne.</a:t>
            </a:r>
            <a:endParaRPr lang="fr-CA" sz="2000" dirty="0"/>
          </a:p>
          <a:p>
            <a:endParaRPr lang="fr-CA" sz="1600" b="1" dirty="0"/>
          </a:p>
        </p:txBody>
      </p:sp>
    </p:spTree>
    <p:extLst>
      <p:ext uri="{BB962C8B-B14F-4D97-AF65-F5344CB8AC3E}">
        <p14:creationId xmlns:p14="http://schemas.microsoft.com/office/powerpoint/2010/main" val="2478665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MEUBLES ET PARASOLS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600" b="1" dirty="0"/>
              <a:t>MEUBLES </a:t>
            </a:r>
          </a:p>
          <a:p>
            <a:endParaRPr lang="fr-CA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Meubles 2025: </a:t>
            </a:r>
            <a:r>
              <a:rPr lang="fr-CA" sz="1600" dirty="0"/>
              <a:t>Prix réguliers en cours + nous payons l‘équivalent des 2 taxes sur les nouveautés ainsi que les meubles qui reviennent en 2025.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dirty="0"/>
              <a:t>Ceci est une promotion silencieuse afin de permettent de revenir à des prix réguliers tel qu’exigé par l’OPC. Elle ne sera pas affichée sur le site web.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dirty="0"/>
              <a:t>Veuillez retirer le pop up prix sur votre plancher et conserver uniquement le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EXCLUSION: </a:t>
            </a:r>
            <a:r>
              <a:rPr lang="fr-CA" sz="1600" dirty="0"/>
              <a:t>CR plastic et </a:t>
            </a:r>
            <a:r>
              <a:rPr lang="fr-CA" sz="1600" dirty="0" err="1"/>
              <a:t>Treasure</a:t>
            </a:r>
            <a:r>
              <a:rPr lang="fr-CA" sz="1600" dirty="0"/>
              <a:t> </a:t>
            </a:r>
            <a:r>
              <a:rPr lang="fr-CA" sz="1600" dirty="0" err="1"/>
              <a:t>garden</a:t>
            </a:r>
            <a:r>
              <a:rPr lang="fr-CA" sz="1600" dirty="0"/>
              <a:t> sont toujours exclus des promotions.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Meubles LIQUIDATION: Nouveaux rabais en cours pour les items en liquidation! Voir Annexe de vente.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N’oubliez pas de faire des prix agressifs sur vos démonstrateurs 2024!</a:t>
            </a:r>
          </a:p>
          <a:p>
            <a:endParaRPr lang="fr-CA" sz="16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4C2A165-92F7-43C0-889A-0CB1C2D0B657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5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9BFA519-2732-4282-AF65-99019E82AB9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5" name="Zone de texte 28">
            <a:extLst>
              <a:ext uri="{FF2B5EF4-FFF2-40B4-BE49-F238E27FC236}">
                <a16:creationId xmlns:a16="http://schemas.microsoft.com/office/drawing/2014/main" id="{03D57059-6F6C-1C0B-C433-B6111C46857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55F00F-005A-65C9-B93C-70BBF0212A2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1375" y="585872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GAZEBOS 2024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4E2E3F-8713-712A-18BE-1D7B42582A64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687625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CABANONS 2024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B057B5-FD9C-A8F7-F423-740662E86A4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0647" y="7236296"/>
            <a:ext cx="64087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/>
              <a:t>Aucune promotion en cours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CDE7EB-7AB5-218C-2913-A99998CCDDA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60647" y="6228184"/>
            <a:ext cx="640871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fr-CA" sz="1600" dirty="0"/>
              <a:t>Voir rabais en cours</a:t>
            </a:r>
          </a:p>
        </p:txBody>
      </p:sp>
    </p:spTree>
    <p:extLst>
      <p:ext uri="{BB962C8B-B14F-4D97-AF65-F5344CB8AC3E}">
        <p14:creationId xmlns:p14="http://schemas.microsoft.com/office/powerpoint/2010/main" val="212511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BBQ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9697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dirty="0">
                <a:latin typeface="Calibri" panose="020F0502020204030204" pitchFamily="34" charset="0"/>
              </a:rPr>
              <a:t>Aucune promotion du fournisseur. Voir rabais en cours dans l’annexe.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8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Rabais </a:t>
            </a:r>
            <a:r>
              <a:rPr lang="fr-CA" sz="18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Kamado</a:t>
            </a:r>
            <a:r>
              <a:rPr lang="fr-CA" sz="18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CA" sz="1800" dirty="0" err="1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Louisiana</a:t>
            </a:r>
            <a:r>
              <a:rPr lang="fr-CA" sz="18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Grill à 1399.99$! Mettez de l’avant sur vos planchers de vente!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dirty="0">
              <a:latin typeface="Calibri" panose="020F0502020204030204" pitchFamily="34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  <a:p>
            <a:endParaRPr lang="fr-CA" sz="1600" dirty="0"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B2DBC70-3186-48CE-819F-361D4296B6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6</a:t>
            </a:fld>
            <a:endParaRPr lang="fr-CA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3D21B-B117-4026-9C7F-49C36B6A584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07" y="8411910"/>
            <a:ext cx="2492896" cy="402434"/>
          </a:xfrm>
          <a:prstGeom prst="rect">
            <a:avLst/>
          </a:prstGeom>
        </p:spPr>
      </p:pic>
      <p:sp>
        <p:nvSpPr>
          <p:cNvPr id="3" name="Zone de texte 28">
            <a:extLst>
              <a:ext uri="{FF2B5EF4-FFF2-40B4-BE49-F238E27FC236}">
                <a16:creationId xmlns:a16="http://schemas.microsoft.com/office/drawing/2014/main" id="{06DA51CB-48AE-022D-713C-4EFDF21B11C9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34054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6" y="1779769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HORS TERRE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33DA19-C6A4-4697-B85F-7F129DA9B7C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7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8BA23A4-D293-442A-8E64-DD7EEB3C81B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78D544-23DE-4DBE-ABBE-33607EA8AF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6" y="2139809"/>
            <a:ext cx="6408713" cy="51090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CARVIN  &amp; TRENDIUM (VOGUE) 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Prendre liste de prix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1000$ </a:t>
            </a:r>
            <a:r>
              <a:rPr lang="fr-CA" sz="1400" dirty="0"/>
              <a:t>sur toutes les piscines hors terre Seules, Équipées et Équipées &amp; Installées.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FINANCEMENT FAIRSTONE (non publicisé):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b="1" dirty="0"/>
              <a:t> </a:t>
            </a: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Aucun paiement &amp; Intérêt pour 24 mois (code 12240)</a:t>
            </a:r>
          </a:p>
          <a:p>
            <a:pPr lvl="1"/>
            <a:r>
              <a:rPr lang="fr-CA" sz="14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60 mois @8.99% (code 36602)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fr-CA" sz="14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Aucun rabais additionnel si le client ne prend pas le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NEWTOWN 2024: </a:t>
            </a:r>
            <a:r>
              <a:rPr lang="fr-CA" sz="1400" dirty="0"/>
              <a:t>Rabais additionnel de 200$ donc rabais total de 1200$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400" b="1" dirty="0"/>
              <a:t>Rabais de 400$</a:t>
            </a:r>
            <a:r>
              <a:rPr lang="fr-CA" sz="1400" dirty="0"/>
              <a:t> sur prix régulier d’une thermopompe SOLSTICE, TTI ou Nirvana. L’installation de la Thermopompe et le By-pass ne </a:t>
            </a:r>
            <a:r>
              <a:rPr lang="fr-CA" sz="1400" b="1" dirty="0"/>
              <a:t>sont pas inclus.</a:t>
            </a:r>
          </a:p>
          <a:p>
            <a:pPr lvl="1"/>
            <a:endParaRPr lang="fr-CA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b="1" dirty="0"/>
          </a:p>
          <a:p>
            <a:r>
              <a:rPr lang="fr-CA" sz="1400" b="1" dirty="0"/>
              <a:t>PUBLICITÉ:  </a:t>
            </a:r>
            <a:r>
              <a:rPr lang="fr-CA" sz="1400" dirty="0"/>
              <a:t>Piscine NEWTOWN 12pi équipée à 3199$ (rabais spécial 1250$ pour cette grandeur seulement).</a:t>
            </a:r>
            <a:endParaRPr lang="fr-CA" sz="1400" dirty="0"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400" dirty="0"/>
          </a:p>
          <a:p>
            <a:endParaRPr lang="fr-CA" sz="1400" dirty="0"/>
          </a:p>
          <a:p>
            <a:r>
              <a:rPr lang="fr-CA" sz="14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Bracelet </a:t>
            </a:r>
            <a:r>
              <a:rPr lang="fr-CA" sz="1400" b="1" dirty="0"/>
              <a:t>SURVEILLANT DÉSIGNÉ</a:t>
            </a:r>
            <a:r>
              <a:rPr lang="fr-CA" sz="14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400" dirty="0"/>
              <a:t>2 serviettes Club Piscine</a:t>
            </a:r>
            <a:endParaRPr lang="fr-CA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0515F779-2714-30D9-1318-0B70F5821AFE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775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BOIS 2024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8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42F5A22-327C-4D75-9397-912D5DCB218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0647" y="2128086"/>
            <a:ext cx="6408713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>
                <a:sym typeface="Wingdings" panose="05000000000000000000" pitchFamily="2" charset="2"/>
              </a:rPr>
              <a:t>AQUABOIS 2024</a:t>
            </a:r>
            <a:endParaRPr lang="fr-CA" dirty="0"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750$ </a:t>
            </a:r>
            <a:r>
              <a:rPr lang="fr-CA" sz="1600" dirty="0"/>
              <a:t>sur le prix régulier de toutes les piscines de bois hors sol ou semi-creusées 2023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Exception: La </a:t>
            </a:r>
            <a:r>
              <a:rPr lang="fr-CA" sz="1600" dirty="0" err="1"/>
              <a:t>Tundra</a:t>
            </a:r>
            <a:r>
              <a:rPr lang="fr-CA" sz="1600" dirty="0"/>
              <a:t> hors sol a 1250$ de rabais.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CHAUFFÉE: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400$</a:t>
            </a:r>
            <a:r>
              <a:rPr lang="fr-CA" sz="1600" dirty="0"/>
              <a:t> sur prix régulier d’une thermopompe SOLSTICE de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600" dirty="0"/>
              <a:t>L’installation de la Thermopompe et le By-pass ne </a:t>
            </a:r>
            <a:r>
              <a:rPr lang="fr-CA" sz="1600" b="1" dirty="0"/>
              <a:t>sont pas inclus.</a:t>
            </a:r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La teinture est incluse sur toutes les piscines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Aucune promotion de financement</a:t>
            </a:r>
          </a:p>
          <a:p>
            <a:endParaRPr lang="fr-CA" sz="1600" b="1" dirty="0"/>
          </a:p>
          <a:p>
            <a:endParaRPr lang="fr-CA" sz="1600" dirty="0"/>
          </a:p>
          <a:p>
            <a:r>
              <a:rPr lang="fr-CA" sz="16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Bracelet </a:t>
            </a:r>
            <a:r>
              <a:rPr lang="fr-CA" sz="1600" b="1" dirty="0"/>
              <a:t>SURVEILLANT DÉSIGNÉ</a:t>
            </a:r>
            <a:r>
              <a:rPr lang="fr-CA" sz="16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600" dirty="0"/>
              <a:t>2 serviettes Club Piscine</a:t>
            </a:r>
          </a:p>
          <a:p>
            <a:endParaRPr lang="fr-CA" sz="1400" i="1" dirty="0"/>
          </a:p>
          <a:p>
            <a:endParaRPr lang="fr-CA" sz="1600" dirty="0"/>
          </a:p>
        </p:txBody>
      </p:sp>
      <p:sp>
        <p:nvSpPr>
          <p:cNvPr id="5" name="Zone de texte 28">
            <a:extLst>
              <a:ext uri="{FF2B5EF4-FFF2-40B4-BE49-F238E27FC236}">
                <a16:creationId xmlns:a16="http://schemas.microsoft.com/office/drawing/2014/main" id="{F94A0BDA-22DF-D760-024C-26F154DB504C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8611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CREUSÉES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7774A3C-AC2A-4D50-94B2-BA30C81610A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9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E9840D2-DA45-4D2A-A56F-841BEFE8A67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11" name="Zone de texte 28">
            <a:extLst>
              <a:ext uri="{FF2B5EF4-FFF2-40B4-BE49-F238E27FC236}">
                <a16:creationId xmlns:a16="http://schemas.microsoft.com/office/drawing/2014/main" id="{CB57BEBA-A86A-4781-AB89-09D90C196ACE}"/>
              </a:ext>
            </a:extLst>
          </p:cNvPr>
          <p:cNvSpPr txBox="1"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BD5E6B-810F-498E-B14D-305B2F9FD92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60647" y="2135574"/>
            <a:ext cx="6408713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200" b="1" dirty="0">
                <a:sym typeface="Wingdings" panose="05000000000000000000" pitchFamily="2" charset="2"/>
              </a:rPr>
              <a:t>LATHAM ACIER et IMPERIAL POOL</a:t>
            </a:r>
          </a:p>
          <a:p>
            <a:pPr marL="342900" indent="-342900">
              <a:buFont typeface="Symbol" panose="05050102010706020507" pitchFamily="18" charset="2"/>
              <a:buChar char=""/>
            </a:pPr>
            <a:r>
              <a:rPr lang="fr-CA" sz="1200" dirty="0">
                <a:ea typeface="Calibri" panose="020F0502020204030204" pitchFamily="34" charset="0"/>
                <a:cs typeface="Times New Roman" panose="02020603050405020304" pitchFamily="18" charset="0"/>
              </a:rPr>
              <a:t>Nouvelle structure de prix 2025 pour creusée acier (augmentation des frais d’installation).</a:t>
            </a:r>
          </a:p>
          <a:p>
            <a:pPr marL="342900" lvl="0" indent="-342900">
              <a:buFont typeface="Symbol" panose="05050102010706020507" pitchFamily="18" charset="2"/>
              <a:buChar char=""/>
            </a:pPr>
            <a:r>
              <a:rPr lang="fr-FR" sz="1200" dirty="0">
                <a:ea typeface="Calibri" panose="020F0502020204030204" pitchFamily="34" charset="0"/>
                <a:cs typeface="Times New Roman" panose="02020603050405020304" pitchFamily="18" charset="0"/>
              </a:rPr>
              <a:t>RABAIS JUSQU’À 4000$ SUR TOUTES LES PISCINES EN ACIER  + THERMOPOMPE 50K BTU SOLSTICE INCLUSE (l’installation de la thermopompe est incluse aussi) + </a:t>
            </a: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ROBOT POLARIS EPIC 8642IQ GRATUIT à l’achat de n’importe quel modèle de creusée en acier! Voir Annexes CREUSÉE pour le détail des rabais.</a:t>
            </a:r>
            <a:endParaRPr lang="fr-CA" sz="12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sz="1200" dirty="0"/>
          </a:p>
          <a:p>
            <a:r>
              <a:rPr lang="fr-CA" sz="12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200" dirty="0"/>
              <a:t>Bracelet </a:t>
            </a:r>
            <a:r>
              <a:rPr lang="fr-CA" sz="1200" b="1" dirty="0"/>
              <a:t>SURVEILLANT DÉSIGNÉ</a:t>
            </a:r>
            <a:r>
              <a:rPr lang="fr-CA" sz="12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200" dirty="0"/>
              <a:t>2 serviettes Club Piscine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CE7EE2-A4B2-5123-50DA-E1A69941C17E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0647" y="435857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PISCINES DE FIBRE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7BCA58-4012-A7FA-44D3-BA017B8DA66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0647" y="4351383"/>
            <a:ext cx="6408713" cy="43088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300" b="1" dirty="0">
              <a:sym typeface="Wingdings" panose="05000000000000000000" pitchFamily="2" charset="2"/>
            </a:endParaRPr>
          </a:p>
          <a:p>
            <a:endParaRPr lang="fr-CA" sz="1300" b="1" dirty="0">
              <a:sym typeface="Wingdings" panose="05000000000000000000" pitchFamily="2" charset="2"/>
            </a:endParaRPr>
          </a:p>
          <a:p>
            <a:r>
              <a:rPr lang="fr-CA" sz="1300" b="1" dirty="0">
                <a:sym typeface="Wingdings" panose="05000000000000000000" pitchFamily="2" charset="2"/>
              </a:rPr>
              <a:t>MOVA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Aucun changement. Rabais de jusqu’à 4500$ </a:t>
            </a:r>
            <a:r>
              <a:rPr lang="fr-CA" sz="1300" dirty="0"/>
              <a:t>sur certains modèles MOVA équipées et installées (rabais de 2500$ si piscine seule).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DE 1500$ </a:t>
            </a:r>
            <a:r>
              <a:rPr lang="fr-CA" sz="1300" dirty="0"/>
              <a:t>(50% de rabais) sur le combo Thermopompe Solstice et le </a:t>
            </a:r>
            <a:r>
              <a:rPr lang="fr-CA" sz="1300" dirty="0" err="1"/>
              <a:t>chlorateur</a:t>
            </a:r>
            <a:r>
              <a:rPr lang="fr-CA" sz="1300" dirty="0"/>
              <a:t> au sel POLARIS </a:t>
            </a:r>
            <a:r>
              <a:rPr lang="fr-CA" sz="1300" dirty="0" err="1"/>
              <a:t>Autoclear</a:t>
            </a:r>
            <a:r>
              <a:rPr lang="fr-CA" sz="1300" dirty="0"/>
              <a:t> (ou équivalent) à prix régulier.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dirty="0"/>
              <a:t>Aucune promotion de financement.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b="1" dirty="0"/>
          </a:p>
          <a:p>
            <a:r>
              <a:rPr lang="fr-CA" sz="1300" b="1" dirty="0">
                <a:sym typeface="Wingdings" panose="05000000000000000000" pitchFamily="2" charset="2"/>
              </a:rPr>
              <a:t>AQUARINO</a:t>
            </a:r>
            <a:endParaRPr lang="fr-CA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Nouveaux Prix 2025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Rabais jusqu’à 7500$ </a:t>
            </a:r>
            <a:r>
              <a:rPr lang="fr-CA" sz="1300" dirty="0"/>
              <a:t>sur certaines piscines AQUARINO équipées et installées (rabais de 3500$ si piscine seule).</a:t>
            </a:r>
            <a:endParaRPr lang="fr-CA" sz="13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300" b="1" dirty="0"/>
              <a:t>COMBO </a:t>
            </a:r>
            <a:r>
              <a:rPr lang="fr-CA" sz="1300" b="1" dirty="0" err="1"/>
              <a:t>Chlorinateur+Thermopome</a:t>
            </a:r>
            <a:r>
              <a:rPr lang="fr-CA" sz="1300" b="1" dirty="0"/>
              <a:t> GRATUIT: </a:t>
            </a:r>
            <a:r>
              <a:rPr lang="fr-CA" sz="1300" dirty="0"/>
              <a:t>Comprend le combo Thermopompe Solstice 50k BTU et le </a:t>
            </a:r>
            <a:r>
              <a:rPr lang="fr-CA" sz="1300" dirty="0" err="1"/>
              <a:t>chlorinateur</a:t>
            </a:r>
            <a:r>
              <a:rPr lang="fr-CA" sz="1300" dirty="0"/>
              <a:t> au sel MOOV </a:t>
            </a:r>
            <a:r>
              <a:rPr lang="fr-CA" sz="1300" dirty="0" err="1"/>
              <a:t>minisalt</a:t>
            </a:r>
            <a:r>
              <a:rPr lang="fr-CA" sz="1300" dirty="0"/>
              <a:t> 50k L (ou équivalent). Modèle TANZA exclu de la promotion.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300" dirty="0"/>
          </a:p>
          <a:p>
            <a:r>
              <a:rPr lang="fr-CA" sz="1300" dirty="0"/>
              <a:t>GRATUIT à l’achat d’une piscine: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Bracelet </a:t>
            </a:r>
            <a:r>
              <a:rPr lang="fr-CA" sz="1300" b="1" dirty="0"/>
              <a:t>SURVEILLANT DÉSIGNÉ</a:t>
            </a:r>
            <a:r>
              <a:rPr lang="fr-CA" sz="1300" dirty="0"/>
              <a:t> de la Société de Sauvetage</a:t>
            </a:r>
          </a:p>
          <a:p>
            <a:pPr marL="285750" indent="-285750">
              <a:buFontTx/>
              <a:buChar char="-"/>
            </a:pPr>
            <a:r>
              <a:rPr lang="fr-CA" sz="1300" dirty="0"/>
              <a:t>2 serviettes Club Piscine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/>
          </a:p>
        </p:txBody>
      </p:sp>
    </p:spTree>
    <p:extLst>
      <p:ext uri="{BB962C8B-B14F-4D97-AF65-F5344CB8AC3E}">
        <p14:creationId xmlns:p14="http://schemas.microsoft.com/office/powerpoint/2010/main" val="256247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 de texte 28"/>
          <p:cNvSpPr txBox="1"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28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THERMOPOMPES 2025</a:t>
            </a:r>
          </a:p>
        </p:txBody>
      </p:sp>
      <p:sp>
        <p:nvSpPr>
          <p:cNvPr id="8" name="Rectangle 7"/>
          <p:cNvSpPr/>
          <p:nvPr>
            <p:custDataLst>
              <p:tags r:id="rId3"/>
            </p:custDataLst>
          </p:nvPr>
        </p:nvSpPr>
        <p:spPr>
          <a:xfrm>
            <a:off x="260647" y="2128086"/>
            <a:ext cx="6408713" cy="2554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b="1" dirty="0"/>
              <a:t>SOLSTICE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RABAIS DE 300$</a:t>
            </a:r>
            <a:r>
              <a:rPr lang="fr-CA" sz="1600" dirty="0"/>
              <a:t> sur le prix RÉGULIER de toutes les Thermopompes SOLSTICE.</a:t>
            </a:r>
          </a:p>
          <a:p>
            <a:endParaRPr lang="fr-CA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r>
              <a:rPr lang="fr-CA" sz="1600" b="1" dirty="0"/>
              <a:t>TTI et NIRVANA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Rabais de 200$ sur tous les modèles TTI ECOLO et rabais de 100$ sur les NIRVANA NE.</a:t>
            </a:r>
            <a:endParaRPr lang="fr-CA" sz="1600" dirty="0">
              <a:effectLst/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</a:endParaRPr>
          </a:p>
          <a:p>
            <a:pPr lvl="1"/>
            <a:endParaRPr lang="fr-CA" sz="1600" dirty="0"/>
          </a:p>
          <a:p>
            <a:endParaRPr lang="fr-CA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C4BD33-7303-4103-A793-21C93DC0B4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75719" y="4746798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ACCESSOIRES PISCINES ET SPAS 2025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9BEC494-D4C8-48DB-B968-4FEB2152C3A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10</a:t>
            </a:fld>
            <a:endParaRPr lang="fr-CA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EE3DC31-EFFB-4C17-9CC7-30E1AD45072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B5624A4-969B-1056-5A11-C3594EF3D2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5719" y="5120769"/>
            <a:ext cx="6408713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On poursuit le rabais en cours sur la pompe et filtreur Polaris. Voir Annexes ACC HORS TERRE.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/>
          </a:p>
          <a:p>
            <a:endParaRPr lang="fr-FR" sz="1600" b="1" dirty="0">
              <a:highlight>
                <a:srgbClr val="7FCDE9"/>
              </a:highlight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20% de </a:t>
            </a:r>
            <a:r>
              <a:rPr lang="en-CA" sz="1600" dirty="0" err="1"/>
              <a:t>rabais</a:t>
            </a:r>
            <a:r>
              <a:rPr lang="en-CA" sz="1600" dirty="0"/>
              <a:t> sur les tapis </a:t>
            </a:r>
            <a:r>
              <a:rPr lang="en-CA" sz="1600" dirty="0" err="1"/>
              <a:t>chauffants</a:t>
            </a:r>
            <a:endParaRPr lang="en-CA" sz="16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825CD56-A3C5-E20F-C93D-FD24C5FA850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63885" y="5913882"/>
            <a:ext cx="5705044" cy="1587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956D71-DA66-430C-CA67-1D1AC3007757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94725" y="7164288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CHIMIQUE 2025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760E0-A153-8420-8A21-63003B6588C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275719" y="7493114"/>
            <a:ext cx="6408713" cy="4648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CA" dirty="0"/>
              <a:t>Nouveaux prix 2025 et fin de tous les rabais en cours.</a:t>
            </a:r>
          </a:p>
        </p:txBody>
      </p:sp>
    </p:spTree>
    <p:extLst>
      <p:ext uri="{BB962C8B-B14F-4D97-AF65-F5344CB8AC3E}">
        <p14:creationId xmlns:p14="http://schemas.microsoft.com/office/powerpoint/2010/main" val="18573600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FITNESS 2024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6"/>
            <a:ext cx="6408713" cy="16004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b="1" dirty="0"/>
              <a:t>Voir annexes pour les nouveaux rabais en cours.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 dirty="0"/>
              <a:t>Nouveautés prévues en janvier 2025. </a:t>
            </a:r>
          </a:p>
          <a:p>
            <a:endParaRPr lang="fr-CA" sz="1600" b="1" dirty="0"/>
          </a:p>
          <a:p>
            <a:endParaRPr lang="fr-CA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600" dirty="0"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5C7BBEC-1C34-426C-829B-BBBE7AEF9FD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11</a:t>
            </a:fld>
            <a:endParaRPr lang="fr-CA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15EACBE-1720-4116-90B5-C389F813A16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460432"/>
            <a:ext cx="2492896" cy="402434"/>
          </a:xfrm>
          <a:prstGeom prst="rect">
            <a:avLst/>
          </a:prstGeom>
        </p:spPr>
      </p:pic>
      <p:sp>
        <p:nvSpPr>
          <p:cNvPr id="7" name="Zone de texte 28">
            <a:extLst>
              <a:ext uri="{FF2B5EF4-FFF2-40B4-BE49-F238E27FC236}">
                <a16:creationId xmlns:a16="http://schemas.microsoft.com/office/drawing/2014/main" id="{B2EEE3DC-3491-9AB7-66FD-4D31A25D6353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441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FINANCEMENT</a:t>
            </a:r>
          </a:p>
        </p:txBody>
      </p:sp>
      <p:sp>
        <p:nvSpPr>
          <p:cNvPr id="8" name="Rectangle 7"/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6535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CA" sz="1400" b="1" dirty="0"/>
              <a:t>FAIRSTONE </a:t>
            </a:r>
          </a:p>
          <a:p>
            <a:r>
              <a:rPr lang="fr-CA" sz="1400" b="1" dirty="0"/>
              <a:t>***NOUVEAUX PLANS 2025***</a:t>
            </a:r>
          </a:p>
          <a:p>
            <a:r>
              <a:rPr lang="fr-CA" sz="1200" b="1" dirty="0"/>
              <a:t>Promotion piscine hors terre: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Aucun paiement &amp; Intérêt pour 24 mois (code 12240)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60 mois @8.99% (code 36602)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dirty="0"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Aucun rabais additionnel si le client ne prend pas le financement.</a:t>
            </a:r>
          </a:p>
          <a:p>
            <a:endParaRPr lang="fr-CA" sz="1200" b="1" dirty="0"/>
          </a:p>
          <a:p>
            <a:r>
              <a:rPr lang="fr-CA" sz="1200" b="1" dirty="0"/>
              <a:t>Plans de financement réguliers:</a:t>
            </a:r>
          </a:p>
          <a:p>
            <a:r>
              <a:rPr lang="fr-CA" sz="1200" dirty="0"/>
              <a:t>Il est possible d’offrir l’un des 4 plans qui sont également offerts en ligne à l’achat de 500$ et+ . Voir votre gestionnaire pour plus de détail. </a:t>
            </a:r>
          </a:p>
          <a:p>
            <a:pPr marL="628650" lvl="1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sz="1100" b="1" i="0" dirty="0">
                <a:solidFill>
                  <a:srgbClr val="333333"/>
                </a:solidFill>
                <a:effectLst/>
                <a:latin typeface="Helvetica Neue"/>
              </a:rPr>
              <a:t>Aucun intérêt pendant 12 mois avec paiements minimum de 5% </a:t>
            </a:r>
            <a:r>
              <a:rPr lang="fr-FR" sz="1100" b="0" i="0" dirty="0">
                <a:solidFill>
                  <a:srgbClr val="333333"/>
                </a:solidFill>
                <a:effectLst/>
                <a:latin typeface="Helvetica Neue"/>
              </a:rPr>
              <a:t>(code 13120). Panier minimum de 500$</a:t>
            </a:r>
          </a:p>
          <a:p>
            <a:pPr marL="628650" lvl="1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sz="1100" b="1" i="0" dirty="0">
                <a:solidFill>
                  <a:srgbClr val="333333"/>
                </a:solidFill>
                <a:effectLst/>
                <a:latin typeface="Helvetica Neue"/>
              </a:rPr>
              <a:t>Aucun intérêt pendant 24 mois avec paiements minimum de 5% </a:t>
            </a:r>
            <a:r>
              <a:rPr lang="fr-FR" sz="1100" b="0" i="0" dirty="0">
                <a:solidFill>
                  <a:srgbClr val="333333"/>
                </a:solidFill>
                <a:effectLst/>
                <a:latin typeface="Helvetica Neue"/>
              </a:rPr>
              <a:t>(code 13240). Panier minimum de 1000$.</a:t>
            </a:r>
          </a:p>
          <a:p>
            <a:pPr marL="628650" lvl="1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sz="1100" b="1" i="0" dirty="0">
                <a:solidFill>
                  <a:srgbClr val="333333"/>
                </a:solidFill>
                <a:effectLst/>
                <a:latin typeface="Helvetica Neue"/>
              </a:rPr>
              <a:t>36 mois à 10.99% </a:t>
            </a:r>
            <a:r>
              <a:rPr lang="fr-FR" sz="1100" b="0" i="0" dirty="0">
                <a:solidFill>
                  <a:srgbClr val="333333"/>
                </a:solidFill>
                <a:effectLst/>
                <a:latin typeface="Helvetica Neue"/>
              </a:rPr>
              <a:t>(code 18363). Panier minimum 2000$.</a:t>
            </a:r>
          </a:p>
          <a:p>
            <a:pPr marL="628650" lvl="1" indent="-171450"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fr-FR" sz="1100" b="1" i="0" dirty="0">
                <a:solidFill>
                  <a:srgbClr val="333333"/>
                </a:solidFill>
                <a:effectLst/>
                <a:latin typeface="Helvetica Neue"/>
              </a:rPr>
              <a:t>48 mois à 10.99% </a:t>
            </a:r>
            <a:r>
              <a:rPr lang="fr-FR" sz="1100" b="0" i="0" dirty="0">
                <a:solidFill>
                  <a:srgbClr val="333333"/>
                </a:solidFill>
                <a:effectLst/>
                <a:latin typeface="Helvetica Neue"/>
              </a:rPr>
              <a:t>(code 18483). Panier minimum 3000$.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CA" sz="1400" dirty="0"/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fr-CA" sz="1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fr-CA" sz="1400" b="1" dirty="0"/>
              <a:t>FINANCE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200" b="1" dirty="0"/>
              <a:t>PISCINE CREUSÉE &amp; FIBRE : </a:t>
            </a:r>
            <a:r>
              <a:rPr lang="fr-CA" sz="1200" dirty="0"/>
              <a:t>Aucun financement inclus dans la promotion du mois mais il est suggéré d’utiliser le Financement </a:t>
            </a:r>
            <a:r>
              <a:rPr lang="fr-CA" sz="1200" b="1" dirty="0"/>
              <a:t>FINANCE IT </a:t>
            </a:r>
            <a:r>
              <a:rPr lang="fr-CA" sz="1200" dirty="0"/>
              <a:t>car le plafond de financement n’est pas limité à 30K$. Suggestion : Promo 6 mois sans paiement.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/>
              <a:t>Prêt ouvert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/>
              <a:t>Financement sur terme @ 12.99% pour le consommateur.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CA" sz="1200" dirty="0"/>
              <a:t>Le 6 mois débute à la livraison/installation.</a:t>
            </a:r>
            <a:endParaRPr lang="fr-CA" sz="14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52F2973-F05A-4798-9E29-20BCA9224E8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12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88D9F2B-CBC4-4BB5-AAFD-1DAE9256203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CDD729-D564-8E3A-F4B6-4E5FF1FDDC80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 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00EB1BB-0571-231B-B046-5A4E3C999E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190" y="5705081"/>
            <a:ext cx="3034813" cy="118467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D2FA01D-61E9-0D86-8EE9-8402F412E3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4724" y="5771557"/>
            <a:ext cx="3115136" cy="109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74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B0BC-A365-CE93-B39D-CEA9ADD1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75E3BE-4636-90C6-0C69-D3F2503D6A4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D9280D-73EA-89A2-5297-6300E6B6B44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6494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600" b="1" dirty="0"/>
          </a:p>
          <a:p>
            <a:r>
              <a:rPr lang="fr-CA" sz="1600" b="1" dirty="0"/>
              <a:t>Voici le visuel de la campagne de février ainsi que la liste des produits qui seront annoncés: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Meubles: Montana, Bellini, </a:t>
            </a:r>
            <a:r>
              <a:rPr lang="fr-CA" sz="1400" dirty="0" err="1"/>
              <a:t>Singapor</a:t>
            </a:r>
            <a:r>
              <a:rPr lang="fr-CA" sz="1400" dirty="0"/>
              <a:t>, Split à 699.99$ (Tous disponibles au siège social).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Newtown 12pi équipée au prix spécial de 3199$.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400" dirty="0"/>
              <a:t>Spa Solstice S320 2024 à 7749$ incluant un ICO.</a:t>
            </a:r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pPr marL="285750" indent="-285750">
              <a:buFontTx/>
              <a:buChar char="-"/>
            </a:pPr>
            <a:endParaRPr lang="fr-CA" sz="1600" dirty="0"/>
          </a:p>
          <a:p>
            <a:endParaRPr lang="fr-CA" sz="1600" b="1" dirty="0"/>
          </a:p>
          <a:p>
            <a:endParaRPr lang="fr-CA" sz="1600" b="1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5C67668-E27A-2BC1-2B00-B1145B814D1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13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977BF38-64F6-2AF7-1B84-5A747A9E7C7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9535806D-1C76-7E24-BBF5-D6A7B6E7F53B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 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C32291D-243B-634A-AE1D-E6FF1A93F3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1381" y="3995936"/>
            <a:ext cx="3018439" cy="41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85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8C7DC-28CA-C9E0-A598-AD4712AD5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2219742-E901-A7D7-02E3-0BEEE3EB79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60647" y="1768046"/>
            <a:ext cx="6408713" cy="360040"/>
          </a:xfrm>
          <a:prstGeom prst="rect">
            <a:avLst/>
          </a:prstGeom>
          <a:solidFill>
            <a:srgbClr val="218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b="1" dirty="0">
                <a:solidFill>
                  <a:schemeClr val="bg1"/>
                </a:solidFill>
              </a:rPr>
              <a:t>MARKETING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0F19A-814D-869A-B0BE-B4A7D4511A8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60647" y="2128084"/>
            <a:ext cx="6408713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endParaRPr lang="fr-CA" sz="1600" b="1" dirty="0"/>
          </a:p>
          <a:p>
            <a:endParaRPr lang="fr-CA" sz="1600" b="1" dirty="0"/>
          </a:p>
          <a:p>
            <a:pPr algn="ctr"/>
            <a:r>
              <a:rPr lang="fr-CA" sz="3200" b="1" dirty="0"/>
              <a:t>Lancement du </a:t>
            </a:r>
            <a:r>
              <a:rPr lang="fr-CA" sz="3200" b="1" u="sng" dirty="0">
                <a:solidFill>
                  <a:srgbClr val="0070C0"/>
                </a:solidFill>
              </a:rPr>
              <a:t>nouveau logo Club Piscine</a:t>
            </a:r>
            <a:r>
              <a:rPr lang="fr-CA" sz="3200" b="1" u="sng" dirty="0"/>
              <a:t> </a:t>
            </a:r>
            <a:r>
              <a:rPr lang="fr-CA" sz="3200" b="1" dirty="0"/>
              <a:t>prévu pour le 5 mars 2025!</a:t>
            </a:r>
          </a:p>
          <a:p>
            <a:pPr algn="ctr"/>
            <a:endParaRPr lang="fr-CA" sz="3200" b="1" dirty="0"/>
          </a:p>
          <a:p>
            <a:pPr algn="ctr"/>
            <a:r>
              <a:rPr lang="fr-CA" sz="3200" b="1" dirty="0"/>
              <a:t>Ne manquer pas la rencontre Teams du </a:t>
            </a:r>
            <a:r>
              <a:rPr lang="fr-CA" sz="3200" b="1" u="sng" dirty="0">
                <a:solidFill>
                  <a:srgbClr val="0070C0"/>
                </a:solidFill>
              </a:rPr>
              <a:t>12 mars à 9h </a:t>
            </a:r>
            <a:r>
              <a:rPr lang="fr-CA" sz="3200" b="1" dirty="0"/>
              <a:t>pour tout voir et tout savoir! </a:t>
            </a:r>
            <a:r>
              <a:rPr lang="fr-CA" sz="3200" b="1" dirty="0">
                <a:sym typeface="Wingdings" panose="05000000000000000000" pitchFamily="2" charset="2"/>
              </a:rPr>
              <a:t></a:t>
            </a:r>
            <a:endParaRPr lang="fr-CA" sz="3200" b="1" dirty="0"/>
          </a:p>
          <a:p>
            <a:pPr algn="ctr"/>
            <a:endParaRPr lang="fr-CA" sz="3200" b="1" dirty="0"/>
          </a:p>
          <a:p>
            <a:pPr algn="ctr"/>
            <a:r>
              <a:rPr lang="fr-CA" sz="2000" dirty="0"/>
              <a:t>Référez-vous à votre gestionnaire pour tous les détails.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CBB4111-1F28-4E86-F607-7D41EE764EF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31F4C03E-007A-4FDF-9746-0F09F296E587}" type="slidenum">
              <a:rPr lang="fr-CA" smtClean="0"/>
              <a:t>14</a:t>
            </a:fld>
            <a:endParaRPr lang="fr-CA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E630D5D-3142-4D43-530E-DDB7FFDED13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47" y="8629475"/>
            <a:ext cx="2492896" cy="402434"/>
          </a:xfrm>
          <a:prstGeom prst="rect">
            <a:avLst/>
          </a:prstGeom>
        </p:spPr>
      </p:pic>
      <p:sp>
        <p:nvSpPr>
          <p:cNvPr id="10" name="Zone de texte 28">
            <a:extLst>
              <a:ext uri="{FF2B5EF4-FFF2-40B4-BE49-F238E27FC236}">
                <a16:creationId xmlns:a16="http://schemas.microsoft.com/office/drawing/2014/main" id="{F1E5EC56-4515-DAC6-9634-47EFFC9A3747}"/>
              </a:ext>
            </a:extLst>
          </p:cNvPr>
          <p:cNvSpPr txBox="1"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307" y="539552"/>
            <a:ext cx="6172200" cy="108012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CA" sz="36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latin typeface="Arial Black" panose="020B0A04020102020204" pitchFamily="34" charset="0"/>
                <a:ea typeface="Calibri"/>
                <a:cs typeface="Times New Roman"/>
              </a:rPr>
              <a:t>Instructions de vente</a:t>
            </a:r>
            <a:b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</a:br>
            <a:r>
              <a:rPr lang="en-CA" sz="3200" dirty="0">
                <a:ln w="5080" cap="flat" cmpd="sng" algn="ctr">
                  <a:solidFill>
                    <a:schemeClr val="tx1"/>
                  </a:solidFill>
                  <a:prstDash val="solid"/>
                  <a:round/>
                </a:ln>
                <a:effectLst>
                  <a:outerShdw blurRad="38100" dist="32004" dir="5400000" algn="tl">
                    <a:srgbClr val="000000">
                      <a:alpha val="30000"/>
                    </a:srgbClr>
                  </a:outerShdw>
                </a:effectLst>
                <a:ea typeface="Calibri"/>
                <a:cs typeface="Times New Roman"/>
              </a:rPr>
              <a:t>5 Février au 4 mars 2025 </a:t>
            </a:r>
            <a:endParaRPr lang="fr-CA" sz="2800" b="1" dirty="0">
              <a:ln w="5080" cap="flat" cmpd="sng" algn="ctr">
                <a:solidFill>
                  <a:schemeClr val="tx1"/>
                </a:solidFill>
                <a:prstDash val="solid"/>
                <a:round/>
              </a:ln>
              <a:effectLst>
                <a:outerShdw blurRad="38100" dist="32004" dir="5400000" algn="tl">
                  <a:srgbClr val="000000">
                    <a:alpha val="30000"/>
                  </a:srgbClr>
                </a:outerShdw>
              </a:effectLst>
              <a:latin typeface="Arial Black" panose="020B0A04020102020204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7504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7642783BF5F549AD8264003DAC5479" ma:contentTypeVersion="3" ma:contentTypeDescription="Crée un document." ma:contentTypeScope="" ma:versionID="dce298f75874831ad4b69d3856d448b0">
  <xsd:schema xmlns:xsd="http://www.w3.org/2001/XMLSchema" xmlns:xs="http://www.w3.org/2001/XMLSchema" xmlns:p="http://schemas.microsoft.com/office/2006/metadata/properties" xmlns:ns2="be3f775b-911d-49d5-9e9c-70e93af7b92b" targetNamespace="http://schemas.microsoft.com/office/2006/metadata/properties" ma:root="true" ma:fieldsID="b29a77cbcb573c1061bfa2edeefbf14c" ns2:_="">
    <xsd:import namespace="be3f775b-911d-49d5-9e9c-70e93af7b9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f775b-911d-49d5-9e9c-70e93af7b9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3C392B-F690-4267-8D4E-0D4DB769B8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0F09A27-638B-4095-8C20-DFC882A2F5D8}"/>
</file>

<file path=customXml/itemProps3.xml><?xml version="1.0" encoding="utf-8"?>
<ds:datastoreItem xmlns:ds="http://schemas.openxmlformats.org/officeDocument/2006/customXml" ds:itemID="{11E1C49C-B943-4250-BB39-87973E798E95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purl.org/dc/terms/"/>
    <ds:schemaRef ds:uri="http://purl.org/dc/elements/1.1/"/>
    <ds:schemaRef ds:uri="8682f7ec-9bef-4d6d-8d5c-0ec39e002ff3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50949</TotalTime>
  <Words>2057</Words>
  <Application>Microsoft Office PowerPoint</Application>
  <PresentationFormat>Affichage à l'écran (4:3)</PresentationFormat>
  <Paragraphs>260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7" baseType="lpstr">
      <vt:lpstr>-apple-system</vt:lpstr>
      <vt:lpstr>Aptos</vt:lpstr>
      <vt:lpstr>Aptos Narrow</vt:lpstr>
      <vt:lpstr>Arial</vt:lpstr>
      <vt:lpstr>Arial Black</vt:lpstr>
      <vt:lpstr>Calibri</vt:lpstr>
      <vt:lpstr>Calibri Light</vt:lpstr>
      <vt:lpstr>Courier New</vt:lpstr>
      <vt:lpstr>Helvetica Neue</vt:lpstr>
      <vt:lpstr>Symbol</vt:lpstr>
      <vt:lpstr>Times New Roman</vt:lpstr>
      <vt:lpstr>Wingdings</vt:lpstr>
      <vt:lpstr>Thème Office</vt:lpstr>
      <vt:lpstr>Présentation PowerPoint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</vt:lpstr>
      <vt:lpstr>Instructions de vente 5 Février au 4 mars 2025 </vt:lpstr>
      <vt:lpstr>Instructions de vente 5 Février au 4 mars 2025 </vt:lpstr>
      <vt:lpstr>Instructions de vente 5 Février au 4 mars 2025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Cindy Angelini</dc:creator>
  <cp:lastModifiedBy>Veronique Dion</cp:lastModifiedBy>
  <cp:revision>1578</cp:revision>
  <cp:lastPrinted>2022-04-27T14:46:34Z</cp:lastPrinted>
  <dcterms:created xsi:type="dcterms:W3CDTF">2017-05-24T18:44:46Z</dcterms:created>
  <dcterms:modified xsi:type="dcterms:W3CDTF">2025-02-14T14:22:52Z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0x010100DF7642783BF5F549AD8264003DAC5479</vt:lpwstr>
  </property>
  <property fmtid="{D5CDD505-2E9C-101B-9397-08002B2CF9AE}" pid="3" name="CPProgramYearTaxo">
    <vt:lpwstr>395;#2021|67d85b28-9b94-4781-b0e7-a14780e90c05</vt:lpwstr>
  </property>
  <property fmtid="{D5CDD505-2E9C-101B-9397-08002B2CF9AE}" pid="4" name="CPDivisionTaxo">
    <vt:lpwstr>25;#Marketing / Marketing|0ce858d0-7a7f-4510-bcd3-2b6f6fd047da</vt:lpwstr>
  </property>
  <property fmtid="{D5CDD505-2E9C-101B-9397-08002B2CF9AE}" pid="5" name="CPLanguageTaxos">
    <vt:lpwstr>4;#FR|5610c2fe-5657-4d60-b756-13a60f4693e4</vt:lpwstr>
  </property>
  <property fmtid="{D5CDD505-2E9C-101B-9397-08002B2CF9AE}" pid="6" name="CPProviderTaxo">
    <vt:lpwstr/>
  </property>
  <property fmtid="{D5CDD505-2E9C-101B-9397-08002B2CF9AE}" pid="7" name="CPTargetDepartmentTaxos">
    <vt:lpwstr/>
  </property>
</Properties>
</file>