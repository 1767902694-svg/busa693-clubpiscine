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65" r:id="rId5"/>
    <p:sldId id="281" r:id="rId6"/>
    <p:sldId id="276" r:id="rId7"/>
    <p:sldId id="285" r:id="rId8"/>
    <p:sldId id="275" r:id="rId9"/>
    <p:sldId id="267" r:id="rId10"/>
    <p:sldId id="270" r:id="rId11"/>
    <p:sldId id="266" r:id="rId12"/>
    <p:sldId id="273" r:id="rId13"/>
    <p:sldId id="272" r:id="rId14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47AB"/>
    <a:srgbClr val="3068D9"/>
    <a:srgbClr val="218BCB"/>
    <a:srgbClr val="7FCDE9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>
      <p:cViewPr varScale="1">
        <p:scale>
          <a:sx n="79" d="100"/>
          <a:sy n="79" d="100"/>
        </p:scale>
        <p:origin x="314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28/02/2025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2025-02-28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2025-02-28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2025-02-28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2025-02-28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2025-02-28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2025-02-28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2025-02-28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2025-02-28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2025-02-28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2025-02-28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2025-02-28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2025-02-28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image" Target="../media/image1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image" Target="../media/image2.png"/><Relationship Id="rId5" Type="http://schemas.openxmlformats.org/officeDocument/2006/relationships/tags" Target="../tags/tag3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4.xml"/><Relationship Id="rId9" Type="http://schemas.openxmlformats.org/officeDocument/2006/relationships/tags" Target="../tags/tag3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10" Type="http://schemas.openxmlformats.org/officeDocument/2006/relationships/image" Target="../media/image1.png"/><Relationship Id="rId4" Type="http://schemas.openxmlformats.org/officeDocument/2006/relationships/tags" Target="../tags/tag43.xml"/><Relationship Id="rId9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5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56.xml"/><Relationship Id="rId7" Type="http://schemas.openxmlformats.org/officeDocument/2006/relationships/image" Target="../media/image3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hyperlink" Target="https://www.clubpiscine.ca/fr/financement" TargetMode="Externa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7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252637"/>
            <a:ext cx="6408713" cy="49705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principaux changements:</a:t>
            </a:r>
            <a:endParaRPr lang="fr-CA" sz="12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SPA 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750$ de rabais sur tous les SOLSTICE &amp; 500$ de rabais sur tous les JACUZZI + 12 mois sans paiement ni intérêt ou 48 mois à 5.99%.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SPA DE NAGE: 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Aucun rabais mais promotion </a:t>
            </a:r>
            <a:r>
              <a:rPr lang="fr-CA" sz="1200" dirty="0" err="1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Rollaway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gratuit du 21 mars au 1</a:t>
            </a:r>
            <a:r>
              <a:rPr lang="fr-CA" sz="1200" baseline="300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er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avril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CREUSÉE: 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Jusqu’à 4000$ sur  les piscines creusées + thermopompe 50K BTU incluse (avec installation) + carte cadeau Club Piscine de 2000$!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FIBRE:  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Nouvelle structure de prix 2025. Même rabais en cours + combo </a:t>
            </a:r>
            <a:r>
              <a:rPr lang="fr-CA" sz="1200" dirty="0" err="1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chlorinateur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Moov et thermopompe Solstice 50k BTU offerts à 50% de rabais!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 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Rabais de 1000$ sur toutes les piscines hors terre + 400$ de rabais sur une thermopompe (toute thermopompe confondues) + carte promo de 500$.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cs typeface="Times New Roman" panose="02020603050405020304" pitchFamily="18" charset="0"/>
              </a:rPr>
              <a:t>THERMO</a:t>
            </a:r>
            <a:r>
              <a:rPr lang="fr-CA" sz="1200" dirty="0">
                <a:latin typeface="Nunito" pitchFamily="2" charset="0"/>
                <a:cs typeface="Times New Roman" panose="02020603050405020304" pitchFamily="18" charset="0"/>
              </a:rPr>
              <a:t>:  200$ de rabais sur les thermopompes Solstice et 100$ de rabais sur les TTI ECOLO 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MEUBLE: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Ajouts des nouveautés 2025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PROMO: On paye l’équivalent des 2 taxes + 12 mois sans paiement ni intérêt.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altLang="fr-FR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Meubles LIQUIDATION 2024 : même prix que février pour le reste de la saison.</a:t>
            </a:r>
            <a:endParaRPr lang="fr-CA" sz="1200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fr-CA" sz="11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9954BF8A-DD31-9DF8-A9CE-38C033095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81EABBC-C49F-FFC2-4E49-3F25AF558C54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5 mars au 1er avril 2025</a:t>
            </a:r>
          </a:p>
        </p:txBody>
      </p:sp>
      <p:pic>
        <p:nvPicPr>
          <p:cNvPr id="5" name="Image 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A011CA4-D025-2CF7-B847-8536ABDB2C7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50475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</a:rPr>
              <a:t>JACUZZI 2025</a:t>
            </a:r>
            <a:endParaRPr lang="fr-CA" sz="1400" dirty="0">
              <a:latin typeface="Nunito" pitchFamily="2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dirty="0">
                <a:latin typeface="Nunito" pitchFamily="2" charset="0"/>
              </a:rPr>
              <a:t>500$ de rabais sur tous les JACUZZI + 12 mois sans paiement ni intérêt (</a:t>
            </a:r>
            <a:r>
              <a:rPr lang="fr-FR" sz="1400" b="1" dirty="0">
                <a:latin typeface="Nunito" pitchFamily="2" charset="0"/>
              </a:rPr>
              <a:t>code 12120</a:t>
            </a:r>
            <a:r>
              <a:rPr lang="fr-FR" sz="1400" dirty="0">
                <a:latin typeface="Nunito" pitchFamily="2" charset="0"/>
              </a:rPr>
              <a:t>) </a:t>
            </a:r>
            <a:r>
              <a:rPr lang="fr-FR" sz="1400" u="sng" dirty="0">
                <a:latin typeface="Nunito" pitchFamily="2" charset="0"/>
              </a:rPr>
              <a:t>ou</a:t>
            </a:r>
            <a:r>
              <a:rPr lang="fr-FR" sz="1400" dirty="0">
                <a:latin typeface="Nunito" pitchFamily="2" charset="0"/>
              </a:rPr>
              <a:t> 48mois à 5.99% (</a:t>
            </a:r>
            <a:r>
              <a:rPr lang="fr-FR" sz="1400" b="1" dirty="0">
                <a:latin typeface="Nunito" pitchFamily="2" charset="0"/>
              </a:rPr>
              <a:t>code 36485</a:t>
            </a:r>
            <a:r>
              <a:rPr lang="fr-FR" sz="1400" dirty="0">
                <a:latin typeface="Nunito" pitchFamily="2" charset="0"/>
              </a:rPr>
              <a:t>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400" dirty="0">
                <a:latin typeface="Nunito" pitchFamily="2" charset="0"/>
              </a:rPr>
              <a:t>Si pas de financement, on enlève 500$ sur les JACUZZI J200 &amp; 750$ sur les JACUZZI J300-J400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400" dirty="0">
                <a:latin typeface="Nunito" pitchFamily="2" charset="0"/>
              </a:rPr>
              <a:t>Le levier, la marche, le GFCI sont </a:t>
            </a:r>
            <a:r>
              <a:rPr lang="fr-CA" sz="1400" b="1" dirty="0">
                <a:latin typeface="Nunito" pitchFamily="2" charset="0"/>
              </a:rPr>
              <a:t>INCLUS</a:t>
            </a:r>
            <a:r>
              <a:rPr lang="fr-CA" sz="1400" dirty="0">
                <a:latin typeface="Nunito" pitchFamily="2" charset="0"/>
              </a:rPr>
              <a:t>.</a:t>
            </a:r>
            <a:endParaRPr lang="fr-FR" sz="1400" b="1" dirty="0">
              <a:latin typeface="Nunito" pitchFamily="2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dirty="0">
                <a:latin typeface="Nunito" pitchFamily="2" charset="0"/>
              </a:rPr>
              <a:t>La livraison </a:t>
            </a:r>
            <a:r>
              <a:rPr lang="fr-FR" sz="1400" b="1" dirty="0">
                <a:latin typeface="Nunito" pitchFamily="2" charset="0"/>
              </a:rPr>
              <a:t>N’EST PAS INCLUSE</a:t>
            </a:r>
          </a:p>
          <a:p>
            <a:endParaRPr lang="fr-CA" sz="1400" b="1" dirty="0">
              <a:latin typeface="Nunito" pitchFamily="2" charset="0"/>
            </a:endParaRPr>
          </a:p>
          <a:p>
            <a:r>
              <a:rPr lang="fr-FR" sz="1400" b="1" dirty="0">
                <a:effectLst/>
                <a:latin typeface="Nunito" pitchFamily="2" charset="0"/>
              </a:rPr>
              <a:t>TROUSSE 2025</a:t>
            </a:r>
          </a:p>
          <a:p>
            <a:r>
              <a:rPr lang="fr-FR" sz="1400" dirty="0">
                <a:effectLst/>
                <a:latin typeface="Nunito" pitchFamily="2" charset="0"/>
              </a:rPr>
              <a:t>Tous les modèles viennent avec la promotion ‘’Trousse énergétique </a:t>
            </a:r>
            <a:r>
              <a:rPr lang="fr-FR" sz="1400" dirty="0" err="1">
                <a:effectLst/>
                <a:latin typeface="Nunito" pitchFamily="2" charset="0"/>
              </a:rPr>
              <a:t>SmartTub</a:t>
            </a:r>
            <a:r>
              <a:rPr lang="fr-FR" sz="1400" dirty="0">
                <a:effectLst/>
                <a:latin typeface="Nunito" pitchFamily="2" charset="0"/>
              </a:rPr>
              <a:t> </a:t>
            </a:r>
            <a:r>
              <a:rPr lang="fr-FR" sz="1400" dirty="0" err="1">
                <a:effectLst/>
                <a:latin typeface="Nunito" pitchFamily="2" charset="0"/>
              </a:rPr>
              <a:t>play</a:t>
            </a:r>
            <a:r>
              <a:rPr lang="fr-FR" sz="1400" dirty="0">
                <a:effectLst/>
                <a:latin typeface="Nunito" pitchFamily="2" charset="0"/>
              </a:rPr>
              <a:t>’’ d’une valeur ajoutée de 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200" b="1" dirty="0">
                <a:latin typeface="Nunito" pitchFamily="2" charset="0"/>
                <a:cs typeface="Times New Roman" panose="02020603050405020304" pitchFamily="18" charset="0"/>
              </a:rPr>
              <a:t>1998$ </a:t>
            </a:r>
            <a:r>
              <a:rPr lang="fr-FR" sz="1200" dirty="0">
                <a:latin typeface="Nunito" pitchFamily="2" charset="0"/>
                <a:cs typeface="Times New Roman" panose="02020603050405020304" pitchFamily="18" charset="0"/>
              </a:rPr>
              <a:t>sur la série J-300 incluant l'application Smart Tub + la couverture </a:t>
            </a:r>
            <a:r>
              <a:rPr lang="fr-FR" sz="12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2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2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r>
              <a:rPr lang="fr-FR" sz="1200" dirty="0">
                <a:latin typeface="Nunito" pitchFamily="2" charset="0"/>
                <a:cs typeface="Times New Roman" panose="02020603050405020304" pitchFamily="18" charset="0"/>
              </a:rPr>
              <a:t> + l'isolation Smart Seal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200" b="1" dirty="0">
                <a:latin typeface="Nunito" pitchFamily="2" charset="0"/>
                <a:cs typeface="Times New Roman" panose="02020603050405020304" pitchFamily="18" charset="0"/>
              </a:rPr>
              <a:t>999$ </a:t>
            </a:r>
            <a:r>
              <a:rPr lang="fr-FR" sz="1200" dirty="0">
                <a:latin typeface="Nunito" pitchFamily="2" charset="0"/>
                <a:cs typeface="Times New Roman" panose="02020603050405020304" pitchFamily="18" charset="0"/>
              </a:rPr>
              <a:t>sur la série J-400 incluant la couverture </a:t>
            </a:r>
            <a:r>
              <a:rPr lang="fr-FR" sz="12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2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2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r>
              <a:rPr lang="fr-FR" sz="1200" dirty="0">
                <a:latin typeface="Nunito" pitchFamily="2" charset="0"/>
                <a:cs typeface="Times New Roman" panose="02020603050405020304" pitchFamily="18" charset="0"/>
              </a:rPr>
              <a:t> + l'isolation Smart Seal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200" b="1" dirty="0">
                <a:latin typeface="Nunito" pitchFamily="2" charset="0"/>
                <a:cs typeface="Times New Roman" panose="02020603050405020304" pitchFamily="18" charset="0"/>
              </a:rPr>
              <a:t>300$ </a:t>
            </a:r>
            <a:r>
              <a:rPr lang="fr-FR" sz="1200" dirty="0">
                <a:latin typeface="Nunito" pitchFamily="2" charset="0"/>
                <a:cs typeface="Times New Roman" panose="02020603050405020304" pitchFamily="18" charset="0"/>
              </a:rPr>
              <a:t>sur la série J-LX incluant la couverture </a:t>
            </a:r>
            <a:r>
              <a:rPr lang="fr-FR" sz="12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2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2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endParaRPr lang="fr-FR" sz="1200" dirty="0">
              <a:latin typeface="Nunito" pitchFamily="2" charset="0"/>
              <a:cs typeface="Times New Roman" panose="02020603050405020304" pitchFamily="18" charset="0"/>
            </a:endParaRP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200" dirty="0">
                <a:latin typeface="Nunito" pitchFamily="2" charset="0"/>
                <a:cs typeface="Times New Roman" panose="02020603050405020304" pitchFamily="18" charset="0"/>
              </a:rPr>
              <a:t>Trousse en option sur la série J-200 d'une valeur de 1299$ incluant l'application Smart Tub et la couverture </a:t>
            </a:r>
            <a:r>
              <a:rPr lang="fr-FR" sz="12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2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2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endParaRPr lang="fr-FR" sz="1200" dirty="0">
              <a:latin typeface="Nunito" pitchFamily="2" charset="0"/>
              <a:cs typeface="Times New Roman" panose="02020603050405020304" pitchFamily="18" charset="0"/>
            </a:endParaRPr>
          </a:p>
          <a:p>
            <a:r>
              <a:rPr lang="fr-FR" sz="1400" dirty="0">
                <a:effectLst/>
                <a:latin typeface="Nunito" pitchFamily="2" charset="0"/>
              </a:rPr>
              <a:t> </a:t>
            </a:r>
            <a:endParaRPr lang="fr-CA" dirty="0"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TAPIS CHAUFFANTS</a:t>
            </a:r>
            <a:r>
              <a:rPr lang="fr-CA" sz="1400" dirty="0">
                <a:latin typeface="Nunito" pitchFamily="2" charset="0"/>
              </a:rPr>
              <a:t>: Rabais de 20% sur tous les tapis chauffants à prix réguliers.</a:t>
            </a:r>
          </a:p>
          <a:p>
            <a:endParaRPr lang="fr-CA" sz="1400" dirty="0"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PUBLICITÉ</a:t>
            </a:r>
            <a:r>
              <a:rPr lang="fr-CA" sz="1400" dirty="0">
                <a:latin typeface="Nunito" pitchFamily="2" charset="0"/>
              </a:rPr>
              <a:t>: La promotion jusqu’à 2498$ de rabais et avantages comprend 500$ de rabais + 1998$ Trousse d’économie d’énergie sur la série 300</a:t>
            </a:r>
            <a:r>
              <a:rPr lang="fr-CA" sz="1200" dirty="0">
                <a:latin typeface="Nunito" pitchFamily="2" charset="0"/>
              </a:rPr>
              <a:t>.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sp>
        <p:nvSpPr>
          <p:cNvPr id="9" name="Zone de texte 28">
            <a:extLst>
              <a:ext uri="{FF2B5EF4-FFF2-40B4-BE49-F238E27FC236}">
                <a16:creationId xmlns:a16="http://schemas.microsoft.com/office/drawing/2014/main" id="{BF7464D2-8A1C-6390-AFDD-26707DAEF7FD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0023B-B8AE-62B5-EBA4-FD4F7CFFF51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</a:t>
            </a:r>
          </a:p>
        </p:txBody>
      </p:sp>
      <p:pic>
        <p:nvPicPr>
          <p:cNvPr id="15" name="Image 1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FBDB696A-4C0C-3F06-1951-1FFE6A5440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EC90878E-C259-7E50-05ED-F152041D84BD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5 mars au 1er avril 2025</a:t>
            </a:r>
          </a:p>
        </p:txBody>
      </p:sp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46474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200" dirty="0"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SOLSTICE 2025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dirty="0">
                <a:latin typeface="Nunito" pitchFamily="2" charset="0"/>
              </a:rPr>
              <a:t>750$ de rabais sur tous les SOLSTICE 12 mois sans paiement (</a:t>
            </a:r>
            <a:r>
              <a:rPr lang="fr-FR" sz="1400" b="1" dirty="0">
                <a:latin typeface="Nunito" pitchFamily="2" charset="0"/>
              </a:rPr>
              <a:t>code 12120</a:t>
            </a:r>
            <a:r>
              <a:rPr lang="fr-FR" sz="1400" dirty="0">
                <a:latin typeface="Nunito" pitchFamily="2" charset="0"/>
              </a:rPr>
              <a:t>) </a:t>
            </a:r>
            <a:r>
              <a:rPr lang="fr-FR" sz="1400" u="sng" dirty="0">
                <a:latin typeface="Nunito" pitchFamily="2" charset="0"/>
              </a:rPr>
              <a:t>ou</a:t>
            </a:r>
            <a:r>
              <a:rPr lang="fr-FR" sz="1400" dirty="0">
                <a:latin typeface="Nunito" pitchFamily="2" charset="0"/>
              </a:rPr>
              <a:t> 48mois à 5.99% (</a:t>
            </a:r>
            <a:r>
              <a:rPr lang="fr-FR" sz="1400" b="1" dirty="0">
                <a:latin typeface="Nunito" pitchFamily="2" charset="0"/>
              </a:rPr>
              <a:t>code 36485</a:t>
            </a:r>
            <a:r>
              <a:rPr lang="fr-FR" sz="1400" dirty="0">
                <a:latin typeface="Nunito" pitchFamily="2" charset="0"/>
              </a:rPr>
              <a:t>).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400" dirty="0">
                <a:latin typeface="Nunito" pitchFamily="2" charset="0"/>
              </a:rPr>
              <a:t>Si pas de financement, on enlève 500$ sur les SOLSTICE .</a:t>
            </a:r>
          </a:p>
          <a:p>
            <a:endParaRPr lang="fr-FR" sz="1400" dirty="0">
              <a:latin typeface="Nunito" pitchFamily="2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>
                <a:latin typeface="Nunito" pitchFamily="2" charset="0"/>
              </a:rPr>
              <a:t>PROMO: OBTENEZ 2 SERVIETTES SOLSTICE À L’ACHAT D’UN SPA </a:t>
            </a:r>
            <a:r>
              <a:rPr lang="fr-CA" sz="1400" dirty="0">
                <a:latin typeface="Nunito" pitchFamily="2" charset="0"/>
              </a:rPr>
              <a:t>(</a:t>
            </a:r>
            <a:r>
              <a:rPr lang="fr-CA" sz="1400" i="1" dirty="0">
                <a:latin typeface="Nunito" pitchFamily="2" charset="0"/>
              </a:rPr>
              <a:t>PTR 173988)</a:t>
            </a:r>
            <a:r>
              <a:rPr lang="fr-CA" sz="1400" dirty="0">
                <a:latin typeface="Nunito" pitchFamily="2" charset="0"/>
              </a:rPr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>
                <a:latin typeface="Nunito" pitchFamily="2" charset="0"/>
              </a:rPr>
              <a:t>Le levier, la marche, le GFCI sont </a:t>
            </a:r>
            <a:r>
              <a:rPr lang="fr-CA" sz="1400" b="1" dirty="0">
                <a:latin typeface="Nunito" pitchFamily="2" charset="0"/>
              </a:rPr>
              <a:t>INCLUS</a:t>
            </a:r>
            <a:r>
              <a:rPr lang="fr-CA" sz="1400" dirty="0">
                <a:latin typeface="Nunito" pitchFamily="2" charset="0"/>
              </a:rPr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>
                <a:latin typeface="Nunito" pitchFamily="2" charset="0"/>
              </a:rPr>
              <a:t>La livraison </a:t>
            </a:r>
            <a:r>
              <a:rPr lang="fr-CA" sz="1400" b="1" dirty="0">
                <a:latin typeface="Nunito" pitchFamily="2" charset="0"/>
              </a:rPr>
              <a:t>N’EST PAS INCLUSE</a:t>
            </a:r>
          </a:p>
          <a:p>
            <a:pPr lvl="0"/>
            <a:endParaRPr lang="fr-CA" sz="1400" b="1" dirty="0"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TAPIS CHAUFFANTS</a:t>
            </a:r>
            <a:r>
              <a:rPr lang="fr-CA" sz="1400" dirty="0">
                <a:latin typeface="Nunito" pitchFamily="2" charset="0"/>
              </a:rPr>
              <a:t>: Rabais de 20% sur tous les tapis chauffants à prix réguliers.</a:t>
            </a:r>
          </a:p>
          <a:p>
            <a:endParaRPr lang="fr-CA" sz="1400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400" dirty="0"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INNOVAPSA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Spa Blizzard édition limitée en promotion à  6999$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Aucun rabais sur les autres modèles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Aucune promotion de financement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La livraison n’est pas incluse.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C6CA8B6-F6D3-0B7F-1920-ACB8FA7910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9" name="Zone de texte 28">
            <a:extLst>
              <a:ext uri="{FF2B5EF4-FFF2-40B4-BE49-F238E27FC236}">
                <a16:creationId xmlns:a16="http://schemas.microsoft.com/office/drawing/2014/main" id="{DD06B021-6AF8-E12B-F76A-1801672E7A2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D7BAEE-A4DA-F4F1-9BDE-F27C81344C9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6855BF8-9912-892D-C2CA-F1623A1A65DF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5 mars au 1er avril 2025</a:t>
            </a:r>
          </a:p>
        </p:txBody>
      </p:sp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latin typeface="Nunito" pitchFamily="2" charset="0"/>
              </a:rPr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Aucun rabais en cours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PROMO DU MANUFACTURIER: </a:t>
            </a:r>
            <a:r>
              <a:rPr lang="fr-CA" sz="1600" dirty="0" err="1">
                <a:latin typeface="Nunito" pitchFamily="2" charset="0"/>
              </a:rPr>
              <a:t>Rollaway</a:t>
            </a:r>
            <a:r>
              <a:rPr lang="fr-CA" sz="1600" dirty="0">
                <a:latin typeface="Nunito" pitchFamily="2" charset="0"/>
              </a:rPr>
              <a:t> GRATUIT à l’achat d’un spa de nage Jacuzzi (J13 exclu). La commande doit être passée entre le </a:t>
            </a:r>
            <a:r>
              <a:rPr lang="fr-CA" sz="1600" b="1" dirty="0">
                <a:latin typeface="Nunito" pitchFamily="2" charset="0"/>
              </a:rPr>
              <a:t>21 mars au 1</a:t>
            </a:r>
            <a:r>
              <a:rPr lang="fr-CA" sz="1600" b="1" baseline="30000" dirty="0">
                <a:latin typeface="Nunito" pitchFamily="2" charset="0"/>
              </a:rPr>
              <a:t>er</a:t>
            </a:r>
            <a:r>
              <a:rPr lang="fr-CA" sz="1600" b="1" dirty="0">
                <a:latin typeface="Nunito" pitchFamily="2" charset="0"/>
              </a:rPr>
              <a:t> avril </a:t>
            </a:r>
            <a:r>
              <a:rPr lang="fr-CA" sz="1600" dirty="0">
                <a:latin typeface="Nunito" pitchFamily="2" charset="0"/>
              </a:rPr>
              <a:t>inclusivement.</a:t>
            </a:r>
            <a:endParaRPr lang="fr-FR" sz="16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La livraison et frais de grue </a:t>
            </a:r>
            <a:r>
              <a:rPr lang="fr-CA" sz="1600" b="1" dirty="0">
                <a:latin typeface="Nunito" pitchFamily="2" charset="0"/>
              </a:rPr>
              <a:t>NE SONT PAS INCLUS.</a:t>
            </a:r>
          </a:p>
          <a:p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88D168-C6BD-83A0-A7A2-5C74FEE645C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1334" y="4699173"/>
            <a:ext cx="6408713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Aucun changement. Voir rabais en cours sur tous les PURE CUBE.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Comme il y a des prix MAP, ces rabais sont valides en magasins seulement et non en ligne.</a:t>
            </a:r>
            <a:endParaRPr lang="fr-CA" sz="2000" dirty="0">
              <a:latin typeface="Nunito" pitchFamily="2" charset="0"/>
            </a:endParaRPr>
          </a:p>
          <a:p>
            <a:endParaRPr lang="fr-CA" sz="1600" b="1" dirty="0"/>
          </a:p>
        </p:txBody>
      </p:sp>
      <p:pic>
        <p:nvPicPr>
          <p:cNvPr id="7" name="Image 6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F116E73-58FD-C6F8-E221-1B211D4230B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5" name="Zone de texte 28">
            <a:extLst>
              <a:ext uri="{FF2B5EF4-FFF2-40B4-BE49-F238E27FC236}">
                <a16:creationId xmlns:a16="http://schemas.microsoft.com/office/drawing/2014/main" id="{803D3DD9-0B1A-2A12-6DE0-70C14288669F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0C2A7-721D-11B3-CB7C-19ACD845385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 DE NAGE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52C64BA-8CAE-8C04-5537-DA47EC75BA46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5 mars au 1er avril 2025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D80F65-8900-D6B8-DB06-977F8F09247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5" y="4159237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SAUNAS</a:t>
            </a:r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232318"/>
            <a:ext cx="6408713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>
                <a:latin typeface="Nunito" pitchFamily="2" charset="0"/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PROMO</a:t>
            </a:r>
            <a:r>
              <a:rPr lang="fr-FR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Jusqu’à 4000$ de rabais sur les piscines en acier  + thermopompe 50K BTU SOLSTICE INCLUSE (l’installation de la thermopompe est incluse aussi)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b="1" dirty="0">
                <a:latin typeface="Nunito" pitchFamily="2" charset="0"/>
              </a:rPr>
              <a:t>CARTE- CADEAU DE 2000$ </a:t>
            </a:r>
            <a:r>
              <a:rPr lang="fr-CA" sz="1200" dirty="0">
                <a:latin typeface="Nunito" pitchFamily="2" charset="0"/>
              </a:rPr>
              <a:t>: Avec tout achat de creusée, on remet une carte-cadeau Club Piscine de 2000$ que l’on remet lors de la livraison de la piscine donc applicable sur un achat ultérieur.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Voir Annexes CREUSÉE pour le détail des rabais.</a:t>
            </a:r>
          </a:p>
          <a:p>
            <a:endParaRPr lang="fr-CA" sz="1200" dirty="0">
              <a:latin typeface="Nunito" pitchFamily="2" charset="0"/>
            </a:endParaRPr>
          </a:p>
          <a:p>
            <a:r>
              <a:rPr lang="fr-CA" sz="1200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Bracelet </a:t>
            </a:r>
            <a:r>
              <a:rPr lang="fr-CA" sz="1200" b="1" dirty="0">
                <a:latin typeface="Nunito" pitchFamily="2" charset="0"/>
              </a:rPr>
              <a:t>SURVEILLANT DÉSIGNÉ</a:t>
            </a:r>
            <a:r>
              <a:rPr lang="fr-CA" sz="1200" dirty="0">
                <a:latin typeface="Nunito" pitchFamily="2" charset="0"/>
              </a:rPr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2 serviettes Club Piscine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60647" y="4983137"/>
            <a:ext cx="6408713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>
                <a:latin typeface="Nunito" pitchFamily="2" charset="0"/>
                <a:sym typeface="Wingdings" panose="05000000000000000000" pitchFamily="2" charset="2"/>
              </a:rPr>
              <a:t>MOVA</a:t>
            </a:r>
            <a:endParaRPr lang="fr-CA" sz="12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Aucun changement. Rabais de jusqu’à 4500$ </a:t>
            </a:r>
            <a:r>
              <a:rPr lang="fr-CA" sz="1200" dirty="0">
                <a:latin typeface="Nunito" pitchFamily="2" charset="0"/>
              </a:rPr>
              <a:t>sur certains modèles MOVA équipées et installées (rabais de 2500$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COMBO </a:t>
            </a:r>
            <a:r>
              <a:rPr lang="fr-CA" sz="1200" b="1" dirty="0" err="1">
                <a:latin typeface="Nunito" pitchFamily="2" charset="0"/>
              </a:rPr>
              <a:t>Chlorinateur+Thermopome</a:t>
            </a:r>
            <a:r>
              <a:rPr lang="fr-CA" sz="1200" b="1" dirty="0">
                <a:latin typeface="Nunito" pitchFamily="2" charset="0"/>
              </a:rPr>
              <a:t> offert à 50% de rabais: </a:t>
            </a:r>
            <a:r>
              <a:rPr lang="fr-CA" sz="1200" dirty="0">
                <a:latin typeface="Nunito" pitchFamily="2" charset="0"/>
              </a:rPr>
              <a:t>Comprend le combo Thermopompe Solstice 50k BTU et le </a:t>
            </a:r>
            <a:r>
              <a:rPr lang="fr-CA" sz="1200" dirty="0" err="1">
                <a:latin typeface="Nunito" pitchFamily="2" charset="0"/>
              </a:rPr>
              <a:t>chlorinateur</a:t>
            </a:r>
            <a:r>
              <a:rPr lang="fr-CA" sz="1200" dirty="0">
                <a:latin typeface="Nunito" pitchFamily="2" charset="0"/>
              </a:rPr>
              <a:t> au sel MOOV </a:t>
            </a:r>
            <a:r>
              <a:rPr lang="fr-CA" sz="1200" dirty="0" err="1">
                <a:latin typeface="Nunito" pitchFamily="2" charset="0"/>
              </a:rPr>
              <a:t>minisalt</a:t>
            </a:r>
            <a:r>
              <a:rPr lang="fr-CA" sz="1200" dirty="0">
                <a:latin typeface="Nunito" pitchFamily="2" charset="0"/>
              </a:rPr>
              <a:t> 50k L (ou équivalent).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Aucune promotion de financement.</a:t>
            </a:r>
            <a:endParaRPr lang="fr-CA" sz="1200" b="1" dirty="0">
              <a:latin typeface="Nunito" pitchFamily="2" charset="0"/>
            </a:endParaRPr>
          </a:p>
          <a:p>
            <a:endParaRPr lang="fr-CA" sz="1200" b="1" dirty="0">
              <a:latin typeface="Nunito" pitchFamily="2" charset="0"/>
              <a:sym typeface="Wingdings" panose="05000000000000000000" pitchFamily="2" charset="2"/>
            </a:endParaRPr>
          </a:p>
          <a:p>
            <a:r>
              <a:rPr lang="fr-CA" sz="1200" b="1" dirty="0">
                <a:latin typeface="Nunito" pitchFamily="2" charset="0"/>
                <a:sym typeface="Wingdings" panose="05000000000000000000" pitchFamily="2" charset="2"/>
              </a:rPr>
              <a:t>AQUARINO</a:t>
            </a:r>
            <a:endParaRPr lang="fr-CA" sz="12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jusqu’à 7500$ </a:t>
            </a:r>
            <a:r>
              <a:rPr lang="fr-CA" sz="1200" dirty="0">
                <a:latin typeface="Nunito" pitchFamily="2" charset="0"/>
              </a:rPr>
              <a:t>sur certaines piscines AQUARINO équipées et installées (rabais de 3500$ si piscine seule).</a:t>
            </a:r>
            <a:endParaRPr lang="fr-CA" sz="12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COMBO </a:t>
            </a:r>
            <a:r>
              <a:rPr lang="fr-CA" sz="1200" b="1" dirty="0" err="1">
                <a:latin typeface="Nunito" pitchFamily="2" charset="0"/>
              </a:rPr>
              <a:t>Chlorinateur+Thermopome</a:t>
            </a:r>
            <a:r>
              <a:rPr lang="fr-CA" sz="1200" b="1" dirty="0">
                <a:latin typeface="Nunito" pitchFamily="2" charset="0"/>
              </a:rPr>
              <a:t> offert à 50% de rabais: </a:t>
            </a:r>
            <a:r>
              <a:rPr lang="fr-CA" sz="1200" dirty="0">
                <a:latin typeface="Nunito" pitchFamily="2" charset="0"/>
              </a:rPr>
              <a:t>Comprend le combo Thermopompe Solstice 50k BTU et le </a:t>
            </a:r>
            <a:r>
              <a:rPr lang="fr-CA" sz="1200" dirty="0" err="1">
                <a:latin typeface="Nunito" pitchFamily="2" charset="0"/>
              </a:rPr>
              <a:t>chlorinateur</a:t>
            </a:r>
            <a:r>
              <a:rPr lang="fr-CA" sz="1200" dirty="0">
                <a:latin typeface="Nunito" pitchFamily="2" charset="0"/>
              </a:rPr>
              <a:t> au sel MOOV </a:t>
            </a:r>
            <a:r>
              <a:rPr lang="fr-CA" sz="1200" dirty="0" err="1">
                <a:latin typeface="Nunito" pitchFamily="2" charset="0"/>
              </a:rPr>
              <a:t>minisalt</a:t>
            </a:r>
            <a:r>
              <a:rPr lang="fr-CA" sz="1200" dirty="0">
                <a:latin typeface="Nunito" pitchFamily="2" charset="0"/>
              </a:rPr>
              <a:t> 50k L (ou équivalent). Modèle TANZA exclu de la promotion.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200" dirty="0">
              <a:latin typeface="Nunito" pitchFamily="2" charset="0"/>
            </a:endParaRPr>
          </a:p>
          <a:p>
            <a:r>
              <a:rPr lang="fr-CA" sz="1200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Bracelet </a:t>
            </a:r>
            <a:r>
              <a:rPr lang="fr-CA" sz="1200" b="1" dirty="0">
                <a:latin typeface="Nunito" pitchFamily="2" charset="0"/>
              </a:rPr>
              <a:t>SURVEILLANT DÉSIGNÉ</a:t>
            </a:r>
            <a:r>
              <a:rPr lang="fr-CA" sz="1200" dirty="0">
                <a:latin typeface="Nunito" pitchFamily="2" charset="0"/>
              </a:rPr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2 serviettes Club Piscine</a:t>
            </a:r>
          </a:p>
        </p:txBody>
      </p:sp>
      <p:pic>
        <p:nvPicPr>
          <p:cNvPr id="5" name="Image 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F9DE325-0305-1050-A35E-EDF95C503DD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F8DB24-94C9-3783-C097-D47CC67D9AB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PISCINE CREUSÉE</a:t>
            </a:r>
          </a:p>
        </p:txBody>
      </p:sp>
      <p:sp>
        <p:nvSpPr>
          <p:cNvPr id="13" name="Zone de texte 28">
            <a:extLst>
              <a:ext uri="{FF2B5EF4-FFF2-40B4-BE49-F238E27FC236}">
                <a16:creationId xmlns:a16="http://schemas.microsoft.com/office/drawing/2014/main" id="{207F974E-CDE1-B3D2-4AF4-D970DF8EF676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9B8EF34-1CF2-9BEE-3BB0-D103FE85E517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5 mars au 1er avril 2025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289DE9-E0BA-D962-9F41-6A66F25ACEC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427984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FIBRE</a:t>
            </a:r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6" y="2233479"/>
            <a:ext cx="6408713" cy="2923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latin typeface="Nunito" pitchFamily="2" charset="0"/>
                <a:sym typeface="Wingdings" panose="05000000000000000000" pitchFamily="2" charset="2"/>
              </a:rPr>
              <a:t>CARVIN  &amp; TRENDIUM (VOGUE) </a:t>
            </a:r>
            <a:endParaRPr lang="fr-CA" sz="1600" dirty="0">
              <a:latin typeface="Nunito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Prendre liste de prix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1000$ </a:t>
            </a:r>
            <a:r>
              <a:rPr lang="fr-CA" sz="1200" dirty="0">
                <a:latin typeface="Nunito" pitchFamily="2" charset="0"/>
              </a:rPr>
              <a:t>sur toutes les piscines hors terre Seules, Équipées et Équipées &amp; Installées.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CARTE- CADEAU DE 500$ </a:t>
            </a:r>
            <a:r>
              <a:rPr lang="fr-CA" sz="1200" dirty="0">
                <a:latin typeface="Nunito" pitchFamily="2" charset="0"/>
              </a:rPr>
              <a:t>: Avec tout achat de hors terre, on remet une carte-cadeau Club Piscine de 500$ que l’on remet lors de la livraison de la piscine donc applicable sur un achat ultérieur.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400$</a:t>
            </a:r>
            <a:r>
              <a:rPr lang="fr-CA" sz="1200" dirty="0">
                <a:latin typeface="Nunito" pitchFamily="2" charset="0"/>
              </a:rPr>
              <a:t> sur prix régulier d’une thermopompe SOLSTICE, TTI ou Nirvana. L’installation de la Thermopompe et le By-pass ne </a:t>
            </a:r>
            <a:r>
              <a:rPr lang="fr-CA" sz="1200" b="1" dirty="0">
                <a:latin typeface="Nunito" pitchFamily="2" charset="0"/>
              </a:rPr>
              <a:t>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Aucune promotion de financement.</a:t>
            </a:r>
          </a:p>
          <a:p>
            <a:pPr lvl="1"/>
            <a:endParaRPr lang="fr-CA" sz="1200" b="1" dirty="0">
              <a:latin typeface="Nunito" pitchFamily="2" charset="0"/>
            </a:endParaRPr>
          </a:p>
          <a:p>
            <a:r>
              <a:rPr lang="fr-CA" sz="1200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Bracelet </a:t>
            </a:r>
            <a:r>
              <a:rPr lang="fr-CA" sz="1200" b="1" dirty="0">
                <a:latin typeface="Nunito" pitchFamily="2" charset="0"/>
              </a:rPr>
              <a:t>SURVEILLANT DÉSIGNÉ</a:t>
            </a:r>
            <a:r>
              <a:rPr lang="fr-CA" sz="1200" dirty="0">
                <a:latin typeface="Nunito" pitchFamily="2" charset="0"/>
              </a:rPr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2 serviettes Club Piscine</a:t>
            </a:r>
            <a:endParaRPr lang="fr-CA" sz="1600" dirty="0">
              <a:latin typeface="Nunito" pitchFamily="2" charset="0"/>
            </a:endParaRPr>
          </a:p>
        </p:txBody>
      </p:sp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1BC1BC2A-9BCB-D60B-BEF6-5F447431DE7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8" name="Zone de texte 28">
            <a:extLst>
              <a:ext uri="{FF2B5EF4-FFF2-40B4-BE49-F238E27FC236}">
                <a16:creationId xmlns:a16="http://schemas.microsoft.com/office/drawing/2014/main" id="{A18FB2CC-34EB-41CF-B693-31551C652A8D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7E8781-0BEE-9A81-2F83-51A7DA7432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HORS TERRE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71AE4CF-D514-F8DF-1114-475CE61A90C3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5 mars au 1er avril 2025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DB68E0-6050-2D62-4CF0-827C096C22F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1150" y="6005951"/>
            <a:ext cx="6408713" cy="18466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  <a:sym typeface="Wingdings" panose="05000000000000000000" pitchFamily="2" charset="2"/>
              </a:rPr>
              <a:t>AQUABOIS </a:t>
            </a:r>
            <a:endParaRPr lang="fr-CA" sz="1400" dirty="0">
              <a:latin typeface="Nunito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750$ </a:t>
            </a:r>
            <a:r>
              <a:rPr lang="fr-CA" sz="1200" dirty="0">
                <a:latin typeface="Nunito" pitchFamily="2" charset="0"/>
              </a:rPr>
              <a:t>sur le prix régulier de toutes les piscines de bois hors sol ou semi-creusées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Exception: La </a:t>
            </a:r>
            <a:r>
              <a:rPr lang="fr-CA" sz="1200" dirty="0" err="1">
                <a:latin typeface="Nunito" pitchFamily="2" charset="0"/>
              </a:rPr>
              <a:t>Tundra</a:t>
            </a:r>
            <a:r>
              <a:rPr lang="fr-CA" sz="1200" dirty="0">
                <a:latin typeface="Nunito" pitchFamily="2" charset="0"/>
              </a:rPr>
              <a:t> hors sol a 1250$ de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400$</a:t>
            </a:r>
            <a:r>
              <a:rPr lang="fr-CA" sz="1200" dirty="0">
                <a:latin typeface="Nunito" pitchFamily="2" charset="0"/>
              </a:rPr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L’installation de la Thermopompe et le By-pass ne </a:t>
            </a:r>
            <a:r>
              <a:rPr lang="fr-CA" sz="1200" b="1" dirty="0">
                <a:latin typeface="Nunito" pitchFamily="2" charset="0"/>
              </a:rPr>
              <a:t>sont pas inclus.</a:t>
            </a:r>
            <a:endParaRPr lang="fr-CA" sz="12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La teinture est incluse sur toutes les piscines</a:t>
            </a:r>
          </a:p>
          <a:p>
            <a:endParaRPr lang="fr-CA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32EE72-7192-6E45-BD4C-7FDB69B43BF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91150" y="5486218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BOIS</a:t>
            </a: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33479"/>
            <a:ext cx="6408713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latin typeface="Nunito" pitchFamily="2" charset="0"/>
              </a:rPr>
              <a:t>SOLSTICE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RABAIS DE 200$</a:t>
            </a:r>
            <a:r>
              <a:rPr lang="fr-CA" sz="1400" dirty="0">
                <a:latin typeface="Nunito" pitchFamily="2" charset="0"/>
              </a:rPr>
              <a:t> sur le prix RÉGULIER de toutes les Thermopompes SOLSTICE.</a:t>
            </a:r>
          </a:p>
          <a:p>
            <a:endParaRPr lang="fr-CA" sz="1200" dirty="0"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TTI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Rabais de 100$ sur tous les modèles TTI ECOLO.</a:t>
            </a:r>
          </a:p>
          <a:p>
            <a:endParaRPr lang="fr-CA" sz="1400" dirty="0">
              <a:effectLst/>
              <a:latin typeface="Nunito" pitchFamily="2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r>
              <a:rPr lang="fr-CA" sz="1400" dirty="0">
                <a:effectLst/>
                <a:latin typeface="Nunito" pitchFamily="2" charset="0"/>
                <a:ea typeface="Aptos" panose="020B0004020202020204" pitchFamily="34" charset="0"/>
                <a:cs typeface="Aptos" panose="020B0004020202020204" pitchFamily="34" charset="0"/>
              </a:rPr>
              <a:t>Fin des rabais Nirvana car ils sont à prix MAP.</a:t>
            </a:r>
            <a:endParaRPr lang="fr-CA" sz="14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75719" y="5175100"/>
            <a:ext cx="6408713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On poursuit le rabais en cours sur la pompe et filtreur Polaris. Voir Annexes ACC HORS TERRE.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latin typeface="Nunito" pitchFamily="2" charset="0"/>
            </a:endParaRPr>
          </a:p>
          <a:p>
            <a:endParaRPr lang="fr-FR" sz="1400" b="1" dirty="0">
              <a:highlight>
                <a:srgbClr val="7FCDE9"/>
              </a:highlight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Nunito" pitchFamily="2" charset="0"/>
              </a:rPr>
              <a:t>20% de </a:t>
            </a:r>
            <a:r>
              <a:rPr lang="en-CA" sz="1400" dirty="0" err="1">
                <a:latin typeface="Nunito" pitchFamily="2" charset="0"/>
              </a:rPr>
              <a:t>rabais</a:t>
            </a:r>
            <a:r>
              <a:rPr lang="en-CA" sz="1400" dirty="0">
                <a:latin typeface="Nunito" pitchFamily="2" charset="0"/>
              </a:rPr>
              <a:t> sur les tapis </a:t>
            </a:r>
            <a:r>
              <a:rPr lang="en-CA" sz="1400" dirty="0" err="1">
                <a:latin typeface="Nunito" pitchFamily="2" charset="0"/>
              </a:rPr>
              <a:t>chauffants</a:t>
            </a:r>
            <a:endParaRPr lang="en-CA" sz="1400" dirty="0">
              <a:latin typeface="Nunito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25CD56-A3C5-E20F-C93D-FD24C5FA850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24728" y="5792630"/>
            <a:ext cx="5705044" cy="15878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81760E0-A153-8420-8A21-63003B6588C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7236296"/>
            <a:ext cx="6408713" cy="7117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Enfant Soleil </a:t>
            </a:r>
            <a:r>
              <a:rPr lang="fr-CA" sz="1400" dirty="0">
                <a:latin typeface="Nunito" pitchFamily="2" charset="0"/>
              </a:rPr>
              <a:t>: Nous remettons 0.50$ à par pot de chlore Club Piscine vendu sur le 15kg granule </a:t>
            </a:r>
            <a:r>
              <a:rPr lang="fr-CA" sz="1400" b="1" dirty="0">
                <a:latin typeface="Nunito" pitchFamily="2" charset="0"/>
              </a:rPr>
              <a:t>et maintenant aussi sur les rondelles 8KG.</a:t>
            </a:r>
            <a:endParaRPr lang="fr-CA" sz="1400" dirty="0">
              <a:latin typeface="Nunito" pitchFamily="2" charset="0"/>
            </a:endParaRPr>
          </a:p>
        </p:txBody>
      </p:sp>
      <p:pic>
        <p:nvPicPr>
          <p:cNvPr id="10" name="Image 9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0A64D749-1287-65E1-ABCE-1C0A7A37478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3B4B115-CDE3-3FA8-DFF6-9AEC5F50A0E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THERMOPOMPE</a:t>
            </a:r>
          </a:p>
        </p:txBody>
      </p:sp>
      <p:sp>
        <p:nvSpPr>
          <p:cNvPr id="16" name="Zone de texte 28">
            <a:extLst>
              <a:ext uri="{FF2B5EF4-FFF2-40B4-BE49-F238E27FC236}">
                <a16:creationId xmlns:a16="http://schemas.microsoft.com/office/drawing/2014/main" id="{B5902CBF-27FA-CBD1-D98B-09085064DC06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E13C3C7-498F-2868-F3E7-23E8CD387CD5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5 mars au 1er avril 2025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37B070-540C-54E1-A4A0-1A8D25F2F9C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0648" y="4626439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ACCESSOIRES PISCINES ET SPAS 2025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44A4F1-67C6-4528-BA78-0C668B1C8B8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49415" y="6695507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CHIMIQUE</a:t>
            </a:r>
          </a:p>
        </p:txBody>
      </p:sp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23026"/>
            <a:ext cx="6408713" cy="2708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</a:rPr>
              <a:t>MEUBLES </a:t>
            </a:r>
          </a:p>
          <a:p>
            <a:endParaRPr lang="fr-CA" sz="14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Ajouts des nouveautés 2025!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RABAIS TAXES: </a:t>
            </a:r>
            <a:r>
              <a:rPr lang="fr-CA" sz="1400" dirty="0">
                <a:latin typeface="Nunito" pitchFamily="2" charset="0"/>
              </a:rPr>
              <a:t>Nous payons l’équivalent des 2 taxes + 12 mois sans paiement ni intérêt </a:t>
            </a:r>
            <a:r>
              <a:rPr lang="fr-FR" sz="1400" dirty="0">
                <a:latin typeface="Nunito" pitchFamily="2" charset="0"/>
              </a:rPr>
              <a:t>(</a:t>
            </a:r>
            <a:r>
              <a:rPr lang="fr-FR" sz="1400" b="1" dirty="0">
                <a:latin typeface="Nunito" pitchFamily="2" charset="0"/>
              </a:rPr>
              <a:t>code 12120</a:t>
            </a:r>
            <a:r>
              <a:rPr lang="fr-FR" sz="1400" dirty="0">
                <a:latin typeface="Nunito" pitchFamily="2" charset="0"/>
              </a:rPr>
              <a:t>) sur les meubles, parasols et accessoires sélectionnés. Voir annexes pour produits éligibles.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sz="1400" dirty="0">
                <a:latin typeface="Nunito" pitchFamily="2" charset="0"/>
              </a:rPr>
              <a:t>Aucun rabais additionnel si le client ne prend pas le financement.</a:t>
            </a:r>
            <a:endParaRPr lang="fr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EXCLUSION: Les imbattables (EDLP), CR plastic et </a:t>
            </a:r>
            <a:r>
              <a:rPr lang="fr-CA" sz="1400" b="1" dirty="0" err="1">
                <a:latin typeface="Nunito" pitchFamily="2" charset="0"/>
              </a:rPr>
              <a:t>Treasure</a:t>
            </a:r>
            <a:r>
              <a:rPr lang="fr-CA" sz="1400" b="1" dirty="0">
                <a:latin typeface="Nunito" pitchFamily="2" charset="0"/>
              </a:rPr>
              <a:t> Garden </a:t>
            </a:r>
            <a:r>
              <a:rPr lang="fr-CA" sz="1400" dirty="0">
                <a:latin typeface="Nunito" pitchFamily="2" charset="0"/>
              </a:rPr>
              <a:t>sont</a:t>
            </a:r>
            <a:r>
              <a:rPr lang="fr-CA" sz="1400" b="1" dirty="0">
                <a:latin typeface="Nunito" pitchFamily="2" charset="0"/>
              </a:rPr>
              <a:t> </a:t>
            </a:r>
            <a:r>
              <a:rPr lang="fr-CA" sz="1400" dirty="0">
                <a:latin typeface="Nunito" pitchFamily="2" charset="0"/>
              </a:rPr>
              <a:t>toujours exclus des promotions.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Meubles LIQUIDATION 2024: </a:t>
            </a:r>
            <a:r>
              <a:rPr lang="fr-CA" altLang="fr-FR" sz="1400" dirty="0">
                <a:latin typeface="Nunito" pitchFamily="2" charset="0"/>
              </a:rPr>
              <a:t>même prix que février pour le reste de la saison</a:t>
            </a:r>
            <a:r>
              <a:rPr lang="fr-CA" sz="1400" dirty="0">
                <a:latin typeface="Nunito" pitchFamily="2" charset="0"/>
              </a:rPr>
              <a:t>. </a:t>
            </a:r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B057B5-FD9C-A8F7-F423-740662E86A4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60647" y="7092280"/>
            <a:ext cx="637270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Nouveaux prix 2025. Voir Annexes de vente.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Aucune promotion en cours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CDE7EB-7AB5-218C-2913-A99998CCDDA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5724128"/>
            <a:ext cx="637271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Ajout des nouveautés 2025!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Jusqu’à 700$ de rabais. Voir rabais en cours dans l’Annexe.</a:t>
            </a:r>
          </a:p>
        </p:txBody>
      </p:sp>
      <p:pic>
        <p:nvPicPr>
          <p:cNvPr id="4" name="Image 3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20E8829-9DC2-D3D4-EA48-AB5FDCED929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3" name="Zone de texte 28">
            <a:extLst>
              <a:ext uri="{FF2B5EF4-FFF2-40B4-BE49-F238E27FC236}">
                <a16:creationId xmlns:a16="http://schemas.microsoft.com/office/drawing/2014/main" id="{07EEBC24-3491-8F2D-25BF-360F93269222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234DBF-13A6-9C41-C200-4478E6C117B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MEUBLES ET PARASOLS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BDFD338-3E98-30C2-7ED8-786F487F1F66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5 mars au 1er avril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1209DE-3E0C-E8D3-0FED-7F3EDBC87A2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6" y="5186572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GAZEBOS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ED13FF-3EFD-DE61-434F-B8DE967910C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24643" y="6526202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CABANONS</a:t>
            </a: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42190"/>
            <a:ext cx="6408713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On bascule au programme et prix 2025. Voir Annexes de vente pour les changements.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Fin du rabais sur le </a:t>
            </a:r>
            <a:r>
              <a:rPr lang="fr-CA" sz="1600" dirty="0" err="1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Kamado</a:t>
            </a:r>
            <a:r>
              <a:rPr lang="fr-CA" sz="16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A" sz="1600" dirty="0" err="1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Louisiana</a:t>
            </a:r>
            <a:r>
              <a:rPr lang="fr-CA" sz="16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Grill. Il reviendra en rabais plus tard en saison.</a:t>
            </a:r>
            <a:endParaRPr lang="fr-CA" sz="1600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PROMO NAPOLEON valide du 5 mars au 16 avril: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600" dirty="0">
                <a:latin typeface="Nunito" pitchFamily="2" charset="0"/>
              </a:rPr>
              <a:t>Promo</a:t>
            </a:r>
            <a:r>
              <a:rPr lang="fr-CA" sz="1600" b="1" dirty="0">
                <a:latin typeface="Nunito" pitchFamily="2" charset="0"/>
              </a:rPr>
              <a:t> ‘’</a:t>
            </a:r>
            <a:r>
              <a:rPr lang="fr-CA" sz="1600" dirty="0">
                <a:latin typeface="Nunito" pitchFamily="2" charset="0"/>
              </a:rPr>
              <a:t>Allumez vos grills’’ : Obtenez 50$ à l’achat d’un BBQ Freestyle (172158)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600" dirty="0">
                <a:latin typeface="Nunito" pitchFamily="2" charset="0"/>
              </a:rPr>
              <a:t>Promo ‘’Évènement de lancement’’: À l’achat d’un BBQ sélectionnés, obtenez un accessoire assorti gratuitement (voir feuille promo de </a:t>
            </a:r>
            <a:r>
              <a:rPr lang="fr-CA" sz="1600" dirty="0" err="1">
                <a:latin typeface="Nunito" pitchFamily="2" charset="0"/>
              </a:rPr>
              <a:t>Napoleon</a:t>
            </a:r>
            <a:r>
              <a:rPr lang="fr-CA" sz="1600" dirty="0">
                <a:latin typeface="Nunito" pitchFamily="2" charset="0"/>
              </a:rPr>
              <a:t> pour les détails).</a:t>
            </a: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4" name="Image 3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A14F4BD-2395-E12B-B62F-0DB73684AD0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8C4CC44E-B3E2-FBE5-ECEC-76835D374A1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16C8E2-CB0B-54B5-EC51-C98B5E5D383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BBQ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F5DB1DE-87AD-3650-0C01-6A8DB30EC7DE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5 mars au 1er avril 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2E98BB-9009-DF24-A94E-E723BDD87E2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4486" y="6674167"/>
            <a:ext cx="6408713" cy="13542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Aucun changement. Voir annexes pour les nouveaux rabais en cours. </a:t>
            </a:r>
            <a:endParaRPr lang="fr-CA" sz="1600" b="1" dirty="0"/>
          </a:p>
          <a:p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135805-4BAC-ECDD-5998-3EF13EB4E48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4486" y="6157017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FITNESS</a:t>
            </a: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61929"/>
            <a:ext cx="6408713" cy="56630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</a:rPr>
              <a:t>FAIRSTONE </a:t>
            </a:r>
          </a:p>
          <a:p>
            <a:r>
              <a:rPr lang="fr-CA" sz="1200" b="1" dirty="0">
                <a:latin typeface="Nunito" pitchFamily="2" charset="0"/>
              </a:rPr>
              <a:t>Promotion SPA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Nunito" pitchFamily="2" charset="0"/>
              </a:rPr>
              <a:t>12 mois sans paiement ni intérêt (code 12120) </a:t>
            </a:r>
            <a:r>
              <a:rPr lang="fr-FR" sz="1200" u="sng" dirty="0">
                <a:latin typeface="Nunito" pitchFamily="2" charset="0"/>
              </a:rPr>
              <a:t>ou</a:t>
            </a:r>
            <a:r>
              <a:rPr lang="fr-FR" sz="1200" dirty="0">
                <a:latin typeface="Nunito" pitchFamily="2" charset="0"/>
              </a:rPr>
              <a:t> 48mois à 5.99% (code 36485)</a:t>
            </a:r>
          </a:p>
          <a:p>
            <a:r>
              <a:rPr lang="fr-CA" sz="1200" b="1" dirty="0">
                <a:latin typeface="Nunito" pitchFamily="2" charset="0"/>
              </a:rPr>
              <a:t>Promotion MEUBLE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Nunito" pitchFamily="2" charset="0"/>
              </a:rPr>
              <a:t>12 mois sans paiement ni intérêt (code 12120)</a:t>
            </a:r>
            <a:endParaRPr lang="fr-CA" sz="1200" b="1" dirty="0">
              <a:latin typeface="Nunito" pitchFamily="2" charset="0"/>
            </a:endParaRPr>
          </a:p>
          <a:p>
            <a:endParaRPr lang="fr-CA" sz="1200" b="1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Plans de financement réguliers</a:t>
            </a:r>
          </a:p>
          <a:p>
            <a:r>
              <a:rPr lang="fr-CA" sz="1200" dirty="0">
                <a:latin typeface="Nunito" pitchFamily="2" charset="0"/>
              </a:rPr>
              <a:t>Il est possible d’offrir l’un de ces plans en tout temps à l’achat de 500$ et+ . Voir votre gestionnaire pour plus de détail.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latin typeface="Nunito" pitchFamily="2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r>
              <a:rPr lang="fr-CA" sz="1200" dirty="0">
                <a:effectLst/>
                <a:latin typeface="Nunito" pitchFamily="2" charset="0"/>
                <a:ea typeface="Calibri" panose="020F0502020204030204" pitchFamily="34" charset="0"/>
              </a:rPr>
              <a:t>*Plans aussi offerts en ligne: </a:t>
            </a:r>
            <a:r>
              <a:rPr lang="fr-CA" sz="1200" dirty="0">
                <a:effectLst/>
                <a:latin typeface="Nunito" pitchFamily="2" charset="0"/>
                <a:ea typeface="Calibri" panose="020F0502020204030204" pitchFamily="34" charset="0"/>
                <a:hlinkClick r:id="rId6"/>
              </a:rPr>
              <a:t>https://www.clubpiscine.ca/fr/financement</a:t>
            </a:r>
            <a:endParaRPr lang="fr-CA" sz="12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r>
              <a:rPr lang="fr-CA" sz="1400" b="1" dirty="0">
                <a:latin typeface="Nunito" pitchFamily="2" charset="0"/>
              </a:rPr>
              <a:t>FINANCE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PISCINE CREUSÉE &amp; FIBRE : </a:t>
            </a:r>
            <a:r>
              <a:rPr lang="fr-CA" sz="1200" dirty="0">
                <a:latin typeface="Nunito" pitchFamily="2" charset="0"/>
              </a:rPr>
              <a:t>Aucun financement inclus dans la promotion du mois mais il est suggéré d’utiliser le Financement </a:t>
            </a:r>
            <a:r>
              <a:rPr lang="fr-CA" sz="1200" b="1" dirty="0">
                <a:latin typeface="Nunito" pitchFamily="2" charset="0"/>
              </a:rPr>
              <a:t>FINANCE IT </a:t>
            </a:r>
            <a:r>
              <a:rPr lang="fr-CA" sz="1200" dirty="0">
                <a:latin typeface="Nunito" pitchFamily="2" charset="0"/>
              </a:rPr>
              <a:t>car le plafond de financement n’est pas limité à 30K$. Suggestion : Promo 6 mois sans paiement.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Prêt ouvert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Financement sur terme @ 12.99% pour le consommateur.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Le 6 mois débute à la livraison/installation.</a:t>
            </a:r>
            <a:endParaRPr lang="fr-CA" sz="1400" b="1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2FA01D-61E9-0D86-8EE9-8402F412E3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9964" y="4283968"/>
            <a:ext cx="3115136" cy="1097455"/>
          </a:xfrm>
          <a:prstGeom prst="rect">
            <a:avLst/>
          </a:prstGeom>
        </p:spPr>
      </p:pic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07E4CC5-9C01-2FD9-BE61-0C133BDE5E4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A65FB58-477F-301C-29F9-9474F7D06CD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FINANCEMENT</a:t>
            </a:r>
          </a:p>
        </p:txBody>
      </p:sp>
      <p:sp>
        <p:nvSpPr>
          <p:cNvPr id="18" name="Zone de texte 28">
            <a:extLst>
              <a:ext uri="{FF2B5EF4-FFF2-40B4-BE49-F238E27FC236}">
                <a16:creationId xmlns:a16="http://schemas.microsoft.com/office/drawing/2014/main" id="{07B3D34E-E7F4-CF77-C250-4E92C29B6C3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F3ECDB9-7358-B3D5-33DD-01E04A1910F5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5 mars au 1er avril 2025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0069E2AA-A66C-9BA6-98B6-6D33AFAC89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59" y="4163656"/>
            <a:ext cx="3057604" cy="156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E1C49C-B943-4250-BB39-87973E798E95}">
  <ds:schemaRefs>
    <ds:schemaRef ds:uri="8682f7ec-9bef-4d6d-8d5c-0ec39e002ff3"/>
    <ds:schemaRef ds:uri="http://purl.org/dc/terms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C1147A5-17C5-4B53-BB97-F055262DFD6E}"/>
</file>

<file path=docProps/app.xml><?xml version="1.0" encoding="utf-8"?>
<Properties xmlns="http://schemas.openxmlformats.org/officeDocument/2006/extended-properties" xmlns:vt="http://schemas.openxmlformats.org/officeDocument/2006/docPropsVTypes">
  <TotalTime>51514</TotalTime>
  <Words>1608</Words>
  <Application>Microsoft Office PowerPoint</Application>
  <PresentationFormat>Affichage à l'écran (4:3)</PresentationFormat>
  <Paragraphs>194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Nunito</vt:lpstr>
      <vt:lpstr>Symbol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1615</cp:revision>
  <cp:lastPrinted>2022-04-27T14:46:34Z</cp:lastPrinted>
  <dcterms:created xsi:type="dcterms:W3CDTF">2017-05-24T18:44:46Z</dcterms:created>
  <dcterms:modified xsi:type="dcterms:W3CDTF">2025-02-28T15:03:44Z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